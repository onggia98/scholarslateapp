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1" d="100"/>
          <a:sy n="81" d="100"/>
        </p:scale>
        <p:origin x="344"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113705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01 — COVER: Giới thiệu tên dự án ScholarSlate, nhóm 4 thành viên. Nhấn mạnh: hệ thống giải quyết bài toán thực tế - theo dõi paper khoa học tự động bằng AI. Tech stack hiện đại, deploy trên cloud hoàn toàn miễn phí.</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02 — PROBLEM: 3 con số đánh mạnh vào vấn đề: +8K paper/ngày trên arXiv, ~15 phút/abstract, 0 công cụ tích hợp. Nhấn: đây là pain point thực tế của sinh viên nghiên cứu và nhà khoa học.</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03 — OBJECTIVES: 5 mục tiêu ánh xạ 1-1 với nhóm Use Case. Nhấn: không có chức năng thừa, mọi thứ đều có lý do. Mỗi mục tiêu là 1 nhóm UC rõ ràng.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04 — REQUIREMENTS: 17 UC chia 3 actor. User (10 UC: UC01-UC09 + UC15) - Scheduler (6 UC: UC10-UC14 + UC16) - Admin (1 UC: UC17). Giới hạn thiết kế: 10 topic/user, 5 keyword/topic, 10 paper/fetch để tránh rate limit.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05 — TECH STACK: 4 nhóm công nghệ, tất cả free-tier. Nhấn: Spring Boot 4 + Java 21 là phiên bản mới nhất, pgvector là lựa chọn tối ưu cho similarity search trong PostgreSQL. Tổng chi phí = 0₫.</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06 — ARCHITECTURE: 3-tier chuẩn: Presentation → Business Logic → Data. AI services là external call từ Business Logic tier. Nhấn 2 scheduler (06:00 daily + retry 30min) chạy trên thread pool riêng.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07 — DATA MODEL: PAPER là entity trung tâm với 3 field AI đặc biệt (summary, quality_score, embedding vector(384)). Self-ref FK cho duplicate detection. 3 loại index: HNSW, GIN, B-tree.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08 — CORE FEATURES: 6 tính năng core. Nhấn: semantic recommendation dùng HNSW cosine (không phải keyword matching), full-text search dùng 2 GIN index khác nhau (plainto vs phraseto_tsquery).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09 — AI PIPELINE: 6 bước từ arXiv đến DONE. Nhấn: REQUIRES_NEW transaction isolation (1 paper = 1 unit of failure), retry với backoff, rate limit handling cho Groq (không retry 429 ngay).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KEY DECISIONS: 5 quyết định kỹ thuật quan trọng nhất. Đây là những gì professors hay hỏi. VectorUserType, MapStruct removal, delay change, model change, transaction isolation. Mỗi quyết định có lý do kỹ thuật rõ ràng.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DEMO: Demo live trên Vercel + Railway. Flow đề xuất: đăng ký → tạo topic → trigger pipeline → xem paper với AI summary → xem recommendation. Admin panel cho FAILED papers.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RESULTS: 17/17 UC hoàn chỉnh, 5 integration test PASS. Nhấn highlights: pipeline AI end-to-end không thao tác thủ công, vector search thực tế, fault-tolerant, production-ready deploy.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LIMITATIONS: 5 ràng buộc nhận diện rõ ràng. Frame tích cực: đây là scope boundary có chủ đích, không phải lỗi thiết kế. Mỗi limitation có roadmap giải quyết ở slide tiếp theo.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FUTURE: 4 hướng phát triển: AI capability (bge-large, RAG), data sources (Semantic Scholar, PubMed), UX (mobile app, annotation), architecture (microservices, Kafka). Short/mid/long term.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Q&amp;A: Chuẩn bị 5 câu hỏi hay gặp. pgvector vs Elasticsearch: pgvector đủ cho đồ án, tích hợp PostgreSQL native. VectorUserType: PGobject.type=vector → đúng OID. REQUIRES_NEW: isolation paper-level. Testing: Postman + E2E Chrome/Safari. JWT stateless: không cần session → scale tốt hơn.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141A"/>
        </a:solidFill>
        <a:effectLst/>
      </p:bgPr>
    </p:bg>
    <p:spTree>
      <p:nvGrpSpPr>
        <p:cNvPr id="1" name=""/>
        <p:cNvGrpSpPr/>
        <p:nvPr/>
      </p:nvGrpSpPr>
      <p:grpSpPr>
        <a:xfrm>
          <a:off x="0" y="0"/>
          <a:ext cx="0" cy="0"/>
          <a:chOff x="0" y="0"/>
          <a:chExt cx="0" cy="0"/>
        </a:xfrm>
      </p:grpSpPr>
      <p:sp>
        <p:nvSpPr>
          <p:cNvPr id="2" name="Text 0"/>
          <p:cNvSpPr/>
          <p:nvPr/>
        </p:nvSpPr>
        <p:spPr>
          <a:xfrm>
            <a:off x="1238250" y="857250"/>
            <a:ext cx="6074134"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F4F0E6">
                    <a:alpha val="50000"/>
                  </a:srgbClr>
                </a:solidFill>
                <a:latin typeface="Courier New" pitchFamily="34" charset="0"/>
                <a:ea typeface="Courier New" pitchFamily="34" charset="-122"/>
                <a:cs typeface="Courier New" pitchFamily="34" charset="-120"/>
              </a:rPr>
              <a:t>HCMUS · KHOA CNTT · ĐỒ ÁN NHẬP MÔN CNPM</a:t>
            </a:r>
            <a:endParaRPr lang="en-US" sz="1800" dirty="0"/>
          </a:p>
        </p:txBody>
      </p:sp>
      <p:sp>
        <p:nvSpPr>
          <p:cNvPr id="3" name="Text 1"/>
          <p:cNvSpPr/>
          <p:nvPr/>
        </p:nvSpPr>
        <p:spPr>
          <a:xfrm>
            <a:off x="15732686" y="857250"/>
            <a:ext cx="1393264"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F4F0E6">
                    <a:alpha val="50000"/>
                  </a:srgbClr>
                </a:solidFill>
                <a:latin typeface="Courier New" pitchFamily="34" charset="0"/>
                <a:ea typeface="Courier New" pitchFamily="34" charset="-122"/>
                <a:cs typeface="Courier New" pitchFamily="34" charset="-120"/>
              </a:rPr>
              <a:t>06 / 2026</a:t>
            </a:r>
            <a:endParaRPr lang="en-US" sz="1800" dirty="0"/>
          </a:p>
        </p:txBody>
      </p:sp>
      <p:sp>
        <p:nvSpPr>
          <p:cNvPr id="4" name="Text 2"/>
          <p:cNvSpPr/>
          <p:nvPr/>
        </p:nvSpPr>
        <p:spPr>
          <a:xfrm>
            <a:off x="1238250" y="1784514"/>
            <a:ext cx="16285845" cy="294861"/>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F4F0E6"/>
                </a:solidFill>
                <a:latin typeface="Courier New" pitchFamily="34" charset="0"/>
                <a:ea typeface="Courier New" pitchFamily="34" charset="-122"/>
                <a:cs typeface="Courier New" pitchFamily="34" charset="-120"/>
              </a:rPr>
              <a:t>CAPSTONE DEFENSE — SCHOLARSLATE</a:t>
            </a:r>
            <a:endParaRPr lang="en-US" sz="1800" dirty="0"/>
          </a:p>
        </p:txBody>
      </p:sp>
      <p:sp>
        <p:nvSpPr>
          <p:cNvPr id="5" name="Text 3"/>
          <p:cNvSpPr/>
          <p:nvPr/>
        </p:nvSpPr>
        <p:spPr>
          <a:xfrm>
            <a:off x="1238250" y="2384097"/>
            <a:ext cx="14716125" cy="3839818"/>
          </a:xfrm>
          <a:prstGeom prst="rect">
            <a:avLst/>
          </a:prstGeom>
          <a:noFill/>
          <a:ln/>
        </p:spPr>
        <p:txBody>
          <a:bodyPr wrap="square" lIns="25400" tIns="25400" rIns="25400" bIns="25400" rtlCol="0" anchor="t">
            <a:normAutofit/>
          </a:bodyPr>
          <a:lstStyle/>
          <a:p>
            <a:pPr marL="0" indent="0" algn="l">
              <a:lnSpc>
                <a:spcPct val="95000"/>
              </a:lnSpc>
              <a:buNone/>
            </a:pPr>
            <a:r>
              <a:rPr lang="en-US" sz="10500" kern="0" spc="-420" dirty="0">
                <a:solidFill>
                  <a:srgbClr val="F4F0E6"/>
                </a:solidFill>
                <a:latin typeface="Arial" pitchFamily="34" charset="0"/>
                <a:ea typeface="Arial" pitchFamily="34" charset="-122"/>
                <a:cs typeface="Arial" pitchFamily="34" charset="-120"/>
              </a:rPr>
              <a:t>A quieter way to </a:t>
            </a:r>
            <a:r>
              <a:rPr lang="en-US" sz="10500" i="1" kern="0" spc="-420" dirty="0">
                <a:solidFill>
                  <a:srgbClr val="F4F0E6"/>
                </a:solidFill>
                <a:latin typeface="Georgia" pitchFamily="34" charset="0"/>
                <a:ea typeface="Georgia" pitchFamily="34" charset="-122"/>
                <a:cs typeface="Georgia" pitchFamily="34" charset="-120"/>
              </a:rPr>
              <a:t>follow research, </a:t>
            </a:r>
            <a:r>
              <a:rPr lang="en-US" sz="10500" kern="0" spc="-420" dirty="0">
                <a:solidFill>
                  <a:srgbClr val="F4F0E6"/>
                </a:solidFill>
                <a:latin typeface="Arial" pitchFamily="34" charset="0"/>
                <a:ea typeface="Arial" pitchFamily="34" charset="-122"/>
                <a:cs typeface="Arial" pitchFamily="34" charset="-120"/>
              </a:rPr>
              <a:t>powered by AI.</a:t>
            </a:r>
            <a:endParaRPr lang="en-US" sz="10500" dirty="0"/>
          </a:p>
        </p:txBody>
      </p:sp>
      <p:sp>
        <p:nvSpPr>
          <p:cNvPr id="6" name="Text 4"/>
          <p:cNvSpPr/>
          <p:nvPr/>
        </p:nvSpPr>
        <p:spPr>
          <a:xfrm>
            <a:off x="1238250" y="6642911"/>
            <a:ext cx="10791825" cy="833230"/>
          </a:xfrm>
          <a:prstGeom prst="rect">
            <a:avLst/>
          </a:prstGeom>
          <a:noFill/>
          <a:ln/>
        </p:spPr>
        <p:txBody>
          <a:bodyPr wrap="square" lIns="25400" tIns="25400" rIns="25400" bIns="25400" rtlCol="0" anchor="t">
            <a:normAutofit/>
          </a:bodyPr>
          <a:lstStyle/>
          <a:p>
            <a:pPr marL="0" indent="0" algn="l">
              <a:lnSpc>
                <a:spcPct val="140000"/>
              </a:lnSpc>
              <a:buNone/>
            </a:pPr>
            <a:r>
              <a:rPr lang="en-US" sz="2250" kern="0" spc="-12" dirty="0">
                <a:solidFill>
                  <a:srgbClr val="F4F0E6">
                    <a:alpha val="70000"/>
                  </a:srgbClr>
                </a:solidFill>
                <a:latin typeface="Arial" pitchFamily="34" charset="0"/>
                <a:ea typeface="Arial" pitchFamily="34" charset="-122"/>
                <a:cs typeface="Arial" pitchFamily="34" charset="-120"/>
              </a:rPr>
              <a:t>Hệ thống web tự động lấy paper từ arXiv, tóm tắt bằng LLM, chấm điểm chất lượng và gợi ý paper liên quan bằng vector search.</a:t>
            </a:r>
            <a:endParaRPr lang="en-US" sz="2250" dirty="0"/>
          </a:p>
        </p:txBody>
      </p:sp>
      <p:sp>
        <p:nvSpPr>
          <p:cNvPr id="7" name="Shape 5"/>
          <p:cNvSpPr/>
          <p:nvPr/>
        </p:nvSpPr>
        <p:spPr>
          <a:xfrm>
            <a:off x="1238250" y="8489674"/>
            <a:ext cx="3727174" cy="463826"/>
          </a:xfrm>
          <a:prstGeom prst="roundRect">
            <a:avLst>
              <a:gd name="adj" fmla="val 50000"/>
            </a:avLst>
          </a:prstGeom>
          <a:ln w="8283">
            <a:solidFill>
              <a:srgbClr val="F4F0E6">
                <a:alpha val="22000"/>
              </a:srgbClr>
            </a:solidFill>
            <a:prstDash val="solid"/>
          </a:ln>
        </p:spPr>
        <p:txBody>
          <a:bodyPr/>
          <a:lstStyle/>
          <a:p>
            <a:endParaRPr lang="en-VN"/>
          </a:p>
        </p:txBody>
      </p:sp>
      <p:sp>
        <p:nvSpPr>
          <p:cNvPr id="8" name="Text 6"/>
          <p:cNvSpPr/>
          <p:nvPr/>
        </p:nvSpPr>
        <p:spPr>
          <a:xfrm>
            <a:off x="1627403" y="8593207"/>
            <a:ext cx="3213746" cy="294861"/>
          </a:xfrm>
          <a:prstGeom prst="rect">
            <a:avLst/>
          </a:prstGeom>
          <a:noFill/>
          <a:ln/>
        </p:spPr>
        <p:txBody>
          <a:bodyPr wrap="square" lIns="0" tIns="0" rIns="0" bIns="0" rtlCol="0" anchor="t">
            <a:normAutofit/>
          </a:bodyPr>
          <a:lstStyle/>
          <a:p>
            <a:pPr marL="0" indent="0" algn="l">
              <a:buNone/>
            </a:pPr>
            <a:r>
              <a:rPr lang="en-US" sz="1800" kern="0" spc="-12" dirty="0">
                <a:solidFill>
                  <a:srgbClr val="F4F0E6">
                    <a:alpha val="85000"/>
                  </a:srgbClr>
                </a:solidFill>
                <a:latin typeface="Courier New" pitchFamily="34" charset="0"/>
                <a:ea typeface="Courier New" pitchFamily="34" charset="-122"/>
                <a:cs typeface="Courier New" pitchFamily="34" charset="-120"/>
              </a:rPr>
              <a:t>Spring Boot 4 · Java 21</a:t>
            </a:r>
            <a:endParaRPr lang="en-US" sz="1800" dirty="0"/>
          </a:p>
        </p:txBody>
      </p:sp>
      <p:sp>
        <p:nvSpPr>
          <p:cNvPr id="9" name="Shape 7"/>
          <p:cNvSpPr/>
          <p:nvPr/>
        </p:nvSpPr>
        <p:spPr>
          <a:xfrm>
            <a:off x="5098723" y="8489674"/>
            <a:ext cx="3455789" cy="463826"/>
          </a:xfrm>
          <a:prstGeom prst="roundRect">
            <a:avLst>
              <a:gd name="adj" fmla="val 50000"/>
            </a:avLst>
          </a:prstGeom>
          <a:ln w="8283">
            <a:solidFill>
              <a:srgbClr val="F4F0E6">
                <a:alpha val="22000"/>
              </a:srgbClr>
            </a:solidFill>
            <a:prstDash val="solid"/>
          </a:ln>
        </p:spPr>
        <p:txBody>
          <a:bodyPr/>
          <a:lstStyle/>
          <a:p>
            <a:endParaRPr lang="en-VN"/>
          </a:p>
        </p:txBody>
      </p:sp>
      <p:sp>
        <p:nvSpPr>
          <p:cNvPr id="10" name="Text 8"/>
          <p:cNvSpPr/>
          <p:nvPr/>
        </p:nvSpPr>
        <p:spPr>
          <a:xfrm>
            <a:off x="5487875" y="8593207"/>
            <a:ext cx="2934289" cy="294861"/>
          </a:xfrm>
          <a:prstGeom prst="rect">
            <a:avLst/>
          </a:prstGeom>
          <a:noFill/>
          <a:ln/>
        </p:spPr>
        <p:txBody>
          <a:bodyPr wrap="square" lIns="0" tIns="0" rIns="0" bIns="0" rtlCol="0" anchor="t">
            <a:normAutofit/>
          </a:bodyPr>
          <a:lstStyle/>
          <a:p>
            <a:pPr marL="0" indent="0" algn="l">
              <a:buNone/>
            </a:pPr>
            <a:r>
              <a:rPr lang="en-US" sz="1800" kern="0" spc="-12" dirty="0">
                <a:solidFill>
                  <a:srgbClr val="F4F0E6">
                    <a:alpha val="85000"/>
                  </a:srgbClr>
                </a:solidFill>
                <a:latin typeface="Courier New" pitchFamily="34" charset="0"/>
                <a:ea typeface="Courier New" pitchFamily="34" charset="-122"/>
                <a:cs typeface="Courier New" pitchFamily="34" charset="-120"/>
              </a:rPr>
              <a:t>React 19 · TypeScript</a:t>
            </a:r>
            <a:endParaRPr lang="en-US" sz="1800" dirty="0"/>
          </a:p>
        </p:txBody>
      </p:sp>
      <p:sp>
        <p:nvSpPr>
          <p:cNvPr id="11" name="Shape 9"/>
          <p:cNvSpPr/>
          <p:nvPr/>
        </p:nvSpPr>
        <p:spPr>
          <a:xfrm>
            <a:off x="8687810" y="8489674"/>
            <a:ext cx="3455789" cy="463826"/>
          </a:xfrm>
          <a:prstGeom prst="roundRect">
            <a:avLst>
              <a:gd name="adj" fmla="val 50000"/>
            </a:avLst>
          </a:prstGeom>
          <a:ln w="8283">
            <a:solidFill>
              <a:srgbClr val="F4F0E6">
                <a:alpha val="22000"/>
              </a:srgbClr>
            </a:solidFill>
            <a:prstDash val="solid"/>
          </a:ln>
        </p:spPr>
        <p:txBody>
          <a:bodyPr/>
          <a:lstStyle/>
          <a:p>
            <a:endParaRPr lang="en-VN"/>
          </a:p>
        </p:txBody>
      </p:sp>
      <p:sp>
        <p:nvSpPr>
          <p:cNvPr id="12" name="Text 10"/>
          <p:cNvSpPr/>
          <p:nvPr/>
        </p:nvSpPr>
        <p:spPr>
          <a:xfrm>
            <a:off x="9076963" y="8593207"/>
            <a:ext cx="2934289" cy="294861"/>
          </a:xfrm>
          <a:prstGeom prst="rect">
            <a:avLst/>
          </a:prstGeom>
          <a:noFill/>
          <a:ln/>
        </p:spPr>
        <p:txBody>
          <a:bodyPr wrap="square" lIns="0" tIns="0" rIns="0" bIns="0" rtlCol="0" anchor="t">
            <a:normAutofit/>
          </a:bodyPr>
          <a:lstStyle/>
          <a:p>
            <a:pPr marL="0" indent="0" algn="l">
              <a:buNone/>
            </a:pPr>
            <a:r>
              <a:rPr lang="en-US" sz="1800" kern="0" spc="-12" dirty="0">
                <a:solidFill>
                  <a:srgbClr val="F4F0E6">
                    <a:alpha val="85000"/>
                  </a:srgbClr>
                </a:solidFill>
                <a:latin typeface="Courier New" pitchFamily="34" charset="0"/>
                <a:ea typeface="Courier New" pitchFamily="34" charset="-122"/>
                <a:cs typeface="Courier New" pitchFamily="34" charset="-120"/>
              </a:rPr>
              <a:t>PostgreSQL · pgvector</a:t>
            </a:r>
            <a:endParaRPr lang="en-US" sz="1800" dirty="0"/>
          </a:p>
        </p:txBody>
      </p:sp>
      <p:sp>
        <p:nvSpPr>
          <p:cNvPr id="13" name="Shape 11"/>
          <p:cNvSpPr/>
          <p:nvPr/>
        </p:nvSpPr>
        <p:spPr>
          <a:xfrm>
            <a:off x="12276897" y="8489674"/>
            <a:ext cx="3591546" cy="463826"/>
          </a:xfrm>
          <a:prstGeom prst="roundRect">
            <a:avLst>
              <a:gd name="adj" fmla="val 50000"/>
            </a:avLst>
          </a:prstGeom>
          <a:ln w="8283">
            <a:solidFill>
              <a:srgbClr val="F4F0E6">
                <a:alpha val="22000"/>
              </a:srgbClr>
            </a:solidFill>
            <a:prstDash val="solid"/>
          </a:ln>
        </p:spPr>
        <p:txBody>
          <a:bodyPr/>
          <a:lstStyle/>
          <a:p>
            <a:endParaRPr lang="en-VN"/>
          </a:p>
        </p:txBody>
      </p:sp>
      <p:sp>
        <p:nvSpPr>
          <p:cNvPr id="14" name="Text 12"/>
          <p:cNvSpPr/>
          <p:nvPr/>
        </p:nvSpPr>
        <p:spPr>
          <a:xfrm>
            <a:off x="12666050" y="8593207"/>
            <a:ext cx="3074018" cy="294861"/>
          </a:xfrm>
          <a:prstGeom prst="rect">
            <a:avLst/>
          </a:prstGeom>
          <a:noFill/>
          <a:ln/>
        </p:spPr>
        <p:txBody>
          <a:bodyPr wrap="square" lIns="0" tIns="0" rIns="0" bIns="0" rtlCol="0" anchor="t">
            <a:normAutofit/>
          </a:bodyPr>
          <a:lstStyle/>
          <a:p>
            <a:pPr marL="0" indent="0" algn="l">
              <a:buNone/>
            </a:pPr>
            <a:r>
              <a:rPr lang="en-US" sz="1800" kern="0" spc="-12" dirty="0">
                <a:solidFill>
                  <a:srgbClr val="F4F0E6">
                    <a:alpha val="85000"/>
                  </a:srgbClr>
                </a:solidFill>
                <a:latin typeface="Courier New" pitchFamily="34" charset="0"/>
                <a:ea typeface="Courier New" pitchFamily="34" charset="-122"/>
                <a:cs typeface="Courier New" pitchFamily="34" charset="-120"/>
              </a:rPr>
              <a:t>Groq LLM · HuggingFace</a:t>
            </a:r>
            <a:endParaRPr lang="en-US" sz="1800" dirty="0"/>
          </a:p>
        </p:txBody>
      </p:sp>
      <p:sp>
        <p:nvSpPr>
          <p:cNvPr id="15" name="Text 13"/>
          <p:cNvSpPr/>
          <p:nvPr/>
        </p:nvSpPr>
        <p:spPr>
          <a:xfrm>
            <a:off x="1238250" y="9458740"/>
            <a:ext cx="2863646"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F4F0E6">
                    <a:alpha val="45000"/>
                  </a:srgbClr>
                </a:solidFill>
                <a:latin typeface="Courier New" pitchFamily="34" charset="0"/>
                <a:ea typeface="Courier New" pitchFamily="34" charset="-122"/>
                <a:cs typeface="Courier New" pitchFamily="34" charset="-120"/>
              </a:rPr>
              <a:t>NHÓM — 4 THÀNH VIÊN</a:t>
            </a:r>
            <a:endParaRPr lang="en-US" sz="1800" dirty="0"/>
          </a:p>
        </p:txBody>
      </p:sp>
      <p:sp>
        <p:nvSpPr>
          <p:cNvPr id="16" name="Text 14"/>
          <p:cNvSpPr/>
          <p:nvPr/>
        </p:nvSpPr>
        <p:spPr>
          <a:xfrm>
            <a:off x="16025425" y="9458740"/>
            <a:ext cx="1100526"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F4F0E6">
                    <a:alpha val="45000"/>
                  </a:srgbClr>
                </a:solidFill>
                <a:latin typeface="Courier New" pitchFamily="34" charset="0"/>
                <a:ea typeface="Courier New" pitchFamily="34" charset="-122"/>
                <a:cs typeface="Courier New" pitchFamily="34" charset="-120"/>
              </a:rPr>
              <a:t>01 / 15</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0E6"/>
        </a:solidFill>
        <a:effectLst/>
      </p:bgPr>
    </p:bg>
    <p:spTree>
      <p:nvGrpSpPr>
        <p:cNvPr id="1" name=""/>
        <p:cNvGrpSpPr/>
        <p:nvPr/>
      </p:nvGrpSpPr>
      <p:grpSpPr>
        <a:xfrm>
          <a:off x="0" y="0"/>
          <a:ext cx="0" cy="0"/>
          <a:chOff x="0" y="0"/>
          <a:chExt cx="0" cy="0"/>
        </a:xfrm>
      </p:grpSpPr>
      <p:sp>
        <p:nvSpPr>
          <p:cNvPr id="2" name="Text 0"/>
          <p:cNvSpPr/>
          <p:nvPr/>
        </p:nvSpPr>
        <p:spPr>
          <a:xfrm>
            <a:off x="1238250" y="1047750"/>
            <a:ext cx="3059728"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6B6A65"/>
                </a:solidFill>
                <a:latin typeface="Courier New" pitchFamily="34" charset="0"/>
                <a:ea typeface="Courier New" pitchFamily="34" charset="-122"/>
                <a:cs typeface="Courier New" pitchFamily="34" charset="-120"/>
              </a:rPr>
              <a:t>VẤN ĐỀ · MOTIVATION</a:t>
            </a:r>
            <a:endParaRPr lang="en-US" sz="1800" dirty="0"/>
          </a:p>
        </p:txBody>
      </p:sp>
      <p:sp>
        <p:nvSpPr>
          <p:cNvPr id="3" name="Text 1"/>
          <p:cNvSpPr/>
          <p:nvPr/>
        </p:nvSpPr>
        <p:spPr>
          <a:xfrm>
            <a:off x="16757012" y="1047750"/>
            <a:ext cx="368938"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6B6A65"/>
                </a:solidFill>
                <a:latin typeface="Courier New" pitchFamily="34" charset="0"/>
                <a:ea typeface="Courier New" pitchFamily="34" charset="-122"/>
                <a:cs typeface="Courier New" pitchFamily="34" charset="-120"/>
              </a:rPr>
              <a:t>02</a:t>
            </a:r>
            <a:endParaRPr lang="en-US" sz="1800" dirty="0"/>
          </a:p>
        </p:txBody>
      </p:sp>
      <p:sp>
        <p:nvSpPr>
          <p:cNvPr id="4" name="Text 2"/>
          <p:cNvSpPr/>
          <p:nvPr/>
        </p:nvSpPr>
        <p:spPr>
          <a:xfrm>
            <a:off x="1238250" y="2256752"/>
            <a:ext cx="16285845" cy="294861"/>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6B6A65"/>
                </a:solidFill>
                <a:latin typeface="Courier New" pitchFamily="34" charset="0"/>
                <a:ea typeface="Courier New" pitchFamily="34" charset="-122"/>
                <a:cs typeface="Courier New" pitchFamily="34" charset="-120"/>
              </a:rPr>
              <a:t>THE PROBLEM WE SET OUT TO SOLVE</a:t>
            </a:r>
            <a:endParaRPr lang="en-US" sz="1800" dirty="0"/>
          </a:p>
        </p:txBody>
      </p:sp>
      <p:sp>
        <p:nvSpPr>
          <p:cNvPr id="5" name="Text 3"/>
          <p:cNvSpPr/>
          <p:nvPr/>
        </p:nvSpPr>
        <p:spPr>
          <a:xfrm>
            <a:off x="1238250" y="2742061"/>
            <a:ext cx="14716125" cy="1843709"/>
          </a:xfrm>
          <a:prstGeom prst="rect">
            <a:avLst/>
          </a:prstGeom>
          <a:noFill/>
          <a:ln/>
        </p:spPr>
        <p:txBody>
          <a:bodyPr wrap="square" lIns="25400" tIns="25400" rIns="25400" bIns="25400" rtlCol="0" anchor="t">
            <a:normAutofit/>
          </a:bodyPr>
          <a:lstStyle/>
          <a:p>
            <a:pPr marL="0" indent="0" algn="l">
              <a:lnSpc>
                <a:spcPct val="98000"/>
              </a:lnSpc>
              <a:buNone/>
            </a:pPr>
            <a:r>
              <a:rPr lang="en-US" sz="7200" kern="0" spc="-252" dirty="0">
                <a:solidFill>
                  <a:srgbClr val="13141A"/>
                </a:solidFill>
                <a:latin typeface="Arial" pitchFamily="34" charset="0"/>
                <a:ea typeface="Arial" pitchFamily="34" charset="-122"/>
                <a:cs typeface="Arial" pitchFamily="34" charset="-120"/>
              </a:rPr>
              <a:t>Khoa học tăng tốc. </a:t>
            </a:r>
            <a:r>
              <a:rPr lang="en-US" sz="7200" i="1" kern="0" spc="-252" dirty="0">
                <a:solidFill>
                  <a:srgbClr val="13141A"/>
                </a:solidFill>
                <a:latin typeface="Georgia" pitchFamily="34" charset="0"/>
                <a:ea typeface="Georgia" pitchFamily="34" charset="-122"/>
                <a:cs typeface="Georgia" pitchFamily="34" charset="-120"/>
              </a:rPr>
              <a:t>Khả năng đọc của con người </a:t>
            </a:r>
            <a:r>
              <a:rPr lang="en-US" sz="7200" kern="0" spc="-252" dirty="0">
                <a:solidFill>
                  <a:srgbClr val="13141A"/>
                </a:solidFill>
                <a:latin typeface="Arial" pitchFamily="34" charset="0"/>
                <a:ea typeface="Arial" pitchFamily="34" charset="-122"/>
                <a:cs typeface="Arial" pitchFamily="34" charset="-120"/>
              </a:rPr>
              <a:t>thì không.</a:t>
            </a:r>
            <a:endParaRPr lang="en-US" sz="7200" dirty="0"/>
          </a:p>
        </p:txBody>
      </p:sp>
      <p:sp>
        <p:nvSpPr>
          <p:cNvPr id="6" name="Text 4"/>
          <p:cNvSpPr/>
          <p:nvPr/>
        </p:nvSpPr>
        <p:spPr>
          <a:xfrm>
            <a:off x="1238250" y="5404920"/>
            <a:ext cx="5114653" cy="1040296"/>
          </a:xfrm>
          <a:prstGeom prst="rect">
            <a:avLst/>
          </a:prstGeom>
          <a:noFill/>
          <a:ln/>
        </p:spPr>
        <p:txBody>
          <a:bodyPr wrap="square" lIns="25400" tIns="25400" rIns="25400" bIns="25400" rtlCol="0" anchor="t">
            <a:normAutofit/>
          </a:bodyPr>
          <a:lstStyle/>
          <a:p>
            <a:pPr marL="0" indent="0" algn="l">
              <a:lnSpc>
                <a:spcPct val="100000"/>
              </a:lnSpc>
              <a:buNone/>
            </a:pPr>
            <a:r>
              <a:rPr lang="en-US" sz="7800" kern="0" spc="-312" dirty="0">
                <a:solidFill>
                  <a:srgbClr val="13141A"/>
                </a:solidFill>
                <a:latin typeface="Arial" pitchFamily="34" charset="0"/>
                <a:ea typeface="Arial" pitchFamily="34" charset="-122"/>
                <a:cs typeface="Arial" pitchFamily="34" charset="-120"/>
              </a:rPr>
              <a:t>+8K</a:t>
            </a:r>
            <a:r>
              <a:rPr lang="en-US" sz="7800" i="1" kern="0" spc="-312" dirty="0">
                <a:solidFill>
                  <a:srgbClr val="13141A"/>
                </a:solidFill>
                <a:latin typeface="Georgia" pitchFamily="34" charset="0"/>
                <a:ea typeface="Georgia" pitchFamily="34" charset="-122"/>
                <a:cs typeface="Georgia" pitchFamily="34" charset="-120"/>
              </a:rPr>
              <a:t>/ngày</a:t>
            </a:r>
            <a:endParaRPr lang="en-US" sz="7800" dirty="0"/>
          </a:p>
        </p:txBody>
      </p:sp>
      <p:sp>
        <p:nvSpPr>
          <p:cNvPr id="7" name="Text 5"/>
          <p:cNvSpPr/>
          <p:nvPr/>
        </p:nvSpPr>
        <p:spPr>
          <a:xfrm>
            <a:off x="1238250" y="6578462"/>
            <a:ext cx="5114653" cy="327991"/>
          </a:xfrm>
          <a:prstGeom prst="rect">
            <a:avLst/>
          </a:prstGeom>
          <a:noFill/>
          <a:ln/>
        </p:spPr>
        <p:txBody>
          <a:bodyPr wrap="square" lIns="25400" tIns="25400" rIns="25400" bIns="25400" rtlCol="0" anchor="t">
            <a:normAutofit/>
          </a:bodyPr>
          <a:lstStyle/>
          <a:p>
            <a:pPr marL="0" indent="0" algn="l">
              <a:lnSpc>
                <a:spcPct val="130000"/>
              </a:lnSpc>
              <a:buNone/>
            </a:pPr>
            <a:r>
              <a:rPr lang="en-US" sz="1800" kern="0" spc="108" dirty="0">
                <a:solidFill>
                  <a:srgbClr val="6B6A65"/>
                </a:solidFill>
                <a:latin typeface="Courier New" pitchFamily="34" charset="0"/>
                <a:ea typeface="Courier New" pitchFamily="34" charset="-122"/>
                <a:cs typeface="Courier New" pitchFamily="34" charset="-120"/>
              </a:rPr>
              <a:t>PAPER MỚI ĐĂNG TRÊN ARXIV</a:t>
            </a:r>
            <a:endParaRPr lang="en-US" sz="1800" dirty="0"/>
          </a:p>
        </p:txBody>
      </p:sp>
      <p:sp>
        <p:nvSpPr>
          <p:cNvPr id="8" name="Text 6"/>
          <p:cNvSpPr/>
          <p:nvPr/>
        </p:nvSpPr>
        <p:spPr>
          <a:xfrm>
            <a:off x="1238250" y="7039700"/>
            <a:ext cx="3728085" cy="1056861"/>
          </a:xfrm>
          <a:prstGeom prst="rect">
            <a:avLst/>
          </a:prstGeom>
          <a:noFill/>
          <a:ln/>
        </p:spPr>
        <p:txBody>
          <a:bodyPr wrap="square" lIns="25400" tIns="25400" rIns="25400" bIns="25400" rtlCol="0" anchor="t">
            <a:normAutofit/>
          </a:bodyPr>
          <a:lstStyle/>
          <a:p>
            <a:pPr marL="0" indent="0" algn="l">
              <a:lnSpc>
                <a:spcPct val="150000"/>
              </a:lnSpc>
              <a:buNone/>
            </a:pPr>
            <a:r>
              <a:rPr lang="en-US" sz="1800" kern="0" spc="-12" dirty="0">
                <a:solidFill>
                  <a:srgbClr val="6B6A65"/>
                </a:solidFill>
                <a:latin typeface="Arial" pitchFamily="34" charset="0"/>
                <a:ea typeface="Arial" pitchFamily="34" charset="-122"/>
                <a:cs typeface="Arial" pitchFamily="34" charset="-120"/>
              </a:rPr>
              <a:t>Tăng trưởng hàng nghìn bài mỗi ngày khiến việc theo dõi thủ công gần như bất khả thi.</a:t>
            </a:r>
            <a:endParaRPr lang="en-US" sz="1800" dirty="0"/>
          </a:p>
        </p:txBody>
      </p:sp>
      <p:sp>
        <p:nvSpPr>
          <p:cNvPr id="9" name="Text 7"/>
          <p:cNvSpPr/>
          <p:nvPr/>
        </p:nvSpPr>
        <p:spPr>
          <a:xfrm>
            <a:off x="6661029" y="5404920"/>
            <a:ext cx="5114787" cy="1040296"/>
          </a:xfrm>
          <a:prstGeom prst="rect">
            <a:avLst/>
          </a:prstGeom>
          <a:noFill/>
          <a:ln/>
        </p:spPr>
        <p:txBody>
          <a:bodyPr wrap="square" lIns="25400" tIns="25400" rIns="25400" bIns="25400" rtlCol="0" anchor="t">
            <a:normAutofit/>
          </a:bodyPr>
          <a:lstStyle/>
          <a:p>
            <a:pPr marL="0" indent="0" algn="l">
              <a:lnSpc>
                <a:spcPct val="100000"/>
              </a:lnSpc>
              <a:buNone/>
            </a:pPr>
            <a:r>
              <a:rPr lang="en-US" sz="7800" kern="0" spc="-312" dirty="0">
                <a:solidFill>
                  <a:srgbClr val="13141A"/>
                </a:solidFill>
                <a:latin typeface="Arial" pitchFamily="34" charset="0"/>
                <a:ea typeface="Arial" pitchFamily="34" charset="-122"/>
                <a:cs typeface="Arial" pitchFamily="34" charset="-120"/>
              </a:rPr>
              <a:t>~15</a:t>
            </a:r>
            <a:r>
              <a:rPr lang="en-US" sz="7800" i="1" kern="0" spc="-312" dirty="0">
                <a:solidFill>
                  <a:srgbClr val="13141A"/>
                </a:solidFill>
                <a:latin typeface="Georgia" pitchFamily="34" charset="0"/>
                <a:ea typeface="Georgia" pitchFamily="34" charset="-122"/>
                <a:cs typeface="Georgia" pitchFamily="34" charset="-120"/>
              </a:rPr>
              <a:t>phút</a:t>
            </a:r>
            <a:endParaRPr lang="en-US" sz="7800" dirty="0"/>
          </a:p>
        </p:txBody>
      </p:sp>
      <p:sp>
        <p:nvSpPr>
          <p:cNvPr id="10" name="Text 8"/>
          <p:cNvSpPr/>
          <p:nvPr/>
        </p:nvSpPr>
        <p:spPr>
          <a:xfrm>
            <a:off x="6661029" y="6578462"/>
            <a:ext cx="5114787" cy="327991"/>
          </a:xfrm>
          <a:prstGeom prst="rect">
            <a:avLst/>
          </a:prstGeom>
          <a:noFill/>
          <a:ln/>
        </p:spPr>
        <p:txBody>
          <a:bodyPr wrap="square" lIns="25400" tIns="25400" rIns="25400" bIns="25400" rtlCol="0" anchor="t">
            <a:normAutofit/>
          </a:bodyPr>
          <a:lstStyle/>
          <a:p>
            <a:pPr marL="0" indent="0" algn="l">
              <a:lnSpc>
                <a:spcPct val="130000"/>
              </a:lnSpc>
              <a:buNone/>
            </a:pPr>
            <a:r>
              <a:rPr lang="en-US" sz="1800" kern="0" spc="108" dirty="0">
                <a:solidFill>
                  <a:srgbClr val="6B6A65"/>
                </a:solidFill>
                <a:latin typeface="Courier New" pitchFamily="34" charset="0"/>
                <a:ea typeface="Courier New" pitchFamily="34" charset="-122"/>
                <a:cs typeface="Courier New" pitchFamily="34" charset="-120"/>
              </a:rPr>
              <a:t>ĐỂ ĐỌC &amp; SÀNG LỌC MỘT ABSTRACT</a:t>
            </a:r>
            <a:endParaRPr lang="en-US" sz="1800" dirty="0"/>
          </a:p>
        </p:txBody>
      </p:sp>
      <p:sp>
        <p:nvSpPr>
          <p:cNvPr id="11" name="Text 9"/>
          <p:cNvSpPr/>
          <p:nvPr/>
        </p:nvSpPr>
        <p:spPr>
          <a:xfrm>
            <a:off x="6661029" y="7039700"/>
            <a:ext cx="3728085" cy="1056861"/>
          </a:xfrm>
          <a:prstGeom prst="rect">
            <a:avLst/>
          </a:prstGeom>
          <a:noFill/>
          <a:ln/>
        </p:spPr>
        <p:txBody>
          <a:bodyPr wrap="square" lIns="25400" tIns="25400" rIns="25400" bIns="25400" rtlCol="0" anchor="t">
            <a:normAutofit/>
          </a:bodyPr>
          <a:lstStyle/>
          <a:p>
            <a:pPr marL="0" indent="0" algn="l">
              <a:lnSpc>
                <a:spcPct val="150000"/>
              </a:lnSpc>
              <a:buNone/>
            </a:pPr>
            <a:r>
              <a:rPr lang="en-US" sz="1800" kern="0" spc="-12" dirty="0">
                <a:solidFill>
                  <a:srgbClr val="6B6A65"/>
                </a:solidFill>
                <a:latin typeface="Arial" pitchFamily="34" charset="0"/>
                <a:ea typeface="Arial" pitchFamily="34" charset="-122"/>
                <a:cs typeface="Arial" pitchFamily="34" charset="-120"/>
              </a:rPr>
              <a:t>Sinh viên &amp; nhà nghiên cứu mất hàng giờ chỉ để biết bài nào đáng đọc tiếp.</a:t>
            </a:r>
            <a:endParaRPr lang="en-US" sz="1800" dirty="0"/>
          </a:p>
        </p:txBody>
      </p:sp>
      <p:sp>
        <p:nvSpPr>
          <p:cNvPr id="12" name="Text 10"/>
          <p:cNvSpPr/>
          <p:nvPr/>
        </p:nvSpPr>
        <p:spPr>
          <a:xfrm>
            <a:off x="12083938" y="5404920"/>
            <a:ext cx="5114653" cy="1040296"/>
          </a:xfrm>
          <a:prstGeom prst="rect">
            <a:avLst/>
          </a:prstGeom>
          <a:noFill/>
          <a:ln/>
        </p:spPr>
        <p:txBody>
          <a:bodyPr wrap="square" lIns="25400" tIns="25400" rIns="25400" bIns="25400" rtlCol="0" anchor="t">
            <a:normAutofit/>
          </a:bodyPr>
          <a:lstStyle/>
          <a:p>
            <a:pPr marL="0" indent="0" algn="l">
              <a:lnSpc>
                <a:spcPct val="100000"/>
              </a:lnSpc>
              <a:buNone/>
            </a:pPr>
            <a:r>
              <a:rPr lang="en-US" sz="7800" kern="0" spc="-312" dirty="0">
                <a:solidFill>
                  <a:srgbClr val="13141A"/>
                </a:solidFill>
                <a:latin typeface="Arial" pitchFamily="34" charset="0"/>
                <a:ea typeface="Arial" pitchFamily="34" charset="-122"/>
                <a:cs typeface="Arial" pitchFamily="34" charset="-120"/>
              </a:rPr>
              <a:t>0</a:t>
            </a:r>
            <a:r>
              <a:rPr lang="en-US" sz="7800" i="1" kern="0" spc="-312" dirty="0">
                <a:solidFill>
                  <a:srgbClr val="13141A"/>
                </a:solidFill>
                <a:latin typeface="Georgia" pitchFamily="34" charset="0"/>
                <a:ea typeface="Georgia" pitchFamily="34" charset="-122"/>
                <a:cs typeface="Georgia" pitchFamily="34" charset="-120"/>
              </a:rPr>
              <a:t>công cụ</a:t>
            </a:r>
            <a:endParaRPr lang="en-US" sz="7800" dirty="0"/>
          </a:p>
        </p:txBody>
      </p:sp>
      <p:sp>
        <p:nvSpPr>
          <p:cNvPr id="13" name="Text 11"/>
          <p:cNvSpPr/>
          <p:nvPr/>
        </p:nvSpPr>
        <p:spPr>
          <a:xfrm>
            <a:off x="12083938" y="6578462"/>
            <a:ext cx="5114653" cy="327991"/>
          </a:xfrm>
          <a:prstGeom prst="rect">
            <a:avLst/>
          </a:prstGeom>
          <a:noFill/>
          <a:ln/>
        </p:spPr>
        <p:txBody>
          <a:bodyPr wrap="square" lIns="25400" tIns="25400" rIns="25400" bIns="25400" rtlCol="0" anchor="t">
            <a:normAutofit/>
          </a:bodyPr>
          <a:lstStyle/>
          <a:p>
            <a:pPr marL="0" indent="0" algn="l">
              <a:lnSpc>
                <a:spcPct val="130000"/>
              </a:lnSpc>
              <a:buNone/>
            </a:pPr>
            <a:r>
              <a:rPr lang="en-US" sz="1800" kern="0" spc="108" dirty="0">
                <a:solidFill>
                  <a:srgbClr val="6B6A65"/>
                </a:solidFill>
                <a:latin typeface="Courier New" pitchFamily="34" charset="0"/>
                <a:ea typeface="Courier New" pitchFamily="34" charset="-122"/>
                <a:cs typeface="Courier New" pitchFamily="34" charset="-120"/>
              </a:rPr>
              <a:t>TÍCH HỢP FETCH + TÓM TẮT + GỢI Ý</a:t>
            </a:r>
            <a:endParaRPr lang="en-US" sz="1800" dirty="0"/>
          </a:p>
        </p:txBody>
      </p:sp>
      <p:sp>
        <p:nvSpPr>
          <p:cNvPr id="14" name="Text 12"/>
          <p:cNvSpPr/>
          <p:nvPr/>
        </p:nvSpPr>
        <p:spPr>
          <a:xfrm>
            <a:off x="12083938" y="7039700"/>
            <a:ext cx="3728085" cy="1056861"/>
          </a:xfrm>
          <a:prstGeom prst="rect">
            <a:avLst/>
          </a:prstGeom>
          <a:noFill/>
          <a:ln/>
        </p:spPr>
        <p:txBody>
          <a:bodyPr wrap="square" lIns="25400" tIns="25400" rIns="25400" bIns="25400" rtlCol="0" anchor="t">
            <a:normAutofit/>
          </a:bodyPr>
          <a:lstStyle/>
          <a:p>
            <a:pPr marL="0" indent="0" algn="l">
              <a:lnSpc>
                <a:spcPct val="150000"/>
              </a:lnSpc>
              <a:buNone/>
            </a:pPr>
            <a:r>
              <a:rPr lang="en-US" sz="1800" kern="0" spc="-12" dirty="0">
                <a:solidFill>
                  <a:srgbClr val="6B6A65"/>
                </a:solidFill>
                <a:latin typeface="Arial" pitchFamily="34" charset="0"/>
                <a:ea typeface="Arial" pitchFamily="34" charset="-122"/>
                <a:cs typeface="Arial" pitchFamily="34" charset="-120"/>
              </a:rPr>
              <a:t>Các nền tảng hiện có rời rạc — chưa kết hợp khám phá, tóm tắt và cá nhân hóa cùng nơi.</a:t>
            </a:r>
            <a:endParaRPr lang="en-US" sz="1800" dirty="0"/>
          </a:p>
        </p:txBody>
      </p:sp>
      <p:sp>
        <p:nvSpPr>
          <p:cNvPr id="15" name="Text 13"/>
          <p:cNvSpPr/>
          <p:nvPr/>
        </p:nvSpPr>
        <p:spPr>
          <a:xfrm>
            <a:off x="1238250" y="9458740"/>
            <a:ext cx="3767941"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6B6A65"/>
                </a:solidFill>
                <a:latin typeface="Courier New" pitchFamily="34" charset="0"/>
                <a:ea typeface="Courier New" pitchFamily="34" charset="-122"/>
                <a:cs typeface="Courier New" pitchFamily="34" charset="-120"/>
              </a:rPr>
              <a:t>02 — PROBLEM &amp; MOTIVATION</a:t>
            </a:r>
            <a:endParaRPr lang="en-US" sz="1800" dirty="0"/>
          </a:p>
        </p:txBody>
      </p:sp>
      <p:sp>
        <p:nvSpPr>
          <p:cNvPr id="16" name="Text 14"/>
          <p:cNvSpPr/>
          <p:nvPr/>
        </p:nvSpPr>
        <p:spPr>
          <a:xfrm>
            <a:off x="16025425" y="9458740"/>
            <a:ext cx="1100526"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6B6A65"/>
                </a:solidFill>
                <a:latin typeface="Courier New" pitchFamily="34" charset="0"/>
                <a:ea typeface="Courier New" pitchFamily="34" charset="-122"/>
                <a:cs typeface="Courier New" pitchFamily="34" charset="-120"/>
              </a:rPr>
              <a:t>02 / 15</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0E6"/>
        </a:solidFill>
        <a:effectLst/>
      </p:bgPr>
    </p:bg>
    <p:spTree>
      <p:nvGrpSpPr>
        <p:cNvPr id="1" name=""/>
        <p:cNvGrpSpPr/>
        <p:nvPr/>
      </p:nvGrpSpPr>
      <p:grpSpPr>
        <a:xfrm>
          <a:off x="0" y="0"/>
          <a:ext cx="0" cy="0"/>
          <a:chOff x="0" y="0"/>
          <a:chExt cx="0" cy="0"/>
        </a:xfrm>
      </p:grpSpPr>
      <p:sp>
        <p:nvSpPr>
          <p:cNvPr id="2" name="Text 0"/>
          <p:cNvSpPr/>
          <p:nvPr/>
        </p:nvSpPr>
        <p:spPr>
          <a:xfrm>
            <a:off x="1238250" y="1047750"/>
            <a:ext cx="3361248"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6B6A65"/>
                </a:solidFill>
                <a:latin typeface="Courier New" pitchFamily="34" charset="0"/>
                <a:ea typeface="Courier New" pitchFamily="34" charset="-122"/>
                <a:cs typeface="Courier New" pitchFamily="34" charset="-120"/>
              </a:rPr>
              <a:t>MỤC TIÊU · OBJECTIVES</a:t>
            </a:r>
            <a:endParaRPr lang="en-US" sz="1800" dirty="0"/>
          </a:p>
        </p:txBody>
      </p:sp>
      <p:sp>
        <p:nvSpPr>
          <p:cNvPr id="3" name="Text 1"/>
          <p:cNvSpPr/>
          <p:nvPr/>
        </p:nvSpPr>
        <p:spPr>
          <a:xfrm>
            <a:off x="16757012" y="1047750"/>
            <a:ext cx="368938"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6B6A65"/>
                </a:solidFill>
                <a:latin typeface="Courier New" pitchFamily="34" charset="0"/>
                <a:ea typeface="Courier New" pitchFamily="34" charset="-122"/>
                <a:cs typeface="Courier New" pitchFamily="34" charset="-120"/>
              </a:rPr>
              <a:t>03</a:t>
            </a:r>
            <a:endParaRPr lang="en-US" sz="1800" dirty="0"/>
          </a:p>
        </p:txBody>
      </p:sp>
      <p:sp>
        <p:nvSpPr>
          <p:cNvPr id="4" name="Text 2"/>
          <p:cNvSpPr/>
          <p:nvPr/>
        </p:nvSpPr>
        <p:spPr>
          <a:xfrm>
            <a:off x="1238250" y="3690290"/>
            <a:ext cx="6295143" cy="294861"/>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6B6A65"/>
                </a:solidFill>
                <a:latin typeface="Courier New" pitchFamily="34" charset="0"/>
                <a:ea typeface="Courier New" pitchFamily="34" charset="-122"/>
                <a:cs typeface="Courier New" pitchFamily="34" charset="-120"/>
              </a:rPr>
              <a:t>WHAT WE BUILT SCHOLARSLATE TO DO</a:t>
            </a:r>
            <a:endParaRPr lang="en-US" sz="1800" dirty="0"/>
          </a:p>
        </p:txBody>
      </p:sp>
      <p:sp>
        <p:nvSpPr>
          <p:cNvPr id="5" name="Text 3"/>
          <p:cNvSpPr/>
          <p:nvPr/>
        </p:nvSpPr>
        <p:spPr>
          <a:xfrm>
            <a:off x="1238250" y="4175600"/>
            <a:ext cx="6295143" cy="2738231"/>
          </a:xfrm>
          <a:prstGeom prst="rect">
            <a:avLst/>
          </a:prstGeom>
          <a:noFill/>
          <a:ln/>
        </p:spPr>
        <p:txBody>
          <a:bodyPr wrap="square" lIns="25400" tIns="25400" rIns="25400" bIns="25400" rtlCol="0" anchor="t">
            <a:normAutofit/>
          </a:bodyPr>
          <a:lstStyle/>
          <a:p>
            <a:pPr marL="0" indent="0" algn="l">
              <a:lnSpc>
                <a:spcPct val="98000"/>
              </a:lnSpc>
              <a:buNone/>
            </a:pPr>
            <a:r>
              <a:rPr lang="en-US" sz="7200" kern="0" spc="-252" dirty="0">
                <a:solidFill>
                  <a:srgbClr val="13141A"/>
                </a:solidFill>
                <a:latin typeface="Arial" pitchFamily="34" charset="0"/>
                <a:ea typeface="Arial" pitchFamily="34" charset="-122"/>
                <a:cs typeface="Arial" pitchFamily="34" charset="-120"/>
              </a:rPr>
              <a:t>Năm mục tiêu. </a:t>
            </a:r>
            <a:r>
              <a:rPr lang="en-US" sz="7200" i="1" kern="0" spc="-252" dirty="0">
                <a:solidFill>
                  <a:srgbClr val="13141A"/>
                </a:solidFill>
                <a:latin typeface="Georgia" pitchFamily="34" charset="0"/>
                <a:ea typeface="Georgia" pitchFamily="34" charset="-122"/>
                <a:cs typeface="Georgia" pitchFamily="34" charset="-120"/>
              </a:rPr>
              <a:t>Một dòng chảy </a:t>
            </a:r>
            <a:r>
              <a:rPr lang="en-US" sz="7200" kern="0" spc="-252" dirty="0">
                <a:solidFill>
                  <a:srgbClr val="13141A"/>
                </a:solidFill>
                <a:latin typeface="Arial" pitchFamily="34" charset="0"/>
                <a:ea typeface="Arial" pitchFamily="34" charset="-122"/>
                <a:cs typeface="Arial" pitchFamily="34" charset="-120"/>
              </a:rPr>
              <a:t>liền mạch.</a:t>
            </a:r>
            <a:endParaRPr lang="en-US" sz="7200" dirty="0"/>
          </a:p>
        </p:txBody>
      </p:sp>
      <p:sp>
        <p:nvSpPr>
          <p:cNvPr id="6" name="Text 4"/>
          <p:cNvSpPr/>
          <p:nvPr/>
        </p:nvSpPr>
        <p:spPr>
          <a:xfrm>
            <a:off x="1238250" y="7218552"/>
            <a:ext cx="6295143" cy="667578"/>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12" dirty="0">
                <a:solidFill>
                  <a:srgbClr val="2A2C36"/>
                </a:solidFill>
                <a:latin typeface="Arial" pitchFamily="34" charset="0"/>
                <a:ea typeface="Arial" pitchFamily="34" charset="-122"/>
                <a:cs typeface="Arial" pitchFamily="34" charset="-120"/>
              </a:rPr>
              <a:t>Mỗi mục tiêu được ánh xạ thành một nhóm Use Case rõ ràng — không có chức năng thừa.</a:t>
            </a:r>
            <a:endParaRPr lang="en-US" sz="1800" dirty="0"/>
          </a:p>
        </p:txBody>
      </p:sp>
      <p:sp>
        <p:nvSpPr>
          <p:cNvPr id="7" name="Shape 5"/>
          <p:cNvSpPr/>
          <p:nvPr/>
        </p:nvSpPr>
        <p:spPr>
          <a:xfrm>
            <a:off x="8493039" y="1304511"/>
            <a:ext cx="8556711" cy="1913800"/>
          </a:xfrm>
          <a:prstGeom prst="roundRect">
            <a:avLst>
              <a:gd name="adj" fmla="val 8959"/>
            </a:avLst>
          </a:prstGeom>
          <a:solidFill>
            <a:srgbClr val="FBF8F0"/>
          </a:solidFill>
          <a:ln w="8283">
            <a:solidFill>
              <a:srgbClr val="13141A">
                <a:alpha val="12000"/>
              </a:srgbClr>
            </a:solidFill>
            <a:prstDash val="solid"/>
          </a:ln>
        </p:spPr>
        <p:txBody>
          <a:bodyPr/>
          <a:lstStyle/>
          <a:p>
            <a:endParaRPr lang="en-VN"/>
          </a:p>
        </p:txBody>
      </p:sp>
      <p:sp>
        <p:nvSpPr>
          <p:cNvPr id="8" name="Text 6"/>
          <p:cNvSpPr/>
          <p:nvPr/>
        </p:nvSpPr>
        <p:spPr>
          <a:xfrm>
            <a:off x="8844144" y="1655616"/>
            <a:ext cx="397410" cy="493643"/>
          </a:xfrm>
          <a:prstGeom prst="rect">
            <a:avLst/>
          </a:prstGeom>
          <a:noFill/>
          <a:ln/>
        </p:spPr>
        <p:txBody>
          <a:bodyPr wrap="square" lIns="25400" tIns="25400" rIns="25400" bIns="25400" rtlCol="0" anchor="t">
            <a:normAutofit/>
          </a:bodyPr>
          <a:lstStyle/>
          <a:p>
            <a:pPr marL="0" indent="0" algn="l">
              <a:lnSpc>
                <a:spcPct val="100000"/>
              </a:lnSpc>
              <a:buNone/>
            </a:pPr>
            <a:r>
              <a:rPr lang="en-US" sz="3600" i="1" kern="0" spc="-12" dirty="0">
                <a:solidFill>
                  <a:srgbClr val="294792"/>
                </a:solidFill>
                <a:latin typeface="Georgia" pitchFamily="34" charset="0"/>
                <a:ea typeface="Georgia" pitchFamily="34" charset="-122"/>
                <a:cs typeface="Georgia" pitchFamily="34" charset="-120"/>
              </a:rPr>
              <a:t>01</a:t>
            </a:r>
            <a:endParaRPr lang="en-US" sz="3600" dirty="0"/>
          </a:p>
        </p:txBody>
      </p:sp>
      <p:sp>
        <p:nvSpPr>
          <p:cNvPr id="9" name="Text 7"/>
          <p:cNvSpPr/>
          <p:nvPr/>
        </p:nvSpPr>
        <p:spPr>
          <a:xfrm>
            <a:off x="9431950" y="1826962"/>
            <a:ext cx="7484696" cy="377687"/>
          </a:xfrm>
          <a:prstGeom prst="rect">
            <a:avLst/>
          </a:prstGeom>
          <a:noFill/>
          <a:ln/>
        </p:spPr>
        <p:txBody>
          <a:bodyPr wrap="square" lIns="25400" tIns="25400" rIns="25400" bIns="25400" rtlCol="0" anchor="t">
            <a:normAutofit/>
          </a:bodyPr>
          <a:lstStyle/>
          <a:p>
            <a:pPr marL="0" indent="0" algn="l">
              <a:buNone/>
            </a:pPr>
            <a:r>
              <a:rPr lang="en-US" sz="2100" kern="0" spc="-21" dirty="0">
                <a:solidFill>
                  <a:srgbClr val="13141A"/>
                </a:solidFill>
                <a:latin typeface="Arial" pitchFamily="34" charset="0"/>
                <a:ea typeface="Arial" pitchFamily="34" charset="-122"/>
                <a:cs typeface="Arial" pitchFamily="34" charset="-120"/>
              </a:rPr>
              <a:t>Tự động lấy paper từ arXiv</a:t>
            </a:r>
            <a:endParaRPr lang="en-US" sz="2100" dirty="0"/>
          </a:p>
        </p:txBody>
      </p:sp>
      <p:sp>
        <p:nvSpPr>
          <p:cNvPr id="10" name="Text 8"/>
          <p:cNvSpPr/>
          <p:nvPr/>
        </p:nvSpPr>
        <p:spPr>
          <a:xfrm>
            <a:off x="9431950" y="2242646"/>
            <a:ext cx="7484696" cy="700709"/>
          </a:xfrm>
          <a:prstGeom prst="rect">
            <a:avLst/>
          </a:prstGeom>
          <a:noFill/>
          <a:ln/>
        </p:spPr>
        <p:txBody>
          <a:bodyPr wrap="square" lIns="25400" tIns="25400" rIns="25400" bIns="25400" rtlCol="0" anchor="t">
            <a:normAutofit/>
          </a:bodyPr>
          <a:lstStyle/>
          <a:p>
            <a:pPr marL="0" indent="0" algn="l">
              <a:lnSpc>
                <a:spcPct val="145000"/>
              </a:lnSpc>
              <a:buNone/>
            </a:pPr>
            <a:r>
              <a:rPr lang="en-US" sz="1800" kern="0" spc="-12" dirty="0">
                <a:solidFill>
                  <a:srgbClr val="6B6A65"/>
                </a:solidFill>
                <a:latin typeface="Arial" pitchFamily="34" charset="0"/>
                <a:ea typeface="Arial" pitchFamily="34" charset="-122"/>
                <a:cs typeface="Arial" pitchFamily="34" charset="-120"/>
              </a:rPr>
              <a:t>Theo topic &amp; keyword do user định nghĩa. Scheduler chạy 06:00 mỗi ngày.</a:t>
            </a:r>
            <a:endParaRPr lang="en-US" sz="1800" dirty="0"/>
          </a:p>
        </p:txBody>
      </p:sp>
      <p:sp>
        <p:nvSpPr>
          <p:cNvPr id="11" name="Shape 9"/>
          <p:cNvSpPr/>
          <p:nvPr/>
        </p:nvSpPr>
        <p:spPr>
          <a:xfrm>
            <a:off x="8493039" y="3446859"/>
            <a:ext cx="8556711" cy="1582496"/>
          </a:xfrm>
          <a:prstGeom prst="roundRect">
            <a:avLst>
              <a:gd name="adj" fmla="val 10834"/>
            </a:avLst>
          </a:prstGeom>
          <a:solidFill>
            <a:srgbClr val="FBF8F0"/>
          </a:solidFill>
          <a:ln w="8283">
            <a:solidFill>
              <a:srgbClr val="13141A">
                <a:alpha val="12000"/>
              </a:srgbClr>
            </a:solidFill>
            <a:prstDash val="solid"/>
          </a:ln>
        </p:spPr>
        <p:txBody>
          <a:bodyPr/>
          <a:lstStyle/>
          <a:p>
            <a:endParaRPr lang="en-VN"/>
          </a:p>
        </p:txBody>
      </p:sp>
      <p:sp>
        <p:nvSpPr>
          <p:cNvPr id="12" name="Text 10"/>
          <p:cNvSpPr/>
          <p:nvPr/>
        </p:nvSpPr>
        <p:spPr>
          <a:xfrm>
            <a:off x="8844144" y="3797964"/>
            <a:ext cx="463153" cy="493643"/>
          </a:xfrm>
          <a:prstGeom prst="rect">
            <a:avLst/>
          </a:prstGeom>
          <a:noFill/>
          <a:ln/>
        </p:spPr>
        <p:txBody>
          <a:bodyPr wrap="square" lIns="25400" tIns="25400" rIns="25400" bIns="25400" rtlCol="0" anchor="t">
            <a:normAutofit/>
          </a:bodyPr>
          <a:lstStyle/>
          <a:p>
            <a:pPr marL="0" indent="0" algn="l">
              <a:lnSpc>
                <a:spcPct val="100000"/>
              </a:lnSpc>
              <a:buNone/>
            </a:pPr>
            <a:r>
              <a:rPr lang="en-US" sz="3600" i="1" kern="0" spc="-12" dirty="0">
                <a:solidFill>
                  <a:srgbClr val="294792"/>
                </a:solidFill>
                <a:latin typeface="Georgia" pitchFamily="34" charset="0"/>
                <a:ea typeface="Georgia" pitchFamily="34" charset="-122"/>
                <a:cs typeface="Georgia" pitchFamily="34" charset="-120"/>
              </a:rPr>
              <a:t>02</a:t>
            </a:r>
            <a:endParaRPr lang="en-US" sz="3600" dirty="0"/>
          </a:p>
        </p:txBody>
      </p:sp>
      <p:sp>
        <p:nvSpPr>
          <p:cNvPr id="13" name="Text 11"/>
          <p:cNvSpPr/>
          <p:nvPr/>
        </p:nvSpPr>
        <p:spPr>
          <a:xfrm>
            <a:off x="9497694" y="3969311"/>
            <a:ext cx="5896314" cy="377687"/>
          </a:xfrm>
          <a:prstGeom prst="rect">
            <a:avLst/>
          </a:prstGeom>
          <a:noFill/>
          <a:ln/>
        </p:spPr>
        <p:txBody>
          <a:bodyPr wrap="square" lIns="25400" tIns="25400" rIns="25400" bIns="25400" rtlCol="0" anchor="t">
            <a:normAutofit/>
          </a:bodyPr>
          <a:lstStyle/>
          <a:p>
            <a:pPr marL="0" indent="0" algn="l">
              <a:buNone/>
            </a:pPr>
            <a:r>
              <a:rPr lang="en-US" sz="2100" kern="0" spc="-21" dirty="0">
                <a:solidFill>
                  <a:srgbClr val="13141A"/>
                </a:solidFill>
                <a:latin typeface="Arial" pitchFamily="34" charset="0"/>
                <a:ea typeface="Arial" pitchFamily="34" charset="-122"/>
                <a:cs typeface="Arial" pitchFamily="34" charset="-120"/>
              </a:rPr>
              <a:t>Tóm tắt + chấm điểm bằng AI</a:t>
            </a:r>
            <a:endParaRPr lang="en-US" sz="2100" dirty="0"/>
          </a:p>
        </p:txBody>
      </p:sp>
      <p:sp>
        <p:nvSpPr>
          <p:cNvPr id="14" name="Text 12"/>
          <p:cNvSpPr/>
          <p:nvPr/>
        </p:nvSpPr>
        <p:spPr>
          <a:xfrm>
            <a:off x="9497694" y="4384994"/>
            <a:ext cx="5896314" cy="369404"/>
          </a:xfrm>
          <a:prstGeom prst="rect">
            <a:avLst/>
          </a:prstGeom>
          <a:noFill/>
          <a:ln/>
        </p:spPr>
        <p:txBody>
          <a:bodyPr wrap="square" lIns="25400" tIns="25400" rIns="25400" bIns="25400" rtlCol="0" anchor="t">
            <a:normAutofit/>
          </a:bodyPr>
          <a:lstStyle/>
          <a:p>
            <a:pPr marL="0" indent="0" algn="l">
              <a:lnSpc>
                <a:spcPct val="145000"/>
              </a:lnSpc>
              <a:buNone/>
            </a:pPr>
            <a:r>
              <a:rPr lang="en-US" sz="1800" kern="0" spc="-12" dirty="0">
                <a:solidFill>
                  <a:srgbClr val="6B6A65"/>
                </a:solidFill>
                <a:latin typeface="Arial" pitchFamily="34" charset="0"/>
                <a:ea typeface="Arial" pitchFamily="34" charset="-122"/>
                <a:cs typeface="Arial" pitchFamily="34" charset="-120"/>
              </a:rPr>
              <a:t>Groq LLM tóm tắt abstract và sinh quality_score ∈ [0–10].</a:t>
            </a:r>
            <a:endParaRPr lang="en-US" sz="1800" dirty="0"/>
          </a:p>
        </p:txBody>
      </p:sp>
      <p:sp>
        <p:nvSpPr>
          <p:cNvPr id="15" name="Shape 13"/>
          <p:cNvSpPr/>
          <p:nvPr/>
        </p:nvSpPr>
        <p:spPr>
          <a:xfrm>
            <a:off x="8493039" y="5257903"/>
            <a:ext cx="8556711" cy="1582496"/>
          </a:xfrm>
          <a:prstGeom prst="roundRect">
            <a:avLst>
              <a:gd name="adj" fmla="val 10834"/>
            </a:avLst>
          </a:prstGeom>
          <a:solidFill>
            <a:srgbClr val="FBF8F0"/>
          </a:solidFill>
          <a:ln w="8283">
            <a:solidFill>
              <a:srgbClr val="13141A">
                <a:alpha val="12000"/>
              </a:srgbClr>
            </a:solidFill>
            <a:prstDash val="solid"/>
          </a:ln>
        </p:spPr>
        <p:txBody>
          <a:bodyPr/>
          <a:lstStyle/>
          <a:p>
            <a:endParaRPr lang="en-VN"/>
          </a:p>
        </p:txBody>
      </p:sp>
      <p:sp>
        <p:nvSpPr>
          <p:cNvPr id="16" name="Text 14"/>
          <p:cNvSpPr/>
          <p:nvPr/>
        </p:nvSpPr>
        <p:spPr>
          <a:xfrm>
            <a:off x="8844144" y="5609009"/>
            <a:ext cx="454482" cy="493643"/>
          </a:xfrm>
          <a:prstGeom prst="rect">
            <a:avLst/>
          </a:prstGeom>
          <a:noFill/>
          <a:ln/>
        </p:spPr>
        <p:txBody>
          <a:bodyPr wrap="square" lIns="25400" tIns="25400" rIns="25400" bIns="25400" rtlCol="0" anchor="t">
            <a:normAutofit/>
          </a:bodyPr>
          <a:lstStyle/>
          <a:p>
            <a:pPr marL="0" indent="0" algn="l">
              <a:lnSpc>
                <a:spcPct val="100000"/>
              </a:lnSpc>
              <a:buNone/>
            </a:pPr>
            <a:r>
              <a:rPr lang="en-US" sz="3600" i="1" kern="0" spc="-12" dirty="0">
                <a:solidFill>
                  <a:srgbClr val="294792"/>
                </a:solidFill>
                <a:latin typeface="Georgia" pitchFamily="34" charset="0"/>
                <a:ea typeface="Georgia" pitchFamily="34" charset="-122"/>
                <a:cs typeface="Georgia" pitchFamily="34" charset="-120"/>
              </a:rPr>
              <a:t>03</a:t>
            </a:r>
            <a:endParaRPr lang="en-US" sz="3600" dirty="0"/>
          </a:p>
        </p:txBody>
      </p:sp>
      <p:sp>
        <p:nvSpPr>
          <p:cNvPr id="17" name="Text 15"/>
          <p:cNvSpPr/>
          <p:nvPr/>
        </p:nvSpPr>
        <p:spPr>
          <a:xfrm>
            <a:off x="9489023" y="5780355"/>
            <a:ext cx="6583200" cy="377687"/>
          </a:xfrm>
          <a:prstGeom prst="rect">
            <a:avLst/>
          </a:prstGeom>
          <a:noFill/>
          <a:ln/>
        </p:spPr>
        <p:txBody>
          <a:bodyPr wrap="square" lIns="25400" tIns="25400" rIns="25400" bIns="25400" rtlCol="0" anchor="t">
            <a:normAutofit/>
          </a:bodyPr>
          <a:lstStyle/>
          <a:p>
            <a:pPr marL="0" indent="0" algn="l">
              <a:buNone/>
            </a:pPr>
            <a:r>
              <a:rPr lang="en-US" sz="2100" kern="0" spc="-21" dirty="0">
                <a:solidFill>
                  <a:srgbClr val="13141A"/>
                </a:solidFill>
                <a:latin typeface="Arial" pitchFamily="34" charset="0"/>
                <a:ea typeface="Arial" pitchFamily="34" charset="-122"/>
                <a:cs typeface="Arial" pitchFamily="34" charset="-120"/>
              </a:rPr>
              <a:t>Gợi ý paper liên quan</a:t>
            </a:r>
            <a:endParaRPr lang="en-US" sz="2100" dirty="0"/>
          </a:p>
        </p:txBody>
      </p:sp>
      <p:sp>
        <p:nvSpPr>
          <p:cNvPr id="18" name="Text 16"/>
          <p:cNvSpPr/>
          <p:nvPr/>
        </p:nvSpPr>
        <p:spPr>
          <a:xfrm>
            <a:off x="9489023" y="6196039"/>
            <a:ext cx="6583200" cy="369404"/>
          </a:xfrm>
          <a:prstGeom prst="rect">
            <a:avLst/>
          </a:prstGeom>
          <a:noFill/>
          <a:ln/>
        </p:spPr>
        <p:txBody>
          <a:bodyPr wrap="square" lIns="25400" tIns="25400" rIns="25400" bIns="25400" rtlCol="0" anchor="t">
            <a:normAutofit/>
          </a:bodyPr>
          <a:lstStyle/>
          <a:p>
            <a:pPr marL="0" indent="0" algn="l">
              <a:lnSpc>
                <a:spcPct val="145000"/>
              </a:lnSpc>
              <a:buNone/>
            </a:pPr>
            <a:r>
              <a:rPr lang="en-US" sz="1800" kern="0" spc="-12" dirty="0">
                <a:solidFill>
                  <a:srgbClr val="6B6A65"/>
                </a:solidFill>
                <a:latin typeface="Arial" pitchFamily="34" charset="0"/>
                <a:ea typeface="Arial" pitchFamily="34" charset="-122"/>
                <a:cs typeface="Arial" pitchFamily="34" charset="-120"/>
              </a:rPr>
              <a:t>Semantic similarity qua pgvector HNSW (cosine distance &lt; 0.5).</a:t>
            </a:r>
            <a:endParaRPr lang="en-US" sz="1800" dirty="0"/>
          </a:p>
        </p:txBody>
      </p:sp>
      <p:sp>
        <p:nvSpPr>
          <p:cNvPr id="19" name="Shape 17"/>
          <p:cNvSpPr/>
          <p:nvPr/>
        </p:nvSpPr>
        <p:spPr>
          <a:xfrm>
            <a:off x="8493039" y="7068948"/>
            <a:ext cx="8556711" cy="1582496"/>
          </a:xfrm>
          <a:prstGeom prst="roundRect">
            <a:avLst>
              <a:gd name="adj" fmla="val 10834"/>
            </a:avLst>
          </a:prstGeom>
          <a:solidFill>
            <a:srgbClr val="FBF8F0"/>
          </a:solidFill>
          <a:ln w="8283">
            <a:solidFill>
              <a:srgbClr val="13141A">
                <a:alpha val="12000"/>
              </a:srgbClr>
            </a:solidFill>
            <a:prstDash val="solid"/>
          </a:ln>
        </p:spPr>
        <p:txBody>
          <a:bodyPr/>
          <a:lstStyle/>
          <a:p>
            <a:endParaRPr lang="en-VN"/>
          </a:p>
        </p:txBody>
      </p:sp>
      <p:sp>
        <p:nvSpPr>
          <p:cNvPr id="20" name="Text 18"/>
          <p:cNvSpPr/>
          <p:nvPr/>
        </p:nvSpPr>
        <p:spPr>
          <a:xfrm>
            <a:off x="8844144" y="7420053"/>
            <a:ext cx="464059" cy="493643"/>
          </a:xfrm>
          <a:prstGeom prst="rect">
            <a:avLst/>
          </a:prstGeom>
          <a:noFill/>
          <a:ln/>
        </p:spPr>
        <p:txBody>
          <a:bodyPr wrap="square" lIns="25400" tIns="25400" rIns="25400" bIns="25400" rtlCol="0" anchor="t">
            <a:normAutofit/>
          </a:bodyPr>
          <a:lstStyle/>
          <a:p>
            <a:pPr marL="0" indent="0" algn="l">
              <a:lnSpc>
                <a:spcPct val="100000"/>
              </a:lnSpc>
              <a:buNone/>
            </a:pPr>
            <a:r>
              <a:rPr lang="en-US" sz="3600" i="1" kern="0" spc="-12" dirty="0">
                <a:solidFill>
                  <a:srgbClr val="294792"/>
                </a:solidFill>
                <a:latin typeface="Georgia" pitchFamily="34" charset="0"/>
                <a:ea typeface="Georgia" pitchFamily="34" charset="-122"/>
                <a:cs typeface="Georgia" pitchFamily="34" charset="-120"/>
              </a:rPr>
              <a:t>04</a:t>
            </a:r>
            <a:endParaRPr lang="en-US" sz="3600" dirty="0"/>
          </a:p>
        </p:txBody>
      </p:sp>
      <p:sp>
        <p:nvSpPr>
          <p:cNvPr id="21" name="Text 19"/>
          <p:cNvSpPr/>
          <p:nvPr/>
        </p:nvSpPr>
        <p:spPr>
          <a:xfrm>
            <a:off x="9498599" y="7591399"/>
            <a:ext cx="6205566" cy="377687"/>
          </a:xfrm>
          <a:prstGeom prst="rect">
            <a:avLst/>
          </a:prstGeom>
          <a:noFill/>
          <a:ln/>
        </p:spPr>
        <p:txBody>
          <a:bodyPr wrap="square" lIns="25400" tIns="25400" rIns="25400" bIns="25400" rtlCol="0" anchor="t">
            <a:normAutofit/>
          </a:bodyPr>
          <a:lstStyle/>
          <a:p>
            <a:pPr marL="0" indent="0" algn="l">
              <a:buNone/>
            </a:pPr>
            <a:r>
              <a:rPr lang="en-US" sz="2100" kern="0" spc="-21" dirty="0">
                <a:solidFill>
                  <a:srgbClr val="13141A"/>
                </a:solidFill>
                <a:latin typeface="Arial" pitchFamily="34" charset="0"/>
                <a:ea typeface="Arial" pitchFamily="34" charset="-122"/>
                <a:cs typeface="Arial" pitchFamily="34" charset="-120"/>
              </a:rPr>
              <a:t>Tìm kiếm &amp; lưu yêu thích</a:t>
            </a:r>
            <a:endParaRPr lang="en-US" sz="2100" dirty="0"/>
          </a:p>
        </p:txBody>
      </p:sp>
      <p:sp>
        <p:nvSpPr>
          <p:cNvPr id="22" name="Text 20"/>
          <p:cNvSpPr/>
          <p:nvPr/>
        </p:nvSpPr>
        <p:spPr>
          <a:xfrm>
            <a:off x="9498599" y="8007083"/>
            <a:ext cx="6205566" cy="369404"/>
          </a:xfrm>
          <a:prstGeom prst="rect">
            <a:avLst/>
          </a:prstGeom>
          <a:noFill/>
          <a:ln/>
        </p:spPr>
        <p:txBody>
          <a:bodyPr wrap="square" lIns="25400" tIns="25400" rIns="25400" bIns="25400" rtlCol="0" anchor="t">
            <a:normAutofit/>
          </a:bodyPr>
          <a:lstStyle/>
          <a:p>
            <a:pPr marL="0" indent="0" algn="l">
              <a:lnSpc>
                <a:spcPct val="145000"/>
              </a:lnSpc>
              <a:buNone/>
            </a:pPr>
            <a:r>
              <a:rPr lang="en-US" sz="1800" kern="0" spc="-12" dirty="0">
                <a:solidFill>
                  <a:srgbClr val="6B6A65"/>
                </a:solidFill>
                <a:latin typeface="Arial" pitchFamily="34" charset="0"/>
                <a:ea typeface="Arial" pitchFamily="34" charset="-122"/>
                <a:cs typeface="Arial" pitchFamily="34" charset="-120"/>
              </a:rPr>
              <a:t>Full-text search, filter theo topic, lưu paper, nhận notification.</a:t>
            </a:r>
            <a:endParaRPr lang="en-US" sz="1800" dirty="0"/>
          </a:p>
        </p:txBody>
      </p:sp>
      <p:sp>
        <p:nvSpPr>
          <p:cNvPr id="23" name="Shape 21"/>
          <p:cNvSpPr/>
          <p:nvPr/>
        </p:nvSpPr>
        <p:spPr>
          <a:xfrm>
            <a:off x="8493039" y="8879992"/>
            <a:ext cx="8556711" cy="1582496"/>
          </a:xfrm>
          <a:prstGeom prst="roundRect">
            <a:avLst>
              <a:gd name="adj" fmla="val 10834"/>
            </a:avLst>
          </a:prstGeom>
          <a:solidFill>
            <a:srgbClr val="FBF8F0"/>
          </a:solidFill>
          <a:ln w="8283">
            <a:solidFill>
              <a:srgbClr val="13141A">
                <a:alpha val="12000"/>
              </a:srgbClr>
            </a:solidFill>
            <a:prstDash val="solid"/>
          </a:ln>
        </p:spPr>
        <p:txBody>
          <a:bodyPr/>
          <a:lstStyle/>
          <a:p>
            <a:endParaRPr lang="en-VN"/>
          </a:p>
        </p:txBody>
      </p:sp>
      <p:sp>
        <p:nvSpPr>
          <p:cNvPr id="24" name="Text 22"/>
          <p:cNvSpPr/>
          <p:nvPr/>
        </p:nvSpPr>
        <p:spPr>
          <a:xfrm>
            <a:off x="8844144" y="9231097"/>
            <a:ext cx="460953" cy="493643"/>
          </a:xfrm>
          <a:prstGeom prst="rect">
            <a:avLst/>
          </a:prstGeom>
          <a:noFill/>
          <a:ln/>
        </p:spPr>
        <p:txBody>
          <a:bodyPr wrap="square" lIns="25400" tIns="25400" rIns="25400" bIns="25400" rtlCol="0" anchor="t">
            <a:normAutofit/>
          </a:bodyPr>
          <a:lstStyle/>
          <a:p>
            <a:pPr marL="0" indent="0" algn="l">
              <a:lnSpc>
                <a:spcPct val="100000"/>
              </a:lnSpc>
              <a:buNone/>
            </a:pPr>
            <a:r>
              <a:rPr lang="en-US" sz="3600" i="1" kern="0" spc="-12" dirty="0">
                <a:solidFill>
                  <a:srgbClr val="294792"/>
                </a:solidFill>
                <a:latin typeface="Georgia" pitchFamily="34" charset="0"/>
                <a:ea typeface="Georgia" pitchFamily="34" charset="-122"/>
                <a:cs typeface="Georgia" pitchFamily="34" charset="-120"/>
              </a:rPr>
              <a:t>05</a:t>
            </a:r>
            <a:endParaRPr lang="en-US" sz="3600" dirty="0"/>
          </a:p>
        </p:txBody>
      </p:sp>
      <p:sp>
        <p:nvSpPr>
          <p:cNvPr id="25" name="Text 23"/>
          <p:cNvSpPr/>
          <p:nvPr/>
        </p:nvSpPr>
        <p:spPr>
          <a:xfrm>
            <a:off x="9495494" y="9402444"/>
            <a:ext cx="5657311" cy="377687"/>
          </a:xfrm>
          <a:prstGeom prst="rect">
            <a:avLst/>
          </a:prstGeom>
          <a:noFill/>
          <a:ln/>
        </p:spPr>
        <p:txBody>
          <a:bodyPr wrap="square" lIns="25400" tIns="25400" rIns="25400" bIns="25400" rtlCol="0" anchor="t">
            <a:normAutofit/>
          </a:bodyPr>
          <a:lstStyle/>
          <a:p>
            <a:pPr marL="0" indent="0" algn="l">
              <a:buNone/>
            </a:pPr>
            <a:r>
              <a:rPr lang="en-US" sz="2100" kern="0" spc="-21" dirty="0">
                <a:solidFill>
                  <a:srgbClr val="13141A"/>
                </a:solidFill>
                <a:latin typeface="Arial" pitchFamily="34" charset="0"/>
                <a:ea typeface="Arial" pitchFamily="34" charset="-122"/>
                <a:cs typeface="Arial" pitchFamily="34" charset="-120"/>
              </a:rPr>
              <a:t>Thống kê xu hướng nghiên cứu</a:t>
            </a:r>
            <a:endParaRPr lang="en-US" sz="2100" dirty="0"/>
          </a:p>
        </p:txBody>
      </p:sp>
      <p:sp>
        <p:nvSpPr>
          <p:cNvPr id="26" name="Text 24"/>
          <p:cNvSpPr/>
          <p:nvPr/>
        </p:nvSpPr>
        <p:spPr>
          <a:xfrm>
            <a:off x="9495494" y="9818127"/>
            <a:ext cx="5657311" cy="369404"/>
          </a:xfrm>
          <a:prstGeom prst="rect">
            <a:avLst/>
          </a:prstGeom>
          <a:noFill/>
          <a:ln/>
        </p:spPr>
        <p:txBody>
          <a:bodyPr wrap="square" lIns="25400" tIns="25400" rIns="25400" bIns="25400" rtlCol="0" anchor="t">
            <a:normAutofit/>
          </a:bodyPr>
          <a:lstStyle/>
          <a:p>
            <a:pPr marL="0" indent="0" algn="l">
              <a:lnSpc>
                <a:spcPct val="145000"/>
              </a:lnSpc>
              <a:buNone/>
            </a:pPr>
            <a:r>
              <a:rPr lang="en-US" sz="1800" kern="0" spc="-12" dirty="0">
                <a:solidFill>
                  <a:srgbClr val="6B6A65"/>
                </a:solidFill>
                <a:latin typeface="Arial" pitchFamily="34" charset="0"/>
                <a:ea typeface="Arial" pitchFamily="34" charset="-122"/>
                <a:cs typeface="Arial" pitchFamily="34" charset="-120"/>
              </a:rPr>
              <a:t>Biểu đồ paper theo tháng × topic — 24 tháng gần nhất.</a:t>
            </a:r>
            <a:endParaRPr lang="en-US" sz="1800" dirty="0"/>
          </a:p>
        </p:txBody>
      </p:sp>
      <p:sp>
        <p:nvSpPr>
          <p:cNvPr id="27" name="Text 25"/>
          <p:cNvSpPr/>
          <p:nvPr/>
        </p:nvSpPr>
        <p:spPr>
          <a:xfrm>
            <a:off x="1238250" y="9458740"/>
            <a:ext cx="2271221"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6B6A65"/>
                </a:solidFill>
                <a:latin typeface="Courier New" pitchFamily="34" charset="0"/>
                <a:ea typeface="Courier New" pitchFamily="34" charset="-122"/>
                <a:cs typeface="Courier New" pitchFamily="34" charset="-120"/>
              </a:rPr>
              <a:t>03 — OBJECTIVES</a:t>
            </a:r>
            <a:endParaRPr lang="en-US" sz="1800" dirty="0"/>
          </a:p>
        </p:txBody>
      </p:sp>
      <p:sp>
        <p:nvSpPr>
          <p:cNvPr id="28" name="Text 26"/>
          <p:cNvSpPr/>
          <p:nvPr/>
        </p:nvSpPr>
        <p:spPr>
          <a:xfrm>
            <a:off x="16025425" y="9458740"/>
            <a:ext cx="1100526"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6B6A65"/>
                </a:solidFill>
                <a:latin typeface="Courier New" pitchFamily="34" charset="0"/>
                <a:ea typeface="Courier New" pitchFamily="34" charset="-122"/>
                <a:cs typeface="Courier New" pitchFamily="34" charset="-120"/>
              </a:rPr>
              <a:t>03 / 15</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0E6"/>
        </a:solidFill>
        <a:effectLst/>
      </p:bgPr>
    </p:bg>
    <p:spTree>
      <p:nvGrpSpPr>
        <p:cNvPr id="1" name=""/>
        <p:cNvGrpSpPr/>
        <p:nvPr/>
      </p:nvGrpSpPr>
      <p:grpSpPr>
        <a:xfrm>
          <a:off x="0" y="0"/>
          <a:ext cx="0" cy="0"/>
          <a:chOff x="0" y="0"/>
          <a:chExt cx="0" cy="0"/>
        </a:xfrm>
      </p:grpSpPr>
      <p:sp>
        <p:nvSpPr>
          <p:cNvPr id="2" name="Text 0"/>
          <p:cNvSpPr/>
          <p:nvPr/>
        </p:nvSpPr>
        <p:spPr>
          <a:xfrm>
            <a:off x="1238250" y="1047750"/>
            <a:ext cx="4566931"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6B6A65"/>
                </a:solidFill>
                <a:latin typeface="Courier New" pitchFamily="34" charset="0"/>
                <a:ea typeface="Courier New" pitchFamily="34" charset="-122"/>
                <a:cs typeface="Courier New" pitchFamily="34" charset="-120"/>
              </a:rPr>
              <a:t>PHÂN TÍCH YÊU CẦU · USE CASES</a:t>
            </a:r>
            <a:endParaRPr lang="en-US" sz="1800" dirty="0"/>
          </a:p>
        </p:txBody>
      </p:sp>
      <p:sp>
        <p:nvSpPr>
          <p:cNvPr id="3" name="Text 1"/>
          <p:cNvSpPr/>
          <p:nvPr/>
        </p:nvSpPr>
        <p:spPr>
          <a:xfrm>
            <a:off x="16757012" y="1047750"/>
            <a:ext cx="368938"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6B6A65"/>
                </a:solidFill>
                <a:latin typeface="Courier New" pitchFamily="34" charset="0"/>
                <a:ea typeface="Courier New" pitchFamily="34" charset="-122"/>
                <a:cs typeface="Courier New" pitchFamily="34" charset="-120"/>
              </a:rPr>
              <a:t>04</a:t>
            </a:r>
            <a:endParaRPr lang="en-US" sz="1800" dirty="0"/>
          </a:p>
        </p:txBody>
      </p:sp>
      <p:sp>
        <p:nvSpPr>
          <p:cNvPr id="4" name="Text 2"/>
          <p:cNvSpPr/>
          <p:nvPr/>
        </p:nvSpPr>
        <p:spPr>
          <a:xfrm>
            <a:off x="1238250" y="1495011"/>
            <a:ext cx="7642654" cy="949187"/>
          </a:xfrm>
          <a:prstGeom prst="rect">
            <a:avLst/>
          </a:prstGeom>
          <a:noFill/>
          <a:ln/>
        </p:spPr>
        <p:txBody>
          <a:bodyPr wrap="square" lIns="25400" tIns="25400" rIns="25400" bIns="25400" rtlCol="0" anchor="t">
            <a:normAutofit/>
          </a:bodyPr>
          <a:lstStyle/>
          <a:p>
            <a:pPr marL="0" indent="0" algn="l">
              <a:lnSpc>
                <a:spcPct val="98000"/>
              </a:lnSpc>
              <a:buNone/>
            </a:pPr>
            <a:r>
              <a:rPr lang="en-US" sz="7200" kern="0" spc="-252" dirty="0">
                <a:solidFill>
                  <a:srgbClr val="13141A"/>
                </a:solidFill>
                <a:latin typeface="Arial" pitchFamily="34" charset="0"/>
                <a:ea typeface="Arial" pitchFamily="34" charset="-122"/>
                <a:cs typeface="Arial" pitchFamily="34" charset="-120"/>
              </a:rPr>
              <a:t>17 Use Case</a:t>
            </a:r>
            <a:r>
              <a:rPr lang="en-US" sz="7200" i="1" kern="0" spc="-252" dirty="0">
                <a:solidFill>
                  <a:srgbClr val="13141A"/>
                </a:solidFill>
                <a:latin typeface="Georgia" pitchFamily="34" charset="0"/>
                <a:ea typeface="Georgia" pitchFamily="34" charset="-122"/>
                <a:cs typeface="Georgia" pitchFamily="34" charset="-120"/>
              </a:rPr>
              <a:t>· 3 actors</a:t>
            </a:r>
            <a:endParaRPr lang="en-US" sz="7200" dirty="0"/>
          </a:p>
        </p:txBody>
      </p:sp>
      <p:sp>
        <p:nvSpPr>
          <p:cNvPr id="5" name="Text 3"/>
          <p:cNvSpPr/>
          <p:nvPr/>
        </p:nvSpPr>
        <p:spPr>
          <a:xfrm>
            <a:off x="9229803" y="2074794"/>
            <a:ext cx="5727159" cy="294861"/>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6B6A65"/>
                </a:solidFill>
                <a:latin typeface="Courier New" pitchFamily="34" charset="0"/>
                <a:ea typeface="Courier New" pitchFamily="34" charset="-122"/>
                <a:cs typeface="Courier New" pitchFamily="34" charset="-120"/>
              </a:rPr>
              <a:t>TỪ 12 USER STORY → ĐẶC TẢ ĐẦY ĐỦ</a:t>
            </a:r>
            <a:endParaRPr lang="en-US" sz="1800" dirty="0"/>
          </a:p>
        </p:txBody>
      </p:sp>
      <p:sp>
        <p:nvSpPr>
          <p:cNvPr id="6" name="Shape 4"/>
          <p:cNvSpPr/>
          <p:nvPr/>
        </p:nvSpPr>
        <p:spPr>
          <a:xfrm>
            <a:off x="1238250" y="3072848"/>
            <a:ext cx="5067274" cy="5674752"/>
          </a:xfrm>
          <a:prstGeom prst="roundRect">
            <a:avLst>
              <a:gd name="adj" fmla="val 3383"/>
            </a:avLst>
          </a:prstGeom>
          <a:solidFill>
            <a:srgbClr val="FBF8F0"/>
          </a:solidFill>
          <a:ln w="8283">
            <a:solidFill>
              <a:srgbClr val="13141A">
                <a:alpha val="12000"/>
              </a:srgbClr>
            </a:solidFill>
            <a:prstDash val="solid"/>
          </a:ln>
        </p:spPr>
        <p:txBody>
          <a:bodyPr/>
          <a:lstStyle/>
          <a:p>
            <a:endParaRPr lang="en-VN"/>
          </a:p>
        </p:txBody>
      </p:sp>
      <p:pic>
        <p:nvPicPr>
          <p:cNvPr id="7" name="Image 0" descr="preencoded.png"/>
          <p:cNvPicPr>
            <a:picLocks noChangeAspect="1"/>
          </p:cNvPicPr>
          <p:nvPr/>
        </p:nvPicPr>
        <p:blipFill>
          <a:blip r:embed="rId3"/>
          <a:stretch>
            <a:fillRect/>
          </a:stretch>
        </p:blipFill>
        <p:spPr>
          <a:xfrm>
            <a:off x="1751254" y="3705173"/>
            <a:ext cx="209524" cy="209524"/>
          </a:xfrm>
          <a:prstGeom prst="rect">
            <a:avLst/>
          </a:prstGeom>
        </p:spPr>
      </p:pic>
      <p:sp>
        <p:nvSpPr>
          <p:cNvPr id="8" name="Text 5"/>
          <p:cNvSpPr/>
          <p:nvPr/>
        </p:nvSpPr>
        <p:spPr>
          <a:xfrm>
            <a:off x="2217927" y="3660913"/>
            <a:ext cx="567203" cy="336274"/>
          </a:xfrm>
          <a:prstGeom prst="rect">
            <a:avLst/>
          </a:prstGeom>
          <a:noFill/>
          <a:ln/>
        </p:spPr>
        <p:txBody>
          <a:bodyPr wrap="square" lIns="25400" tIns="25400" rIns="25400" bIns="25400" rtlCol="0" anchor="t">
            <a:normAutofit/>
          </a:bodyPr>
          <a:lstStyle/>
          <a:p>
            <a:pPr marL="0" indent="0" algn="l">
              <a:buNone/>
            </a:pPr>
            <a:r>
              <a:rPr lang="en-US" sz="1800" kern="0" spc="-12" dirty="0">
                <a:solidFill>
                  <a:srgbClr val="13141A"/>
                </a:solidFill>
                <a:latin typeface="Arial" pitchFamily="34" charset="0"/>
                <a:ea typeface="Arial" pitchFamily="34" charset="-122"/>
                <a:cs typeface="Arial" pitchFamily="34" charset="-120"/>
              </a:rPr>
              <a:t>User</a:t>
            </a:r>
            <a:endParaRPr lang="en-US" sz="1800" dirty="0"/>
          </a:p>
        </p:txBody>
      </p:sp>
      <p:sp>
        <p:nvSpPr>
          <p:cNvPr id="9" name="Text 6"/>
          <p:cNvSpPr/>
          <p:nvPr/>
        </p:nvSpPr>
        <p:spPr>
          <a:xfrm>
            <a:off x="5559313" y="3462131"/>
            <a:ext cx="433129" cy="733839"/>
          </a:xfrm>
          <a:prstGeom prst="rect">
            <a:avLst/>
          </a:prstGeom>
          <a:noFill/>
          <a:ln/>
        </p:spPr>
        <p:txBody>
          <a:bodyPr wrap="square" lIns="25400" tIns="25400" rIns="25400" bIns="25400" rtlCol="0" anchor="t">
            <a:normAutofit/>
          </a:bodyPr>
          <a:lstStyle/>
          <a:p>
            <a:pPr marL="0" indent="0" algn="l">
              <a:buNone/>
            </a:pPr>
            <a:r>
              <a:rPr lang="en-US" sz="4200" i="1" kern="0" spc="-84" dirty="0">
                <a:solidFill>
                  <a:srgbClr val="294792"/>
                </a:solidFill>
                <a:latin typeface="Georgia" pitchFamily="34" charset="0"/>
                <a:ea typeface="Georgia" pitchFamily="34" charset="-122"/>
                <a:cs typeface="Georgia" pitchFamily="34" charset="-120"/>
              </a:rPr>
              <a:t>10</a:t>
            </a:r>
            <a:endParaRPr lang="en-US" sz="4200" dirty="0"/>
          </a:p>
        </p:txBody>
      </p:sp>
      <p:sp>
        <p:nvSpPr>
          <p:cNvPr id="10" name="Shape 7"/>
          <p:cNvSpPr/>
          <p:nvPr/>
        </p:nvSpPr>
        <p:spPr>
          <a:xfrm>
            <a:off x="1627533" y="4348370"/>
            <a:ext cx="4288709" cy="9525"/>
          </a:xfrm>
          <a:prstGeom prst="rect">
            <a:avLst/>
          </a:prstGeom>
          <a:solidFill>
            <a:srgbClr val="13141A">
              <a:alpha val="12000"/>
            </a:srgbClr>
          </a:solidFill>
          <a:ln/>
        </p:spPr>
        <p:txBody>
          <a:bodyPr/>
          <a:lstStyle/>
          <a:p>
            <a:endParaRPr lang="en-VN"/>
          </a:p>
        </p:txBody>
      </p:sp>
      <p:sp>
        <p:nvSpPr>
          <p:cNvPr id="11" name="Text 8"/>
          <p:cNvSpPr/>
          <p:nvPr/>
        </p:nvSpPr>
        <p:spPr>
          <a:xfrm>
            <a:off x="1467513" y="4548317"/>
            <a:ext cx="4524929" cy="3848100"/>
          </a:xfrm>
          <a:prstGeom prst="rect">
            <a:avLst/>
          </a:prstGeom>
          <a:noFill/>
          <a:ln/>
        </p:spPr>
        <p:txBody>
          <a:bodyPr wrap="square" lIns="25400" tIns="25400" rIns="25400" bIns="25400" rtlCol="0" anchor="t">
            <a:normAutofit/>
          </a:bodyPr>
          <a:lstStyle/>
          <a:p>
            <a:pPr marL="0" indent="0" algn="l">
              <a:lnSpc>
                <a:spcPct val="170000"/>
              </a:lnSpc>
              <a:buNone/>
            </a:pPr>
            <a:r>
              <a:rPr lang="en-US" sz="1800" kern="0" spc="-12" dirty="0">
                <a:solidFill>
                  <a:srgbClr val="2A2C36"/>
                </a:solidFill>
                <a:latin typeface="Arial" pitchFamily="34" charset="0"/>
                <a:ea typeface="Arial" pitchFamily="34" charset="-122"/>
                <a:cs typeface="Arial" pitchFamily="34" charset="-120"/>
              </a:rPr>
              <a:t>UC01 · Đăng ký tài khoản</a:t>
            </a:r>
            <a:endParaRPr lang="en-US" sz="1800" dirty="0"/>
          </a:p>
          <a:p>
            <a:pPr marL="0" indent="0" algn="l">
              <a:lnSpc>
                <a:spcPct val="170000"/>
              </a:lnSpc>
              <a:buNone/>
            </a:pPr>
            <a:r>
              <a:rPr lang="en-US" sz="1800" kern="0" spc="-12" dirty="0">
                <a:solidFill>
                  <a:srgbClr val="2A2C36"/>
                </a:solidFill>
                <a:latin typeface="Arial" pitchFamily="34" charset="0"/>
                <a:ea typeface="Arial" pitchFamily="34" charset="-122"/>
                <a:cs typeface="Arial" pitchFamily="34" charset="-120"/>
              </a:rPr>
              <a:t>UC02 · Đăng nhập (JWT)</a:t>
            </a:r>
            <a:endParaRPr lang="en-US" sz="1800" dirty="0"/>
          </a:p>
          <a:p>
            <a:pPr marL="0" indent="0" algn="l">
              <a:lnSpc>
                <a:spcPct val="170000"/>
              </a:lnSpc>
              <a:buNone/>
            </a:pPr>
            <a:r>
              <a:rPr lang="en-US" sz="1800" kern="0" spc="-12" dirty="0">
                <a:solidFill>
                  <a:srgbClr val="2A2C36"/>
                </a:solidFill>
                <a:latin typeface="Arial" pitchFamily="34" charset="0"/>
                <a:ea typeface="Arial" pitchFamily="34" charset="-122"/>
                <a:cs typeface="Arial" pitchFamily="34" charset="-120"/>
              </a:rPr>
              <a:t>UC03 · Quản lý Topic (CRUD)</a:t>
            </a:r>
            <a:endParaRPr lang="en-US" sz="1800" dirty="0"/>
          </a:p>
          <a:p>
            <a:pPr marL="0" indent="0" algn="l">
              <a:lnSpc>
                <a:spcPct val="170000"/>
              </a:lnSpc>
              <a:buNone/>
            </a:pPr>
            <a:r>
              <a:rPr lang="en-US" sz="1800" kern="0" spc="-12" dirty="0">
                <a:solidFill>
                  <a:srgbClr val="2A2C36"/>
                </a:solidFill>
                <a:latin typeface="Arial" pitchFamily="34" charset="0"/>
                <a:ea typeface="Arial" pitchFamily="34" charset="-122"/>
                <a:cs typeface="Arial" pitchFamily="34" charset="-120"/>
              </a:rPr>
              <a:t>UC04 · Xem danh sách Paper</a:t>
            </a:r>
            <a:endParaRPr lang="en-US" sz="1800" dirty="0"/>
          </a:p>
          <a:p>
            <a:pPr marL="0" indent="0" algn="l">
              <a:lnSpc>
                <a:spcPct val="170000"/>
              </a:lnSpc>
              <a:buNone/>
            </a:pPr>
            <a:r>
              <a:rPr lang="en-US" sz="1800" kern="0" spc="-12" dirty="0">
                <a:solidFill>
                  <a:srgbClr val="2A2C36"/>
                </a:solidFill>
                <a:latin typeface="Arial" pitchFamily="34" charset="0"/>
                <a:ea typeface="Arial" pitchFamily="34" charset="-122"/>
                <a:cs typeface="Arial" pitchFamily="34" charset="-120"/>
              </a:rPr>
              <a:t>UC05 · Tìm kiếm Paper</a:t>
            </a:r>
            <a:endParaRPr lang="en-US" sz="1800" dirty="0"/>
          </a:p>
          <a:p>
            <a:pPr marL="0" indent="0" algn="l">
              <a:lnSpc>
                <a:spcPct val="170000"/>
              </a:lnSpc>
              <a:buNone/>
            </a:pPr>
            <a:r>
              <a:rPr lang="en-US" sz="1800" kern="0" spc="-12" dirty="0">
                <a:solidFill>
                  <a:srgbClr val="2A2C36"/>
                </a:solidFill>
                <a:latin typeface="Arial" pitchFamily="34" charset="0"/>
                <a:ea typeface="Arial" pitchFamily="34" charset="-122"/>
                <a:cs typeface="Arial" pitchFamily="34" charset="-120"/>
              </a:rPr>
              <a:t>UC06 · Xem chi tiết + Recommend</a:t>
            </a:r>
            <a:endParaRPr lang="en-US" sz="1800" dirty="0"/>
          </a:p>
          <a:p>
            <a:pPr marL="0" indent="0" algn="l">
              <a:lnSpc>
                <a:spcPct val="170000"/>
              </a:lnSpc>
              <a:buNone/>
            </a:pPr>
            <a:r>
              <a:rPr lang="en-US" sz="1800" kern="0" spc="-12" dirty="0">
                <a:solidFill>
                  <a:srgbClr val="2A2C36"/>
                </a:solidFill>
                <a:latin typeface="Arial" pitchFamily="34" charset="0"/>
                <a:ea typeface="Arial" pitchFamily="34" charset="-122"/>
                <a:cs typeface="Arial" pitchFamily="34" charset="-120"/>
              </a:rPr>
              <a:t>UC07 · Lưu yêu thích</a:t>
            </a:r>
            <a:endParaRPr lang="en-US" sz="1800" dirty="0"/>
          </a:p>
          <a:p>
            <a:pPr marL="0" indent="0" algn="l">
              <a:lnSpc>
                <a:spcPct val="170000"/>
              </a:lnSpc>
              <a:buNone/>
            </a:pPr>
            <a:r>
              <a:rPr lang="en-US" sz="1800" kern="0" spc="-12" dirty="0">
                <a:solidFill>
                  <a:srgbClr val="2A2C36"/>
                </a:solidFill>
                <a:latin typeface="Arial" pitchFamily="34" charset="0"/>
                <a:ea typeface="Arial" pitchFamily="34" charset="-122"/>
                <a:cs typeface="Arial" pitchFamily="34" charset="-120"/>
              </a:rPr>
              <a:t>UC08 · Notification</a:t>
            </a:r>
            <a:endParaRPr lang="en-US" sz="1800" dirty="0"/>
          </a:p>
          <a:p>
            <a:pPr marL="0" indent="0" algn="l">
              <a:lnSpc>
                <a:spcPct val="170000"/>
              </a:lnSpc>
              <a:buNone/>
            </a:pPr>
            <a:r>
              <a:rPr lang="en-US" sz="1800" kern="0" spc="-12" dirty="0">
                <a:solidFill>
                  <a:srgbClr val="2A2C36"/>
                </a:solidFill>
                <a:latin typeface="Arial" pitchFamily="34" charset="0"/>
                <a:ea typeface="Arial" pitchFamily="34" charset="-122"/>
                <a:cs typeface="Arial" pitchFamily="34" charset="-120"/>
              </a:rPr>
              <a:t>UC09 · Xem danh sách Paper yêu thích</a:t>
            </a:r>
            <a:endParaRPr lang="en-US" sz="1800" dirty="0"/>
          </a:p>
          <a:p>
            <a:pPr marL="0" indent="0" algn="l">
              <a:lnSpc>
                <a:spcPct val="170000"/>
              </a:lnSpc>
              <a:buNone/>
            </a:pPr>
            <a:r>
              <a:rPr lang="en-US" sz="1800" kern="0" spc="-12" dirty="0">
                <a:solidFill>
                  <a:srgbClr val="2A2C36"/>
                </a:solidFill>
                <a:latin typeface="Arial" pitchFamily="34" charset="0"/>
                <a:ea typeface="Arial" pitchFamily="34" charset="-122"/>
                <a:cs typeface="Arial" pitchFamily="34" charset="-120"/>
              </a:rPr>
              <a:t>UC15 · Thống kê xu hướng</a:t>
            </a:r>
            <a:endParaRPr lang="en-US" sz="1800" dirty="0"/>
          </a:p>
        </p:txBody>
      </p:sp>
      <p:sp>
        <p:nvSpPr>
          <p:cNvPr id="12" name="Shape 9"/>
          <p:cNvSpPr/>
          <p:nvPr/>
        </p:nvSpPr>
        <p:spPr>
          <a:xfrm>
            <a:off x="6610298" y="3072848"/>
            <a:ext cx="5067274" cy="5674752"/>
          </a:xfrm>
          <a:prstGeom prst="roundRect">
            <a:avLst>
              <a:gd name="adj" fmla="val 3383"/>
            </a:avLst>
          </a:prstGeom>
          <a:solidFill>
            <a:srgbClr val="13141A"/>
          </a:solidFill>
          <a:ln w="8283">
            <a:solidFill>
              <a:srgbClr val="FFFFFF">
                <a:alpha val="8000"/>
              </a:srgbClr>
            </a:solidFill>
            <a:prstDash val="solid"/>
          </a:ln>
        </p:spPr>
        <p:txBody>
          <a:bodyPr/>
          <a:lstStyle/>
          <a:p>
            <a:endParaRPr lang="en-VN"/>
          </a:p>
        </p:txBody>
      </p:sp>
      <p:sp>
        <p:nvSpPr>
          <p:cNvPr id="13" name="Shape 10"/>
          <p:cNvSpPr/>
          <p:nvPr/>
        </p:nvSpPr>
        <p:spPr>
          <a:xfrm>
            <a:off x="6999581" y="3581452"/>
            <a:ext cx="457096" cy="457096"/>
          </a:xfrm>
          <a:prstGeom prst="ellipse">
            <a:avLst/>
          </a:prstGeom>
          <a:solidFill>
            <a:srgbClr val="FFFFFF">
              <a:alpha val="8000"/>
            </a:srgbClr>
          </a:solidFill>
          <a:ln/>
        </p:spPr>
        <p:txBody>
          <a:bodyPr/>
          <a:lstStyle/>
          <a:p>
            <a:endParaRPr lang="en-VN"/>
          </a:p>
        </p:txBody>
      </p:sp>
      <p:pic>
        <p:nvPicPr>
          <p:cNvPr id="14" name="Image 1" descr="preencoded.png"/>
          <p:cNvPicPr>
            <a:picLocks noChangeAspect="1"/>
          </p:cNvPicPr>
          <p:nvPr/>
        </p:nvPicPr>
        <p:blipFill>
          <a:blip r:embed="rId4"/>
          <a:stretch>
            <a:fillRect/>
          </a:stretch>
        </p:blipFill>
        <p:spPr>
          <a:xfrm>
            <a:off x="7123302" y="3705173"/>
            <a:ext cx="209524" cy="209524"/>
          </a:xfrm>
          <a:prstGeom prst="rect">
            <a:avLst/>
          </a:prstGeom>
        </p:spPr>
      </p:pic>
      <p:sp>
        <p:nvSpPr>
          <p:cNvPr id="15" name="Text 11"/>
          <p:cNvSpPr/>
          <p:nvPr/>
        </p:nvSpPr>
        <p:spPr>
          <a:xfrm>
            <a:off x="7589976" y="3660913"/>
            <a:ext cx="1153586" cy="336274"/>
          </a:xfrm>
          <a:prstGeom prst="rect">
            <a:avLst/>
          </a:prstGeom>
          <a:noFill/>
          <a:ln/>
        </p:spPr>
        <p:txBody>
          <a:bodyPr wrap="square" lIns="25400" tIns="25400" rIns="25400" bIns="25400" rtlCol="0" anchor="t">
            <a:normAutofit/>
          </a:bodyPr>
          <a:lstStyle/>
          <a:p>
            <a:pPr marL="0" indent="0" algn="l">
              <a:buNone/>
            </a:pPr>
            <a:r>
              <a:rPr lang="en-US" sz="1800" kern="0" spc="-12" dirty="0">
                <a:solidFill>
                  <a:srgbClr val="F4F0E6"/>
                </a:solidFill>
                <a:latin typeface="Arial" pitchFamily="34" charset="0"/>
                <a:ea typeface="Arial" pitchFamily="34" charset="-122"/>
                <a:cs typeface="Arial" pitchFamily="34" charset="-120"/>
              </a:rPr>
              <a:t>Scheduler</a:t>
            </a:r>
            <a:endParaRPr lang="en-US" sz="1800" dirty="0"/>
          </a:p>
        </p:txBody>
      </p:sp>
      <p:sp>
        <p:nvSpPr>
          <p:cNvPr id="16" name="Text 12"/>
          <p:cNvSpPr/>
          <p:nvPr/>
        </p:nvSpPr>
        <p:spPr>
          <a:xfrm>
            <a:off x="10844394" y="3462131"/>
            <a:ext cx="520096" cy="733839"/>
          </a:xfrm>
          <a:prstGeom prst="rect">
            <a:avLst/>
          </a:prstGeom>
          <a:noFill/>
          <a:ln/>
        </p:spPr>
        <p:txBody>
          <a:bodyPr wrap="square" lIns="25400" tIns="25400" rIns="25400" bIns="25400" rtlCol="0" anchor="t">
            <a:normAutofit/>
          </a:bodyPr>
          <a:lstStyle/>
          <a:p>
            <a:pPr marL="0" indent="0" algn="l">
              <a:buNone/>
            </a:pPr>
            <a:r>
              <a:rPr lang="en-US" sz="4200" i="1" kern="0" spc="-84" dirty="0">
                <a:solidFill>
                  <a:srgbClr val="294792"/>
                </a:solidFill>
                <a:latin typeface="Georgia" pitchFamily="34" charset="0"/>
                <a:ea typeface="Georgia" pitchFamily="34" charset="-122"/>
                <a:cs typeface="Georgia" pitchFamily="34" charset="-120"/>
              </a:rPr>
              <a:t>06</a:t>
            </a:r>
            <a:endParaRPr lang="en-US" sz="4200" dirty="0"/>
          </a:p>
        </p:txBody>
      </p:sp>
      <p:sp>
        <p:nvSpPr>
          <p:cNvPr id="17" name="Shape 13"/>
          <p:cNvSpPr/>
          <p:nvPr/>
        </p:nvSpPr>
        <p:spPr>
          <a:xfrm>
            <a:off x="6999581" y="4348370"/>
            <a:ext cx="4288709" cy="9525"/>
          </a:xfrm>
          <a:prstGeom prst="rect">
            <a:avLst/>
          </a:prstGeom>
          <a:solidFill>
            <a:srgbClr val="FFFFFF">
              <a:alpha val="15000"/>
            </a:srgbClr>
          </a:solidFill>
          <a:ln/>
        </p:spPr>
        <p:txBody>
          <a:bodyPr/>
          <a:lstStyle/>
          <a:p>
            <a:endParaRPr lang="en-VN"/>
          </a:p>
        </p:txBody>
      </p:sp>
      <p:sp>
        <p:nvSpPr>
          <p:cNvPr id="18" name="Text 14"/>
          <p:cNvSpPr/>
          <p:nvPr/>
        </p:nvSpPr>
        <p:spPr>
          <a:xfrm>
            <a:off x="6839561" y="4548317"/>
            <a:ext cx="4524929" cy="2324100"/>
          </a:xfrm>
          <a:prstGeom prst="rect">
            <a:avLst/>
          </a:prstGeom>
          <a:noFill/>
          <a:ln/>
        </p:spPr>
        <p:txBody>
          <a:bodyPr wrap="square" lIns="25400" tIns="25400" rIns="25400" bIns="25400" rtlCol="0" anchor="t">
            <a:normAutofit/>
          </a:bodyPr>
          <a:lstStyle/>
          <a:p>
            <a:pPr marL="0" indent="0" algn="l">
              <a:lnSpc>
                <a:spcPct val="170000"/>
              </a:lnSpc>
              <a:buNone/>
            </a:pPr>
            <a:r>
              <a:rPr lang="en-US" sz="1800" kern="0" spc="-12" dirty="0">
                <a:solidFill>
                  <a:srgbClr val="F4F0E6">
                    <a:alpha val="85000"/>
                  </a:srgbClr>
                </a:solidFill>
                <a:latin typeface="Arial" pitchFamily="34" charset="0"/>
                <a:ea typeface="Arial" pitchFamily="34" charset="-122"/>
                <a:cs typeface="Arial" pitchFamily="34" charset="-120"/>
              </a:rPr>
              <a:t>UC10 · Fetch paper từ arXiv</a:t>
            </a:r>
            <a:endParaRPr lang="en-US" sz="1800" dirty="0"/>
          </a:p>
          <a:p>
            <a:pPr marL="0" indent="0" algn="l">
              <a:lnSpc>
                <a:spcPct val="170000"/>
              </a:lnSpc>
              <a:buNone/>
            </a:pPr>
            <a:r>
              <a:rPr lang="en-US" sz="1800" kern="0" spc="-12" dirty="0">
                <a:solidFill>
                  <a:srgbClr val="F4F0E6">
                    <a:alpha val="85000"/>
                  </a:srgbClr>
                </a:solidFill>
                <a:latin typeface="Arial" pitchFamily="34" charset="0"/>
                <a:ea typeface="Arial" pitchFamily="34" charset="-122"/>
                <a:cs typeface="Arial" pitchFamily="34" charset="-120"/>
              </a:rPr>
              <a:t>UC11 · AI Processing Pipeline</a:t>
            </a:r>
            <a:endParaRPr lang="en-US" sz="1800" dirty="0"/>
          </a:p>
          <a:p>
            <a:pPr marL="0" indent="0" algn="l">
              <a:lnSpc>
                <a:spcPct val="170000"/>
              </a:lnSpc>
              <a:buNone/>
            </a:pPr>
            <a:r>
              <a:rPr lang="en-US" sz="1800" kern="0" spc="-12" dirty="0">
                <a:solidFill>
                  <a:srgbClr val="F4F0E6">
                    <a:alpha val="85000"/>
                  </a:srgbClr>
                </a:solidFill>
                <a:latin typeface="Arial" pitchFamily="34" charset="0"/>
                <a:ea typeface="Arial" pitchFamily="34" charset="-122"/>
                <a:cs typeface="Arial" pitchFamily="34" charset="-120"/>
              </a:rPr>
              <a:t>UC12 · Topic Matching</a:t>
            </a:r>
            <a:endParaRPr lang="en-US" sz="1800" dirty="0"/>
          </a:p>
          <a:p>
            <a:pPr marL="0" indent="0" algn="l">
              <a:lnSpc>
                <a:spcPct val="170000"/>
              </a:lnSpc>
              <a:buNone/>
            </a:pPr>
            <a:r>
              <a:rPr lang="en-US" sz="1800" kern="0" spc="-12" dirty="0">
                <a:solidFill>
                  <a:srgbClr val="F4F0E6">
                    <a:alpha val="85000"/>
                  </a:srgbClr>
                </a:solidFill>
                <a:latin typeface="Arial" pitchFamily="34" charset="0"/>
                <a:ea typeface="Arial" pitchFamily="34" charset="-122"/>
                <a:cs typeface="Arial" pitchFamily="34" charset="-120"/>
              </a:rPr>
              <a:t>UC13 · Tạo Notification</a:t>
            </a:r>
            <a:endParaRPr lang="en-US" sz="1800" dirty="0"/>
          </a:p>
          <a:p>
            <a:pPr marL="0" indent="0" algn="l">
              <a:lnSpc>
                <a:spcPct val="170000"/>
              </a:lnSpc>
              <a:buNone/>
            </a:pPr>
            <a:r>
              <a:rPr lang="en-US" sz="1800" kern="0" spc="-12" dirty="0">
                <a:solidFill>
                  <a:srgbClr val="F4F0E6">
                    <a:alpha val="85000"/>
                  </a:srgbClr>
                </a:solidFill>
                <a:latin typeface="Arial" pitchFamily="34" charset="0"/>
                <a:ea typeface="Arial" pitchFamily="34" charset="-122"/>
                <a:cs typeface="Arial" pitchFamily="34" charset="-120"/>
              </a:rPr>
              <a:t>UC14 · Recommendation Cache</a:t>
            </a:r>
            <a:endParaRPr lang="en-US" sz="1800" dirty="0"/>
          </a:p>
          <a:p>
            <a:pPr marL="0" indent="0" algn="l">
              <a:lnSpc>
                <a:spcPct val="170000"/>
              </a:lnSpc>
              <a:buNone/>
            </a:pPr>
            <a:r>
              <a:rPr lang="en-US" sz="1800" kern="0" spc="-12" dirty="0">
                <a:solidFill>
                  <a:srgbClr val="F4F0E6">
                    <a:alpha val="85000"/>
                  </a:srgbClr>
                </a:solidFill>
                <a:latin typeface="Arial" pitchFamily="34" charset="0"/>
                <a:ea typeface="Arial" pitchFamily="34" charset="-122"/>
                <a:cs typeface="Arial" pitchFamily="34" charset="-120"/>
              </a:rPr>
              <a:t>UC16 · Retry FAILED papers</a:t>
            </a:r>
            <a:endParaRPr lang="en-US" sz="1800" dirty="0"/>
          </a:p>
        </p:txBody>
      </p:sp>
      <p:sp>
        <p:nvSpPr>
          <p:cNvPr id="19" name="Text 15"/>
          <p:cNvSpPr/>
          <p:nvPr/>
        </p:nvSpPr>
        <p:spPr>
          <a:xfrm>
            <a:off x="6999581" y="7062865"/>
            <a:ext cx="4417370" cy="551622"/>
          </a:xfrm>
          <a:prstGeom prst="rect">
            <a:avLst/>
          </a:prstGeom>
          <a:noFill/>
          <a:ln/>
        </p:spPr>
        <p:txBody>
          <a:bodyPr wrap="square" lIns="25400" tIns="25400" rIns="25400" bIns="25400" rtlCol="0" anchor="t">
            <a:normAutofit/>
          </a:bodyPr>
          <a:lstStyle/>
          <a:p>
            <a:pPr marL="0" indent="0" algn="l">
              <a:buNone/>
            </a:pPr>
            <a:r>
              <a:rPr lang="en-US" sz="1800" kern="0" spc="-12" dirty="0">
                <a:solidFill>
                  <a:srgbClr val="F4F0E6">
                    <a:alpha val="50000"/>
                  </a:srgbClr>
                </a:solidFill>
                <a:latin typeface="Courier New" pitchFamily="34" charset="0"/>
                <a:ea typeface="Courier New" pitchFamily="34" charset="-122"/>
                <a:cs typeface="Courier New" pitchFamily="34" charset="-120"/>
              </a:rPr>
              <a:t>cron · 06:00 daily · retry · 30 min</a:t>
            </a:r>
            <a:endParaRPr lang="en-US" sz="1800" dirty="0"/>
          </a:p>
        </p:txBody>
      </p:sp>
      <p:sp>
        <p:nvSpPr>
          <p:cNvPr id="20" name="Shape 16"/>
          <p:cNvSpPr/>
          <p:nvPr/>
        </p:nvSpPr>
        <p:spPr>
          <a:xfrm>
            <a:off x="11982347" y="3072848"/>
            <a:ext cx="5067403" cy="5674752"/>
          </a:xfrm>
          <a:prstGeom prst="roundRect">
            <a:avLst>
              <a:gd name="adj" fmla="val 3383"/>
            </a:avLst>
          </a:prstGeom>
          <a:solidFill>
            <a:srgbClr val="FBF8F0"/>
          </a:solidFill>
          <a:ln w="8283">
            <a:solidFill>
              <a:srgbClr val="13141A">
                <a:alpha val="12000"/>
              </a:srgbClr>
            </a:solidFill>
            <a:prstDash val="solid"/>
          </a:ln>
        </p:spPr>
        <p:txBody>
          <a:bodyPr/>
          <a:lstStyle/>
          <a:p>
            <a:endParaRPr lang="en-VN"/>
          </a:p>
        </p:txBody>
      </p:sp>
      <p:pic>
        <p:nvPicPr>
          <p:cNvPr id="21" name="Image 2" descr="preencoded.png"/>
          <p:cNvPicPr>
            <a:picLocks noChangeAspect="1"/>
          </p:cNvPicPr>
          <p:nvPr/>
        </p:nvPicPr>
        <p:blipFill>
          <a:blip r:embed="rId5"/>
          <a:stretch>
            <a:fillRect/>
          </a:stretch>
        </p:blipFill>
        <p:spPr>
          <a:xfrm>
            <a:off x="12495351" y="3705173"/>
            <a:ext cx="209524" cy="209524"/>
          </a:xfrm>
          <a:prstGeom prst="rect">
            <a:avLst/>
          </a:prstGeom>
        </p:spPr>
      </p:pic>
      <p:sp>
        <p:nvSpPr>
          <p:cNvPr id="22" name="Text 17"/>
          <p:cNvSpPr/>
          <p:nvPr/>
        </p:nvSpPr>
        <p:spPr>
          <a:xfrm>
            <a:off x="12962024" y="3660913"/>
            <a:ext cx="757703" cy="336274"/>
          </a:xfrm>
          <a:prstGeom prst="rect">
            <a:avLst/>
          </a:prstGeom>
          <a:noFill/>
          <a:ln/>
        </p:spPr>
        <p:txBody>
          <a:bodyPr wrap="square" lIns="25400" tIns="25400" rIns="25400" bIns="25400" rtlCol="0" anchor="t">
            <a:normAutofit/>
          </a:bodyPr>
          <a:lstStyle/>
          <a:p>
            <a:pPr marL="0" indent="0" algn="l">
              <a:buNone/>
            </a:pPr>
            <a:r>
              <a:rPr lang="en-US" sz="1800" kern="0" spc="-12" dirty="0">
                <a:solidFill>
                  <a:srgbClr val="13141A"/>
                </a:solidFill>
                <a:latin typeface="Arial" pitchFamily="34" charset="0"/>
                <a:ea typeface="Arial" pitchFamily="34" charset="-122"/>
                <a:cs typeface="Arial" pitchFamily="34" charset="-120"/>
              </a:rPr>
              <a:t>Admin</a:t>
            </a:r>
            <a:endParaRPr lang="en-US" sz="1800" dirty="0"/>
          </a:p>
        </p:txBody>
      </p:sp>
      <p:sp>
        <p:nvSpPr>
          <p:cNvPr id="23" name="Text 18"/>
          <p:cNvSpPr/>
          <p:nvPr/>
        </p:nvSpPr>
        <p:spPr>
          <a:xfrm>
            <a:off x="16303540" y="3462131"/>
            <a:ext cx="433129" cy="733839"/>
          </a:xfrm>
          <a:prstGeom prst="rect">
            <a:avLst/>
          </a:prstGeom>
          <a:noFill/>
          <a:ln/>
        </p:spPr>
        <p:txBody>
          <a:bodyPr wrap="square" lIns="25400" tIns="25400" rIns="25400" bIns="25400" rtlCol="0" anchor="t">
            <a:normAutofit/>
          </a:bodyPr>
          <a:lstStyle/>
          <a:p>
            <a:pPr marL="0" indent="0" algn="l">
              <a:buNone/>
            </a:pPr>
            <a:r>
              <a:rPr lang="en-US" sz="4200" i="1" kern="0" spc="-84" dirty="0">
                <a:solidFill>
                  <a:srgbClr val="294792"/>
                </a:solidFill>
                <a:latin typeface="Georgia" pitchFamily="34" charset="0"/>
                <a:ea typeface="Georgia" pitchFamily="34" charset="-122"/>
                <a:cs typeface="Georgia" pitchFamily="34" charset="-120"/>
              </a:rPr>
              <a:t>01</a:t>
            </a:r>
            <a:endParaRPr lang="en-US" sz="4200" dirty="0"/>
          </a:p>
        </p:txBody>
      </p:sp>
      <p:sp>
        <p:nvSpPr>
          <p:cNvPr id="24" name="Shape 19"/>
          <p:cNvSpPr/>
          <p:nvPr/>
        </p:nvSpPr>
        <p:spPr>
          <a:xfrm>
            <a:off x="12371630" y="4348370"/>
            <a:ext cx="4288839" cy="9525"/>
          </a:xfrm>
          <a:prstGeom prst="rect">
            <a:avLst/>
          </a:prstGeom>
          <a:solidFill>
            <a:srgbClr val="13141A">
              <a:alpha val="12000"/>
            </a:srgbClr>
          </a:solidFill>
          <a:ln/>
        </p:spPr>
        <p:txBody>
          <a:bodyPr/>
          <a:lstStyle/>
          <a:p>
            <a:endParaRPr lang="en-VN"/>
          </a:p>
        </p:txBody>
      </p:sp>
      <p:sp>
        <p:nvSpPr>
          <p:cNvPr id="25" name="Text 20"/>
          <p:cNvSpPr/>
          <p:nvPr/>
        </p:nvSpPr>
        <p:spPr>
          <a:xfrm>
            <a:off x="12211610" y="4548317"/>
            <a:ext cx="4525059" cy="419100"/>
          </a:xfrm>
          <a:prstGeom prst="rect">
            <a:avLst/>
          </a:prstGeom>
          <a:noFill/>
          <a:ln/>
        </p:spPr>
        <p:txBody>
          <a:bodyPr wrap="square" lIns="25400" tIns="25400" rIns="25400" bIns="25400" rtlCol="0" anchor="t">
            <a:normAutofit/>
          </a:bodyPr>
          <a:lstStyle/>
          <a:p>
            <a:pPr marL="0" indent="0" algn="l">
              <a:lnSpc>
                <a:spcPct val="170000"/>
              </a:lnSpc>
              <a:buNone/>
            </a:pPr>
            <a:r>
              <a:rPr lang="en-US" sz="1800" kern="0" spc="-12" dirty="0">
                <a:solidFill>
                  <a:srgbClr val="2A2C36"/>
                </a:solidFill>
                <a:latin typeface="Arial" pitchFamily="34" charset="0"/>
                <a:ea typeface="Arial" pitchFamily="34" charset="-122"/>
                <a:cs typeface="Arial" pitchFamily="34" charset="-120"/>
              </a:rPr>
              <a:t>UC17 · Quản lý Paper lỗi (xem + reset)</a:t>
            </a:r>
            <a:endParaRPr lang="en-US" sz="1800" dirty="0"/>
          </a:p>
        </p:txBody>
      </p:sp>
      <p:sp>
        <p:nvSpPr>
          <p:cNvPr id="26" name="Text 21"/>
          <p:cNvSpPr/>
          <p:nvPr/>
        </p:nvSpPr>
        <p:spPr>
          <a:xfrm>
            <a:off x="12371630" y="5310317"/>
            <a:ext cx="4417504" cy="294861"/>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6B6A65"/>
                </a:solidFill>
                <a:latin typeface="Courier New" pitchFamily="34" charset="0"/>
                <a:ea typeface="Courier New" pitchFamily="34" charset="-122"/>
                <a:cs typeface="Courier New" pitchFamily="34" charset="-120"/>
              </a:rPr>
              <a:t>GIỚI HẠN HỆ THỐNG</a:t>
            </a:r>
            <a:endParaRPr lang="en-US" sz="1800" dirty="0"/>
          </a:p>
        </p:txBody>
      </p:sp>
      <p:sp>
        <p:nvSpPr>
          <p:cNvPr id="27" name="Text 22"/>
          <p:cNvSpPr/>
          <p:nvPr/>
        </p:nvSpPr>
        <p:spPr>
          <a:xfrm>
            <a:off x="12371630" y="5643175"/>
            <a:ext cx="4417504" cy="1131404"/>
          </a:xfrm>
          <a:prstGeom prst="rect">
            <a:avLst/>
          </a:prstGeom>
          <a:noFill/>
          <a:ln/>
        </p:spPr>
        <p:txBody>
          <a:bodyPr wrap="square" lIns="25400" tIns="25400" rIns="25400" bIns="25400" rtlCol="0" anchor="t">
            <a:normAutofit/>
          </a:bodyPr>
          <a:lstStyle/>
          <a:p>
            <a:pPr marL="0" indent="0" algn="l">
              <a:lnSpc>
                <a:spcPct val="160000"/>
              </a:lnSpc>
              <a:buNone/>
            </a:pPr>
            <a:r>
              <a:rPr lang="en-US" sz="1800" kern="0" spc="-12" dirty="0">
                <a:solidFill>
                  <a:srgbClr val="6B6A65"/>
                </a:solidFill>
                <a:latin typeface="Arial" pitchFamily="34" charset="0"/>
                <a:ea typeface="Arial" pitchFamily="34" charset="-122"/>
                <a:cs typeface="Arial" pitchFamily="34" charset="-120"/>
              </a:rPr>
              <a:t>10 topic / user 5 keyword / topic 10 paper / keyword / lần fetch</a:t>
            </a:r>
            <a:endParaRPr lang="en-US" sz="1800" dirty="0"/>
          </a:p>
        </p:txBody>
      </p:sp>
      <p:sp>
        <p:nvSpPr>
          <p:cNvPr id="28" name="Text 23"/>
          <p:cNvSpPr/>
          <p:nvPr/>
        </p:nvSpPr>
        <p:spPr>
          <a:xfrm>
            <a:off x="1238250" y="9458740"/>
            <a:ext cx="3918702"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6B6A65"/>
                </a:solidFill>
                <a:latin typeface="Courier New" pitchFamily="34" charset="0"/>
                <a:ea typeface="Courier New" pitchFamily="34" charset="-122"/>
                <a:cs typeface="Courier New" pitchFamily="34" charset="-120"/>
              </a:rPr>
              <a:t>04 — REQUIREMENTS ANALYSIS</a:t>
            </a:r>
            <a:endParaRPr lang="en-US" sz="1800" dirty="0"/>
          </a:p>
        </p:txBody>
      </p:sp>
      <p:sp>
        <p:nvSpPr>
          <p:cNvPr id="29" name="Text 24"/>
          <p:cNvSpPr/>
          <p:nvPr/>
        </p:nvSpPr>
        <p:spPr>
          <a:xfrm>
            <a:off x="16025425" y="9458740"/>
            <a:ext cx="1100526"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6B6A65"/>
                </a:solidFill>
                <a:latin typeface="Courier New" pitchFamily="34" charset="0"/>
                <a:ea typeface="Courier New" pitchFamily="34" charset="-122"/>
                <a:cs typeface="Courier New" pitchFamily="34" charset="-120"/>
              </a:rPr>
              <a:t>04 / 15</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3141A"/>
        </a:solidFill>
        <a:effectLst/>
      </p:bgPr>
    </p:bg>
    <p:spTree>
      <p:nvGrpSpPr>
        <p:cNvPr id="1" name=""/>
        <p:cNvGrpSpPr/>
        <p:nvPr/>
      </p:nvGrpSpPr>
      <p:grpSpPr>
        <a:xfrm>
          <a:off x="0" y="0"/>
          <a:ext cx="0" cy="0"/>
          <a:chOff x="0" y="0"/>
          <a:chExt cx="0" cy="0"/>
        </a:xfrm>
      </p:grpSpPr>
      <p:sp>
        <p:nvSpPr>
          <p:cNvPr id="2" name="Text 0"/>
          <p:cNvSpPr/>
          <p:nvPr/>
        </p:nvSpPr>
        <p:spPr>
          <a:xfrm>
            <a:off x="1238250" y="1047750"/>
            <a:ext cx="2607831"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F4F0E6">
                    <a:alpha val="55000"/>
                  </a:srgbClr>
                </a:solidFill>
                <a:latin typeface="Courier New" pitchFamily="34" charset="0"/>
                <a:ea typeface="Courier New" pitchFamily="34" charset="-122"/>
                <a:cs typeface="Courier New" pitchFamily="34" charset="-120"/>
              </a:rPr>
              <a:t>TECHNOLOGY STACK</a:t>
            </a:r>
            <a:endParaRPr lang="en-US" sz="1800" dirty="0"/>
          </a:p>
        </p:txBody>
      </p:sp>
      <p:sp>
        <p:nvSpPr>
          <p:cNvPr id="3" name="Text 1"/>
          <p:cNvSpPr/>
          <p:nvPr/>
        </p:nvSpPr>
        <p:spPr>
          <a:xfrm>
            <a:off x="16757012" y="1047750"/>
            <a:ext cx="368938"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F4F0E6">
                    <a:alpha val="55000"/>
                  </a:srgbClr>
                </a:solidFill>
                <a:latin typeface="Courier New" pitchFamily="34" charset="0"/>
                <a:ea typeface="Courier New" pitchFamily="34" charset="-122"/>
                <a:cs typeface="Courier New" pitchFamily="34" charset="-120"/>
              </a:rPr>
              <a:t>05</a:t>
            </a:r>
            <a:endParaRPr lang="en-US" sz="1800" dirty="0"/>
          </a:p>
        </p:txBody>
      </p:sp>
      <p:sp>
        <p:nvSpPr>
          <p:cNvPr id="4" name="Text 2"/>
          <p:cNvSpPr/>
          <p:nvPr/>
        </p:nvSpPr>
        <p:spPr>
          <a:xfrm>
            <a:off x="1238250" y="2679424"/>
            <a:ext cx="5810870" cy="551622"/>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F4F0E6">
                    <a:alpha val="55000"/>
                  </a:srgbClr>
                </a:solidFill>
                <a:latin typeface="Courier New" pitchFamily="34" charset="0"/>
                <a:ea typeface="Courier New" pitchFamily="34" charset="-122"/>
                <a:cs typeface="Courier New" pitchFamily="34" charset="-120"/>
              </a:rPr>
              <a:t>MODERN, FREE-TIER, PRODUCTION-READY</a:t>
            </a:r>
            <a:endParaRPr lang="en-US" sz="1800" dirty="0"/>
          </a:p>
        </p:txBody>
      </p:sp>
      <p:sp>
        <p:nvSpPr>
          <p:cNvPr id="5" name="Text 3"/>
          <p:cNvSpPr/>
          <p:nvPr/>
        </p:nvSpPr>
        <p:spPr>
          <a:xfrm>
            <a:off x="1238250" y="3421494"/>
            <a:ext cx="5810870" cy="3632752"/>
          </a:xfrm>
          <a:prstGeom prst="rect">
            <a:avLst/>
          </a:prstGeom>
          <a:noFill/>
          <a:ln/>
        </p:spPr>
        <p:txBody>
          <a:bodyPr wrap="square" lIns="25400" tIns="25400" rIns="25400" bIns="25400" rtlCol="0" anchor="t">
            <a:normAutofit/>
          </a:bodyPr>
          <a:lstStyle/>
          <a:p>
            <a:pPr marL="0" indent="0" algn="l">
              <a:lnSpc>
                <a:spcPct val="98000"/>
              </a:lnSpc>
              <a:buNone/>
            </a:pPr>
            <a:r>
              <a:rPr lang="en-US" sz="7200" kern="0" spc="-252" dirty="0">
                <a:solidFill>
                  <a:srgbClr val="F4F0E6"/>
                </a:solidFill>
                <a:latin typeface="Arial" pitchFamily="34" charset="0"/>
                <a:ea typeface="Arial" pitchFamily="34" charset="-122"/>
                <a:cs typeface="Arial" pitchFamily="34" charset="-120"/>
              </a:rPr>
              <a:t>Một stack </a:t>
            </a:r>
            <a:r>
              <a:rPr lang="en-US" sz="7200" i="1" kern="0" spc="-252" dirty="0">
                <a:solidFill>
                  <a:srgbClr val="F4F0E6"/>
                </a:solidFill>
                <a:latin typeface="Georgia" pitchFamily="34" charset="0"/>
                <a:ea typeface="Georgia" pitchFamily="34" charset="-122"/>
                <a:cs typeface="Georgia" pitchFamily="34" charset="-120"/>
              </a:rPr>
              <a:t>tối thiểu — </a:t>
            </a:r>
            <a:r>
              <a:rPr lang="en-US" sz="7200" kern="0" spc="-252" dirty="0">
                <a:solidFill>
                  <a:srgbClr val="F4F0E6"/>
                </a:solidFill>
                <a:latin typeface="Arial" pitchFamily="34" charset="0"/>
                <a:ea typeface="Arial" pitchFamily="34" charset="-122"/>
                <a:cs typeface="Arial" pitchFamily="34" charset="-120"/>
              </a:rPr>
              <a:t>tối đa kết quả.</a:t>
            </a:r>
            <a:endParaRPr lang="en-US" sz="7200" dirty="0"/>
          </a:p>
        </p:txBody>
      </p:sp>
      <p:sp>
        <p:nvSpPr>
          <p:cNvPr id="6" name="Text 4"/>
          <p:cNvSpPr/>
          <p:nvPr/>
        </p:nvSpPr>
        <p:spPr>
          <a:xfrm>
            <a:off x="1238250" y="7320921"/>
            <a:ext cx="5810870" cy="352839"/>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12" dirty="0">
                <a:solidFill>
                  <a:srgbClr val="F4F0E6">
                    <a:alpha val="70000"/>
                  </a:srgbClr>
                </a:solidFill>
                <a:latin typeface="Arial" pitchFamily="34" charset="0"/>
                <a:ea typeface="Arial" pitchFamily="34" charset="-122"/>
                <a:cs typeface="Arial" pitchFamily="34" charset="-120"/>
              </a:rPr>
              <a:t>Toàn bộ chạy free-tier. Tổng chi phí giai đoạn đồ án: </a:t>
            </a:r>
            <a:r>
              <a:rPr lang="en-US" sz="1800" i="1" kern="0" spc="-12" dirty="0">
                <a:solidFill>
                  <a:srgbClr val="F4F0E6"/>
                </a:solidFill>
                <a:latin typeface="Georgia" pitchFamily="34" charset="0"/>
                <a:ea typeface="Georgia" pitchFamily="34" charset="-122"/>
                <a:cs typeface="Georgia" pitchFamily="34" charset="-120"/>
              </a:rPr>
              <a:t>0 ₫</a:t>
            </a:r>
            <a:r>
              <a:rPr lang="en-US" sz="1800" kern="0" spc="-12" dirty="0">
                <a:solidFill>
                  <a:srgbClr val="F4F0E6">
                    <a:alpha val="70000"/>
                  </a:srgbClr>
                </a:solidFill>
                <a:latin typeface="Arial" pitchFamily="34" charset="0"/>
                <a:ea typeface="Arial" pitchFamily="34" charset="-122"/>
                <a:cs typeface="Arial" pitchFamily="34" charset="-120"/>
              </a:rPr>
              <a:t>.</a:t>
            </a:r>
            <a:endParaRPr lang="en-US" sz="1800" dirty="0"/>
          </a:p>
        </p:txBody>
      </p:sp>
      <p:sp>
        <p:nvSpPr>
          <p:cNvPr id="7" name="Shape 5"/>
          <p:cNvSpPr/>
          <p:nvPr/>
        </p:nvSpPr>
        <p:spPr>
          <a:xfrm>
            <a:off x="8022871" y="2218057"/>
            <a:ext cx="4380077" cy="2920526"/>
          </a:xfrm>
          <a:prstGeom prst="roundRect">
            <a:avLst>
              <a:gd name="adj" fmla="val 5871"/>
            </a:avLst>
          </a:prstGeom>
          <a:solidFill>
            <a:srgbClr val="FFFFFF">
              <a:alpha val="4000"/>
            </a:srgbClr>
          </a:solidFill>
          <a:ln w="8283">
            <a:solidFill>
              <a:srgbClr val="F4F0E6">
                <a:alpha val="10000"/>
              </a:srgbClr>
            </a:solidFill>
            <a:prstDash val="solid"/>
          </a:ln>
        </p:spPr>
        <p:txBody>
          <a:bodyPr/>
          <a:lstStyle/>
          <a:p>
            <a:endParaRPr lang="en-VN"/>
          </a:p>
        </p:txBody>
      </p:sp>
      <p:sp>
        <p:nvSpPr>
          <p:cNvPr id="8" name="Text 6"/>
          <p:cNvSpPr/>
          <p:nvPr/>
        </p:nvSpPr>
        <p:spPr>
          <a:xfrm>
            <a:off x="8373977" y="2569162"/>
            <a:ext cx="3788202" cy="294861"/>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F4F0E6">
                    <a:alpha val="55000"/>
                  </a:srgbClr>
                </a:solidFill>
                <a:latin typeface="Courier New" pitchFamily="34" charset="0"/>
                <a:ea typeface="Courier New" pitchFamily="34" charset="-122"/>
                <a:cs typeface="Courier New" pitchFamily="34" charset="-120"/>
              </a:rPr>
              <a:t>FRONTEND</a:t>
            </a:r>
            <a:endParaRPr lang="en-US" sz="1800" dirty="0"/>
          </a:p>
        </p:txBody>
      </p:sp>
      <p:sp>
        <p:nvSpPr>
          <p:cNvPr id="9" name="Text 7"/>
          <p:cNvSpPr/>
          <p:nvPr/>
        </p:nvSpPr>
        <p:spPr>
          <a:xfrm>
            <a:off x="8373977" y="2959221"/>
            <a:ext cx="3788202" cy="410817"/>
          </a:xfrm>
          <a:prstGeom prst="rect">
            <a:avLst/>
          </a:prstGeom>
          <a:noFill/>
          <a:ln/>
        </p:spPr>
        <p:txBody>
          <a:bodyPr wrap="square" lIns="25400" tIns="25400" rIns="25400" bIns="25400" rtlCol="0" anchor="t">
            <a:normAutofit/>
          </a:bodyPr>
          <a:lstStyle/>
          <a:p>
            <a:pPr marL="0" indent="0" algn="l">
              <a:buNone/>
            </a:pPr>
            <a:r>
              <a:rPr lang="en-US" sz="2250" kern="0" spc="-12" dirty="0">
                <a:solidFill>
                  <a:srgbClr val="F4F0E6"/>
                </a:solidFill>
                <a:latin typeface="Arial" pitchFamily="34" charset="0"/>
                <a:ea typeface="Arial" pitchFamily="34" charset="-122"/>
                <a:cs typeface="Arial" pitchFamily="34" charset="-120"/>
              </a:rPr>
              <a:t>React 19 SPA</a:t>
            </a:r>
            <a:endParaRPr lang="en-US" sz="2250" dirty="0"/>
          </a:p>
        </p:txBody>
      </p:sp>
      <p:sp>
        <p:nvSpPr>
          <p:cNvPr id="10" name="Text 8"/>
          <p:cNvSpPr/>
          <p:nvPr/>
        </p:nvSpPr>
        <p:spPr>
          <a:xfrm>
            <a:off x="8373977" y="3408035"/>
            <a:ext cx="3788202" cy="551622"/>
          </a:xfrm>
          <a:prstGeom prst="rect">
            <a:avLst/>
          </a:prstGeom>
          <a:noFill/>
          <a:ln/>
        </p:spPr>
        <p:txBody>
          <a:bodyPr wrap="square" lIns="25400" tIns="25400" rIns="25400" bIns="25400" rtlCol="0" anchor="t">
            <a:normAutofit/>
          </a:bodyPr>
          <a:lstStyle/>
          <a:p>
            <a:pPr marL="0" indent="0" algn="l">
              <a:buNone/>
            </a:pPr>
            <a:r>
              <a:rPr lang="en-US" sz="1800" kern="0" spc="-12" dirty="0">
                <a:solidFill>
                  <a:srgbClr val="F4F0E6">
                    <a:alpha val="55000"/>
                  </a:srgbClr>
                </a:solidFill>
                <a:latin typeface="Courier New" pitchFamily="34" charset="0"/>
                <a:ea typeface="Courier New" pitchFamily="34" charset="-122"/>
                <a:cs typeface="Courier New" pitchFamily="34" charset="-120"/>
              </a:rPr>
              <a:t>TypeScript 5 · Vite 6 · Tailwind v4</a:t>
            </a:r>
            <a:endParaRPr lang="en-US" sz="1800" dirty="0"/>
          </a:p>
        </p:txBody>
      </p:sp>
      <p:sp>
        <p:nvSpPr>
          <p:cNvPr id="11" name="Shape 9"/>
          <p:cNvSpPr/>
          <p:nvPr/>
        </p:nvSpPr>
        <p:spPr>
          <a:xfrm>
            <a:off x="8373977" y="4112057"/>
            <a:ext cx="3677866" cy="9525"/>
          </a:xfrm>
          <a:prstGeom prst="rect">
            <a:avLst/>
          </a:prstGeom>
          <a:solidFill>
            <a:srgbClr val="F4F0E6">
              <a:alpha val="16000"/>
            </a:srgbClr>
          </a:solidFill>
          <a:ln/>
        </p:spPr>
        <p:txBody>
          <a:bodyPr/>
          <a:lstStyle/>
          <a:p>
            <a:endParaRPr lang="en-VN"/>
          </a:p>
        </p:txBody>
      </p:sp>
      <p:sp>
        <p:nvSpPr>
          <p:cNvPr id="12" name="Text 10"/>
          <p:cNvSpPr/>
          <p:nvPr/>
        </p:nvSpPr>
        <p:spPr>
          <a:xfrm>
            <a:off x="8373977" y="4312004"/>
            <a:ext cx="3788202" cy="294861"/>
          </a:xfrm>
          <a:prstGeom prst="rect">
            <a:avLst/>
          </a:prstGeom>
          <a:noFill/>
          <a:ln/>
        </p:spPr>
        <p:txBody>
          <a:bodyPr wrap="square" lIns="25400" tIns="25400" rIns="25400" bIns="25400" rtlCol="0" anchor="t">
            <a:normAutofit/>
          </a:bodyPr>
          <a:lstStyle/>
          <a:p>
            <a:pPr marL="0" indent="0" algn="l">
              <a:buNone/>
            </a:pPr>
            <a:r>
              <a:rPr lang="en-US" sz="1800" kern="0" spc="-12" dirty="0">
                <a:solidFill>
                  <a:srgbClr val="F4F0E6">
                    <a:alpha val="40000"/>
                  </a:srgbClr>
                </a:solidFill>
                <a:latin typeface="Courier New" pitchFamily="34" charset="0"/>
                <a:ea typeface="Courier New" pitchFamily="34" charset="-122"/>
                <a:cs typeface="Courier New" pitchFamily="34" charset="-120"/>
              </a:rPr>
              <a:t>deploy → Vercel / Railway</a:t>
            </a:r>
            <a:endParaRPr lang="en-US" sz="1800" dirty="0"/>
          </a:p>
        </p:txBody>
      </p:sp>
      <p:sp>
        <p:nvSpPr>
          <p:cNvPr id="13" name="Shape 11"/>
          <p:cNvSpPr/>
          <p:nvPr/>
        </p:nvSpPr>
        <p:spPr>
          <a:xfrm>
            <a:off x="12669544" y="2218057"/>
            <a:ext cx="4380077" cy="2920526"/>
          </a:xfrm>
          <a:prstGeom prst="roundRect">
            <a:avLst>
              <a:gd name="adj" fmla="val 5871"/>
            </a:avLst>
          </a:prstGeom>
          <a:solidFill>
            <a:srgbClr val="FFFFFF">
              <a:alpha val="4000"/>
            </a:srgbClr>
          </a:solidFill>
          <a:ln w="8283">
            <a:solidFill>
              <a:srgbClr val="F4F0E6">
                <a:alpha val="10000"/>
              </a:srgbClr>
            </a:solidFill>
            <a:prstDash val="solid"/>
          </a:ln>
        </p:spPr>
        <p:txBody>
          <a:bodyPr/>
          <a:lstStyle/>
          <a:p>
            <a:endParaRPr lang="en-VN"/>
          </a:p>
        </p:txBody>
      </p:sp>
      <p:sp>
        <p:nvSpPr>
          <p:cNvPr id="14" name="Text 12"/>
          <p:cNvSpPr/>
          <p:nvPr/>
        </p:nvSpPr>
        <p:spPr>
          <a:xfrm>
            <a:off x="13020649" y="2569162"/>
            <a:ext cx="3788202" cy="294861"/>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F4F0E6">
                    <a:alpha val="55000"/>
                  </a:srgbClr>
                </a:solidFill>
                <a:latin typeface="Courier New" pitchFamily="34" charset="0"/>
                <a:ea typeface="Courier New" pitchFamily="34" charset="-122"/>
                <a:cs typeface="Courier New" pitchFamily="34" charset="-120"/>
              </a:rPr>
              <a:t>BACKEND</a:t>
            </a:r>
            <a:endParaRPr lang="en-US" sz="1800" dirty="0"/>
          </a:p>
        </p:txBody>
      </p:sp>
      <p:sp>
        <p:nvSpPr>
          <p:cNvPr id="15" name="Text 13"/>
          <p:cNvSpPr/>
          <p:nvPr/>
        </p:nvSpPr>
        <p:spPr>
          <a:xfrm>
            <a:off x="13020649" y="2959221"/>
            <a:ext cx="3788202" cy="410817"/>
          </a:xfrm>
          <a:prstGeom prst="rect">
            <a:avLst/>
          </a:prstGeom>
          <a:noFill/>
          <a:ln/>
        </p:spPr>
        <p:txBody>
          <a:bodyPr wrap="square" lIns="25400" tIns="25400" rIns="25400" bIns="25400" rtlCol="0" anchor="t">
            <a:normAutofit/>
          </a:bodyPr>
          <a:lstStyle/>
          <a:p>
            <a:pPr marL="0" indent="0" algn="l">
              <a:buNone/>
            </a:pPr>
            <a:r>
              <a:rPr lang="en-US" sz="2250" kern="0" spc="-12" dirty="0">
                <a:solidFill>
                  <a:srgbClr val="F4F0E6"/>
                </a:solidFill>
                <a:latin typeface="Arial" pitchFamily="34" charset="0"/>
                <a:ea typeface="Arial" pitchFamily="34" charset="-122"/>
                <a:cs typeface="Arial" pitchFamily="34" charset="-120"/>
              </a:rPr>
              <a:t>Spring Boot 4.0.6</a:t>
            </a:r>
            <a:endParaRPr lang="en-US" sz="2250" dirty="0"/>
          </a:p>
        </p:txBody>
      </p:sp>
      <p:sp>
        <p:nvSpPr>
          <p:cNvPr id="16" name="Text 14"/>
          <p:cNvSpPr/>
          <p:nvPr/>
        </p:nvSpPr>
        <p:spPr>
          <a:xfrm>
            <a:off x="13020649" y="3408035"/>
            <a:ext cx="3788202" cy="551622"/>
          </a:xfrm>
          <a:prstGeom prst="rect">
            <a:avLst/>
          </a:prstGeom>
          <a:noFill/>
          <a:ln/>
        </p:spPr>
        <p:txBody>
          <a:bodyPr wrap="square" lIns="25400" tIns="25400" rIns="25400" bIns="25400" rtlCol="0" anchor="t">
            <a:normAutofit/>
          </a:bodyPr>
          <a:lstStyle/>
          <a:p>
            <a:pPr marL="0" indent="0" algn="l">
              <a:buNone/>
            </a:pPr>
            <a:r>
              <a:rPr lang="en-US" sz="1800" kern="0" spc="-12" dirty="0">
                <a:solidFill>
                  <a:srgbClr val="F4F0E6">
                    <a:alpha val="55000"/>
                  </a:srgbClr>
                </a:solidFill>
                <a:latin typeface="Courier New" pitchFamily="34" charset="0"/>
                <a:ea typeface="Courier New" pitchFamily="34" charset="-122"/>
                <a:cs typeface="Courier New" pitchFamily="34" charset="-120"/>
              </a:rPr>
              <a:t>Java 21 · Spring Security · JPA · Cache</a:t>
            </a:r>
            <a:endParaRPr lang="en-US" sz="1800" dirty="0"/>
          </a:p>
        </p:txBody>
      </p:sp>
      <p:sp>
        <p:nvSpPr>
          <p:cNvPr id="17" name="Shape 15"/>
          <p:cNvSpPr/>
          <p:nvPr/>
        </p:nvSpPr>
        <p:spPr>
          <a:xfrm>
            <a:off x="13020649" y="4112057"/>
            <a:ext cx="3677866" cy="9525"/>
          </a:xfrm>
          <a:prstGeom prst="rect">
            <a:avLst/>
          </a:prstGeom>
          <a:solidFill>
            <a:srgbClr val="F4F0E6">
              <a:alpha val="16000"/>
            </a:srgbClr>
          </a:solidFill>
          <a:ln/>
        </p:spPr>
        <p:txBody>
          <a:bodyPr/>
          <a:lstStyle/>
          <a:p>
            <a:endParaRPr lang="en-VN"/>
          </a:p>
        </p:txBody>
      </p:sp>
      <p:sp>
        <p:nvSpPr>
          <p:cNvPr id="18" name="Text 16"/>
          <p:cNvSpPr/>
          <p:nvPr/>
        </p:nvSpPr>
        <p:spPr>
          <a:xfrm>
            <a:off x="13020649" y="4312004"/>
            <a:ext cx="3788202" cy="551622"/>
          </a:xfrm>
          <a:prstGeom prst="rect">
            <a:avLst/>
          </a:prstGeom>
          <a:noFill/>
          <a:ln/>
        </p:spPr>
        <p:txBody>
          <a:bodyPr wrap="square" lIns="25400" tIns="25400" rIns="25400" bIns="25400" rtlCol="0" anchor="t">
            <a:normAutofit/>
          </a:bodyPr>
          <a:lstStyle/>
          <a:p>
            <a:pPr marL="0" indent="0" algn="l">
              <a:buNone/>
            </a:pPr>
            <a:r>
              <a:rPr lang="en-US" sz="1800" kern="0" spc="-12" dirty="0">
                <a:solidFill>
                  <a:srgbClr val="F4F0E6">
                    <a:alpha val="40000"/>
                  </a:srgbClr>
                </a:solidFill>
                <a:latin typeface="Courier New" pitchFamily="34" charset="0"/>
                <a:ea typeface="Courier New" pitchFamily="34" charset="-122"/>
                <a:cs typeface="Courier New" pitchFamily="34" charset="-120"/>
              </a:rPr>
              <a:t>deploy → Railway · Docker multi-stage</a:t>
            </a:r>
            <a:endParaRPr lang="en-US" sz="1800" dirty="0"/>
          </a:p>
        </p:txBody>
      </p:sp>
      <p:sp>
        <p:nvSpPr>
          <p:cNvPr id="19" name="Shape 17"/>
          <p:cNvSpPr/>
          <p:nvPr/>
        </p:nvSpPr>
        <p:spPr>
          <a:xfrm>
            <a:off x="8022871" y="5405179"/>
            <a:ext cx="4380077" cy="2920526"/>
          </a:xfrm>
          <a:prstGeom prst="roundRect">
            <a:avLst>
              <a:gd name="adj" fmla="val 5871"/>
            </a:avLst>
          </a:prstGeom>
          <a:solidFill>
            <a:srgbClr val="FFFFFF">
              <a:alpha val="4000"/>
            </a:srgbClr>
          </a:solidFill>
          <a:ln w="8283">
            <a:solidFill>
              <a:srgbClr val="F4F0E6">
                <a:alpha val="10000"/>
              </a:srgbClr>
            </a:solidFill>
            <a:prstDash val="solid"/>
          </a:ln>
        </p:spPr>
        <p:txBody>
          <a:bodyPr/>
          <a:lstStyle/>
          <a:p>
            <a:endParaRPr lang="en-VN"/>
          </a:p>
        </p:txBody>
      </p:sp>
      <p:sp>
        <p:nvSpPr>
          <p:cNvPr id="20" name="Text 18"/>
          <p:cNvSpPr/>
          <p:nvPr/>
        </p:nvSpPr>
        <p:spPr>
          <a:xfrm>
            <a:off x="8373977" y="5756284"/>
            <a:ext cx="3788202" cy="294861"/>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F4F0E6">
                    <a:alpha val="55000"/>
                  </a:srgbClr>
                </a:solidFill>
                <a:latin typeface="Courier New" pitchFamily="34" charset="0"/>
                <a:ea typeface="Courier New" pitchFamily="34" charset="-122"/>
                <a:cs typeface="Courier New" pitchFamily="34" charset="-120"/>
              </a:rPr>
              <a:t>DATABASE</a:t>
            </a:r>
            <a:endParaRPr lang="en-US" sz="1800" dirty="0"/>
          </a:p>
        </p:txBody>
      </p:sp>
      <p:sp>
        <p:nvSpPr>
          <p:cNvPr id="21" name="Text 19"/>
          <p:cNvSpPr/>
          <p:nvPr/>
        </p:nvSpPr>
        <p:spPr>
          <a:xfrm>
            <a:off x="8373977" y="6146343"/>
            <a:ext cx="3788202" cy="410817"/>
          </a:xfrm>
          <a:prstGeom prst="rect">
            <a:avLst/>
          </a:prstGeom>
          <a:noFill/>
          <a:ln/>
        </p:spPr>
        <p:txBody>
          <a:bodyPr wrap="square" lIns="25400" tIns="25400" rIns="25400" bIns="25400" rtlCol="0" anchor="t">
            <a:normAutofit/>
          </a:bodyPr>
          <a:lstStyle/>
          <a:p>
            <a:pPr marL="0" indent="0" algn="l">
              <a:buNone/>
            </a:pPr>
            <a:r>
              <a:rPr lang="en-US" sz="2250" kern="0" spc="-12" dirty="0">
                <a:solidFill>
                  <a:srgbClr val="F4F0E6"/>
                </a:solidFill>
                <a:latin typeface="Arial" pitchFamily="34" charset="0"/>
                <a:ea typeface="Arial" pitchFamily="34" charset="-122"/>
                <a:cs typeface="Arial" pitchFamily="34" charset="-120"/>
              </a:rPr>
              <a:t>PostgreSQL 16</a:t>
            </a:r>
            <a:endParaRPr lang="en-US" sz="2250" dirty="0"/>
          </a:p>
        </p:txBody>
      </p:sp>
      <p:sp>
        <p:nvSpPr>
          <p:cNvPr id="22" name="Text 20"/>
          <p:cNvSpPr/>
          <p:nvPr/>
        </p:nvSpPr>
        <p:spPr>
          <a:xfrm>
            <a:off x="8373977" y="6595157"/>
            <a:ext cx="3788202" cy="551622"/>
          </a:xfrm>
          <a:prstGeom prst="rect">
            <a:avLst/>
          </a:prstGeom>
          <a:noFill/>
          <a:ln/>
        </p:spPr>
        <p:txBody>
          <a:bodyPr wrap="square" lIns="25400" tIns="25400" rIns="25400" bIns="25400" rtlCol="0" anchor="t">
            <a:normAutofit/>
          </a:bodyPr>
          <a:lstStyle/>
          <a:p>
            <a:pPr marL="0" indent="0" algn="l">
              <a:buNone/>
            </a:pPr>
            <a:r>
              <a:rPr lang="en-US" sz="1800" kern="0" spc="-12" dirty="0">
                <a:solidFill>
                  <a:srgbClr val="F4F0E6">
                    <a:alpha val="55000"/>
                  </a:srgbClr>
                </a:solidFill>
                <a:latin typeface="Courier New" pitchFamily="34" charset="0"/>
                <a:ea typeface="Courier New" pitchFamily="34" charset="-122"/>
                <a:cs typeface="Courier New" pitchFamily="34" charset="-120"/>
              </a:rPr>
              <a:t>pgvector · HNSW · Flyway V1→V5</a:t>
            </a:r>
            <a:endParaRPr lang="en-US" sz="1800" dirty="0"/>
          </a:p>
        </p:txBody>
      </p:sp>
      <p:sp>
        <p:nvSpPr>
          <p:cNvPr id="23" name="Shape 21"/>
          <p:cNvSpPr/>
          <p:nvPr/>
        </p:nvSpPr>
        <p:spPr>
          <a:xfrm>
            <a:off x="8373977" y="7299178"/>
            <a:ext cx="3677866" cy="9525"/>
          </a:xfrm>
          <a:prstGeom prst="rect">
            <a:avLst/>
          </a:prstGeom>
          <a:solidFill>
            <a:srgbClr val="F4F0E6">
              <a:alpha val="16000"/>
            </a:srgbClr>
          </a:solidFill>
          <a:ln/>
        </p:spPr>
        <p:txBody>
          <a:bodyPr/>
          <a:lstStyle/>
          <a:p>
            <a:endParaRPr lang="en-VN"/>
          </a:p>
        </p:txBody>
      </p:sp>
      <p:sp>
        <p:nvSpPr>
          <p:cNvPr id="24" name="Text 22"/>
          <p:cNvSpPr/>
          <p:nvPr/>
        </p:nvSpPr>
        <p:spPr>
          <a:xfrm>
            <a:off x="8373977" y="7499126"/>
            <a:ext cx="3788202" cy="294861"/>
          </a:xfrm>
          <a:prstGeom prst="rect">
            <a:avLst/>
          </a:prstGeom>
          <a:noFill/>
          <a:ln/>
        </p:spPr>
        <p:txBody>
          <a:bodyPr wrap="square" lIns="25400" tIns="25400" rIns="25400" bIns="25400" rtlCol="0" anchor="t">
            <a:normAutofit/>
          </a:bodyPr>
          <a:lstStyle/>
          <a:p>
            <a:pPr marL="0" indent="0" algn="l">
              <a:buNone/>
            </a:pPr>
            <a:r>
              <a:rPr lang="en-US" sz="1800" kern="0" spc="-12" dirty="0">
                <a:solidFill>
                  <a:srgbClr val="F4F0E6">
                    <a:alpha val="40000"/>
                  </a:srgbClr>
                </a:solidFill>
                <a:latin typeface="Courier New" pitchFamily="34" charset="0"/>
                <a:ea typeface="Courier New" pitchFamily="34" charset="-122"/>
                <a:cs typeface="Courier New" pitchFamily="34" charset="-120"/>
              </a:rPr>
              <a:t>vector(384) · GIN full-text</a:t>
            </a:r>
            <a:endParaRPr lang="en-US" sz="1800" dirty="0"/>
          </a:p>
        </p:txBody>
      </p:sp>
      <p:sp>
        <p:nvSpPr>
          <p:cNvPr id="25" name="Shape 23"/>
          <p:cNvSpPr/>
          <p:nvPr/>
        </p:nvSpPr>
        <p:spPr>
          <a:xfrm>
            <a:off x="12669544" y="5405179"/>
            <a:ext cx="4380077" cy="2920526"/>
          </a:xfrm>
          <a:prstGeom prst="roundRect">
            <a:avLst>
              <a:gd name="adj" fmla="val 5871"/>
            </a:avLst>
          </a:prstGeom>
          <a:solidFill>
            <a:srgbClr val="FFFFFF">
              <a:alpha val="4000"/>
            </a:srgbClr>
          </a:solidFill>
          <a:ln w="8283">
            <a:solidFill>
              <a:srgbClr val="F4F0E6">
                <a:alpha val="10000"/>
              </a:srgbClr>
            </a:solidFill>
            <a:prstDash val="solid"/>
          </a:ln>
        </p:spPr>
        <p:txBody>
          <a:bodyPr/>
          <a:lstStyle/>
          <a:p>
            <a:endParaRPr lang="en-VN"/>
          </a:p>
        </p:txBody>
      </p:sp>
      <p:sp>
        <p:nvSpPr>
          <p:cNvPr id="26" name="Text 24"/>
          <p:cNvSpPr/>
          <p:nvPr/>
        </p:nvSpPr>
        <p:spPr>
          <a:xfrm>
            <a:off x="13020649" y="5756284"/>
            <a:ext cx="3788202" cy="294861"/>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F4F0E6">
                    <a:alpha val="55000"/>
                  </a:srgbClr>
                </a:solidFill>
                <a:latin typeface="Courier New" pitchFamily="34" charset="0"/>
                <a:ea typeface="Courier New" pitchFamily="34" charset="-122"/>
                <a:cs typeface="Courier New" pitchFamily="34" charset="-120"/>
              </a:rPr>
              <a:t>AI &amp; DATA</a:t>
            </a:r>
            <a:endParaRPr lang="en-US" sz="1800" dirty="0"/>
          </a:p>
        </p:txBody>
      </p:sp>
      <p:sp>
        <p:nvSpPr>
          <p:cNvPr id="27" name="Text 25"/>
          <p:cNvSpPr/>
          <p:nvPr/>
        </p:nvSpPr>
        <p:spPr>
          <a:xfrm>
            <a:off x="13020649" y="6146343"/>
            <a:ext cx="3788202" cy="410817"/>
          </a:xfrm>
          <a:prstGeom prst="rect">
            <a:avLst/>
          </a:prstGeom>
          <a:noFill/>
          <a:ln/>
        </p:spPr>
        <p:txBody>
          <a:bodyPr wrap="square" lIns="25400" tIns="25400" rIns="25400" bIns="25400" rtlCol="0" anchor="t">
            <a:normAutofit/>
          </a:bodyPr>
          <a:lstStyle/>
          <a:p>
            <a:pPr marL="0" indent="0" algn="l">
              <a:buNone/>
            </a:pPr>
            <a:r>
              <a:rPr lang="en-US" sz="2250" kern="0" spc="-12" dirty="0">
                <a:solidFill>
                  <a:srgbClr val="F4F0E6"/>
                </a:solidFill>
                <a:latin typeface="Arial" pitchFamily="34" charset="0"/>
                <a:ea typeface="Arial" pitchFamily="34" charset="-122"/>
                <a:cs typeface="Arial" pitchFamily="34" charset="-120"/>
              </a:rPr>
              <a:t>Groq · HuggingFace</a:t>
            </a:r>
            <a:endParaRPr lang="en-US" sz="2250" dirty="0"/>
          </a:p>
        </p:txBody>
      </p:sp>
      <p:sp>
        <p:nvSpPr>
          <p:cNvPr id="28" name="Text 26"/>
          <p:cNvSpPr/>
          <p:nvPr/>
        </p:nvSpPr>
        <p:spPr>
          <a:xfrm>
            <a:off x="13020649" y="6595157"/>
            <a:ext cx="3788202" cy="551622"/>
          </a:xfrm>
          <a:prstGeom prst="rect">
            <a:avLst/>
          </a:prstGeom>
          <a:noFill/>
          <a:ln/>
        </p:spPr>
        <p:txBody>
          <a:bodyPr wrap="square" lIns="25400" tIns="25400" rIns="25400" bIns="25400" rtlCol="0" anchor="t">
            <a:normAutofit/>
          </a:bodyPr>
          <a:lstStyle/>
          <a:p>
            <a:pPr marL="0" indent="0" algn="l">
              <a:buNone/>
            </a:pPr>
            <a:r>
              <a:rPr lang="en-US" sz="1800" kern="0" spc="-12" dirty="0">
                <a:solidFill>
                  <a:srgbClr val="F4F0E6">
                    <a:alpha val="55000"/>
                  </a:srgbClr>
                </a:solidFill>
                <a:latin typeface="Courier New" pitchFamily="34" charset="0"/>
                <a:ea typeface="Courier New" pitchFamily="34" charset="-122"/>
                <a:cs typeface="Courier New" pitchFamily="34" charset="-120"/>
              </a:rPr>
              <a:t>llama-3.1-8b · bge-small-en-v1.5</a:t>
            </a:r>
            <a:endParaRPr lang="en-US" sz="1800" dirty="0"/>
          </a:p>
        </p:txBody>
      </p:sp>
      <p:sp>
        <p:nvSpPr>
          <p:cNvPr id="29" name="Shape 27"/>
          <p:cNvSpPr/>
          <p:nvPr/>
        </p:nvSpPr>
        <p:spPr>
          <a:xfrm>
            <a:off x="13020649" y="7299178"/>
            <a:ext cx="3677866" cy="9525"/>
          </a:xfrm>
          <a:prstGeom prst="rect">
            <a:avLst/>
          </a:prstGeom>
          <a:solidFill>
            <a:srgbClr val="F4F0E6">
              <a:alpha val="16000"/>
            </a:srgbClr>
          </a:solidFill>
          <a:ln/>
        </p:spPr>
        <p:txBody>
          <a:bodyPr/>
          <a:lstStyle/>
          <a:p>
            <a:endParaRPr lang="en-VN"/>
          </a:p>
        </p:txBody>
      </p:sp>
      <p:sp>
        <p:nvSpPr>
          <p:cNvPr id="30" name="Text 28"/>
          <p:cNvSpPr/>
          <p:nvPr/>
        </p:nvSpPr>
        <p:spPr>
          <a:xfrm>
            <a:off x="13020649" y="7499126"/>
            <a:ext cx="3788202" cy="551622"/>
          </a:xfrm>
          <a:prstGeom prst="rect">
            <a:avLst/>
          </a:prstGeom>
          <a:noFill/>
          <a:ln/>
        </p:spPr>
        <p:txBody>
          <a:bodyPr wrap="square" lIns="25400" tIns="25400" rIns="25400" bIns="25400" rtlCol="0" anchor="t">
            <a:normAutofit/>
          </a:bodyPr>
          <a:lstStyle/>
          <a:p>
            <a:pPr marL="0" indent="0" algn="l">
              <a:buNone/>
            </a:pPr>
            <a:r>
              <a:rPr lang="en-US" sz="1800" kern="0" spc="-12" dirty="0">
                <a:solidFill>
                  <a:srgbClr val="F4F0E6">
                    <a:alpha val="40000"/>
                  </a:srgbClr>
                </a:solidFill>
                <a:latin typeface="Courier New" pitchFamily="34" charset="0"/>
                <a:ea typeface="Courier New" pitchFamily="34" charset="-122"/>
                <a:cs typeface="Courier New" pitchFamily="34" charset="-120"/>
              </a:rPr>
              <a:t>data source → arXiv Atom API</a:t>
            </a:r>
            <a:endParaRPr lang="en-US" sz="1800" dirty="0"/>
          </a:p>
        </p:txBody>
      </p:sp>
      <p:sp>
        <p:nvSpPr>
          <p:cNvPr id="31" name="Text 29"/>
          <p:cNvSpPr/>
          <p:nvPr/>
        </p:nvSpPr>
        <p:spPr>
          <a:xfrm>
            <a:off x="1238250" y="9458740"/>
            <a:ext cx="3165167"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F4F0E6">
                    <a:alpha val="45000"/>
                  </a:srgbClr>
                </a:solidFill>
                <a:latin typeface="Courier New" pitchFamily="34" charset="0"/>
                <a:ea typeface="Courier New" pitchFamily="34" charset="-122"/>
                <a:cs typeface="Courier New" pitchFamily="34" charset="-120"/>
              </a:rPr>
              <a:t>05 — TECHNOLOGY STACK</a:t>
            </a:r>
            <a:endParaRPr lang="en-US" sz="1800" dirty="0"/>
          </a:p>
        </p:txBody>
      </p:sp>
      <p:sp>
        <p:nvSpPr>
          <p:cNvPr id="32" name="Text 30"/>
          <p:cNvSpPr/>
          <p:nvPr/>
        </p:nvSpPr>
        <p:spPr>
          <a:xfrm>
            <a:off x="16025425" y="9458740"/>
            <a:ext cx="1100526"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F4F0E6">
                    <a:alpha val="45000"/>
                  </a:srgbClr>
                </a:solidFill>
                <a:latin typeface="Courier New" pitchFamily="34" charset="0"/>
                <a:ea typeface="Courier New" pitchFamily="34" charset="-122"/>
                <a:cs typeface="Courier New" pitchFamily="34" charset="-120"/>
              </a:rPr>
              <a:t>05 / 15</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0E6"/>
        </a:solidFill>
        <a:effectLst/>
      </p:bgPr>
    </p:bg>
    <p:spTree>
      <p:nvGrpSpPr>
        <p:cNvPr id="1" name=""/>
        <p:cNvGrpSpPr/>
        <p:nvPr/>
      </p:nvGrpSpPr>
      <p:grpSpPr>
        <a:xfrm>
          <a:off x="0" y="0"/>
          <a:ext cx="0" cy="0"/>
          <a:chOff x="0" y="0"/>
          <a:chExt cx="0" cy="0"/>
        </a:xfrm>
      </p:grpSpPr>
      <p:sp>
        <p:nvSpPr>
          <p:cNvPr id="2" name="Text 0"/>
          <p:cNvSpPr/>
          <p:nvPr/>
        </p:nvSpPr>
        <p:spPr>
          <a:xfrm>
            <a:off x="1238250" y="1047750"/>
            <a:ext cx="4416171"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6B6A65"/>
                </a:solidFill>
                <a:latin typeface="Courier New" pitchFamily="34" charset="0"/>
                <a:ea typeface="Courier New" pitchFamily="34" charset="-122"/>
                <a:cs typeface="Courier New" pitchFamily="34" charset="-120"/>
              </a:rPr>
              <a:t>SYSTEM ARCHITECTURE · 3-TIER</a:t>
            </a:r>
            <a:endParaRPr lang="en-US" sz="1800" dirty="0"/>
          </a:p>
        </p:txBody>
      </p:sp>
      <p:sp>
        <p:nvSpPr>
          <p:cNvPr id="3" name="Text 1"/>
          <p:cNvSpPr/>
          <p:nvPr/>
        </p:nvSpPr>
        <p:spPr>
          <a:xfrm>
            <a:off x="16757012" y="1047750"/>
            <a:ext cx="368938"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6B6A65"/>
                </a:solidFill>
                <a:latin typeface="Courier New" pitchFamily="34" charset="0"/>
                <a:ea typeface="Courier New" pitchFamily="34" charset="-122"/>
                <a:cs typeface="Courier New" pitchFamily="34" charset="-120"/>
              </a:rPr>
              <a:t>06</a:t>
            </a:r>
            <a:endParaRPr lang="en-US" sz="1800" dirty="0"/>
          </a:p>
        </p:txBody>
      </p:sp>
      <p:sp>
        <p:nvSpPr>
          <p:cNvPr id="4" name="Text 2"/>
          <p:cNvSpPr/>
          <p:nvPr/>
        </p:nvSpPr>
        <p:spPr>
          <a:xfrm>
            <a:off x="1238250" y="1304511"/>
            <a:ext cx="7926713" cy="932622"/>
          </a:xfrm>
          <a:prstGeom prst="rect">
            <a:avLst/>
          </a:prstGeom>
          <a:noFill/>
          <a:ln/>
        </p:spPr>
        <p:txBody>
          <a:bodyPr wrap="square" lIns="25400" tIns="25400" rIns="25400" bIns="25400" rtlCol="0" anchor="t">
            <a:normAutofit/>
          </a:bodyPr>
          <a:lstStyle/>
          <a:p>
            <a:pPr marL="0" indent="0" algn="l">
              <a:lnSpc>
                <a:spcPct val="98000"/>
              </a:lnSpc>
              <a:buNone/>
            </a:pPr>
            <a:r>
              <a:rPr lang="en-US" sz="7200" kern="0" spc="-252" dirty="0">
                <a:solidFill>
                  <a:srgbClr val="13141A"/>
                </a:solidFill>
                <a:latin typeface="Arial" pitchFamily="34" charset="0"/>
                <a:ea typeface="Arial" pitchFamily="34" charset="-122"/>
                <a:cs typeface="Arial" pitchFamily="34" charset="-120"/>
              </a:rPr>
              <a:t>Client. Server. Data.</a:t>
            </a:r>
            <a:endParaRPr lang="en-US" sz="7200" dirty="0"/>
          </a:p>
        </p:txBody>
      </p:sp>
      <p:sp>
        <p:nvSpPr>
          <p:cNvPr id="5" name="Text 3"/>
          <p:cNvSpPr/>
          <p:nvPr/>
        </p:nvSpPr>
        <p:spPr>
          <a:xfrm>
            <a:off x="9391184" y="1884294"/>
            <a:ext cx="3937497" cy="294861"/>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6B6A65"/>
                </a:solidFill>
                <a:latin typeface="Courier New" pitchFamily="34" charset="0"/>
                <a:ea typeface="Courier New" pitchFamily="34" charset="-122"/>
                <a:cs typeface="Courier New" pitchFamily="34" charset="-120"/>
              </a:rPr>
              <a:t>+ PIPELINE AI CHẠY NỀN</a:t>
            </a:r>
            <a:endParaRPr lang="en-US" sz="1800" dirty="0"/>
          </a:p>
        </p:txBody>
      </p:sp>
      <p:pic>
        <p:nvPicPr>
          <p:cNvPr id="6" name="Image 0" descr="preencoded.png"/>
          <p:cNvPicPr>
            <a:picLocks noChangeAspect="1"/>
          </p:cNvPicPr>
          <p:nvPr/>
        </p:nvPicPr>
        <p:blipFill>
          <a:blip r:embed="rId3"/>
          <a:stretch>
            <a:fillRect/>
          </a:stretch>
        </p:blipFill>
        <p:spPr>
          <a:xfrm>
            <a:off x="1238250" y="2501348"/>
            <a:ext cx="15811500" cy="5715000"/>
          </a:xfrm>
          <a:prstGeom prst="rect">
            <a:avLst/>
          </a:prstGeom>
        </p:spPr>
      </p:pic>
      <p:sp>
        <p:nvSpPr>
          <p:cNvPr id="7" name="Shape 4"/>
          <p:cNvSpPr/>
          <p:nvPr/>
        </p:nvSpPr>
        <p:spPr>
          <a:xfrm>
            <a:off x="1238250" y="8518663"/>
            <a:ext cx="2520501" cy="720587"/>
          </a:xfrm>
          <a:prstGeom prst="roundRect">
            <a:avLst>
              <a:gd name="adj" fmla="val 50000"/>
            </a:avLst>
          </a:prstGeom>
          <a:ln w="8283">
            <a:solidFill>
              <a:srgbClr val="13141A">
                <a:alpha val="28000"/>
              </a:srgbClr>
            </a:solidFill>
            <a:prstDash val="solid"/>
          </a:ln>
        </p:spPr>
        <p:txBody>
          <a:bodyPr/>
          <a:lstStyle/>
          <a:p>
            <a:endParaRPr lang="en-VN"/>
          </a:p>
        </p:txBody>
      </p:sp>
      <p:sp>
        <p:nvSpPr>
          <p:cNvPr id="8" name="Text 5"/>
          <p:cNvSpPr/>
          <p:nvPr/>
        </p:nvSpPr>
        <p:spPr>
          <a:xfrm>
            <a:off x="1618732" y="8622196"/>
            <a:ext cx="1432783" cy="551622"/>
          </a:xfrm>
          <a:prstGeom prst="rect">
            <a:avLst/>
          </a:prstGeom>
          <a:noFill/>
          <a:ln/>
        </p:spPr>
        <p:txBody>
          <a:bodyPr wrap="square" lIns="0" tIns="0" rIns="0" bIns="0" rtlCol="0" anchor="t">
            <a:normAutofit/>
          </a:bodyPr>
          <a:lstStyle/>
          <a:p>
            <a:pPr marL="0" indent="0" algn="l">
              <a:buNone/>
            </a:pPr>
            <a:r>
              <a:rPr lang="en-US" sz="1800" kern="0" spc="-12" dirty="0">
                <a:solidFill>
                  <a:srgbClr val="2A2C36"/>
                </a:solidFill>
                <a:latin typeface="Courier New" pitchFamily="34" charset="0"/>
                <a:ea typeface="Courier New" pitchFamily="34" charset="-122"/>
                <a:cs typeface="Courier New" pitchFamily="34" charset="-120"/>
              </a:rPr>
              <a:t>MVC + Repository</a:t>
            </a:r>
            <a:endParaRPr lang="en-US" sz="1800" dirty="0"/>
          </a:p>
        </p:txBody>
      </p:sp>
      <p:sp>
        <p:nvSpPr>
          <p:cNvPr id="9" name="Shape 6"/>
          <p:cNvSpPr/>
          <p:nvPr/>
        </p:nvSpPr>
        <p:spPr>
          <a:xfrm>
            <a:off x="3987300" y="8518663"/>
            <a:ext cx="2882866" cy="720587"/>
          </a:xfrm>
          <a:prstGeom prst="roundRect">
            <a:avLst>
              <a:gd name="adj" fmla="val 50000"/>
            </a:avLst>
          </a:prstGeom>
          <a:ln w="8283">
            <a:solidFill>
              <a:srgbClr val="13141A">
                <a:alpha val="28000"/>
              </a:srgbClr>
            </a:solidFill>
            <a:prstDash val="solid"/>
          </a:ln>
        </p:spPr>
        <p:txBody>
          <a:bodyPr/>
          <a:lstStyle/>
          <a:p>
            <a:endParaRPr lang="en-VN"/>
          </a:p>
        </p:txBody>
      </p:sp>
      <p:sp>
        <p:nvSpPr>
          <p:cNvPr id="10" name="Text 7"/>
          <p:cNvSpPr/>
          <p:nvPr/>
        </p:nvSpPr>
        <p:spPr>
          <a:xfrm>
            <a:off x="4367782" y="8622196"/>
            <a:ext cx="1704100" cy="551622"/>
          </a:xfrm>
          <a:prstGeom prst="rect">
            <a:avLst/>
          </a:prstGeom>
          <a:noFill/>
          <a:ln/>
        </p:spPr>
        <p:txBody>
          <a:bodyPr wrap="square" lIns="0" tIns="0" rIns="0" bIns="0" rtlCol="0" anchor="t">
            <a:normAutofit/>
          </a:bodyPr>
          <a:lstStyle/>
          <a:p>
            <a:pPr marL="0" indent="0" algn="l">
              <a:buNone/>
            </a:pPr>
            <a:r>
              <a:rPr lang="en-US" sz="1800" kern="0" spc="-12" dirty="0">
                <a:solidFill>
                  <a:srgbClr val="2A2C36"/>
                </a:solidFill>
                <a:latin typeface="Courier New" pitchFamily="34" charset="0"/>
                <a:ea typeface="Courier New" pitchFamily="34" charset="-122"/>
                <a:cs typeface="Courier New" pitchFamily="34" charset="-120"/>
              </a:rPr>
              <a:t>DTO + Manual Mapper</a:t>
            </a:r>
            <a:endParaRPr lang="en-US" sz="1800" dirty="0"/>
          </a:p>
        </p:txBody>
      </p:sp>
      <p:sp>
        <p:nvSpPr>
          <p:cNvPr id="11" name="Shape 8"/>
          <p:cNvSpPr/>
          <p:nvPr/>
        </p:nvSpPr>
        <p:spPr>
          <a:xfrm>
            <a:off x="7098714" y="8518663"/>
            <a:ext cx="3003611" cy="720587"/>
          </a:xfrm>
          <a:prstGeom prst="roundRect">
            <a:avLst>
              <a:gd name="adj" fmla="val 50000"/>
            </a:avLst>
          </a:prstGeom>
          <a:ln w="8283">
            <a:solidFill>
              <a:srgbClr val="13141A">
                <a:alpha val="28000"/>
              </a:srgbClr>
            </a:solidFill>
            <a:prstDash val="solid"/>
          </a:ln>
        </p:spPr>
        <p:txBody>
          <a:bodyPr/>
          <a:lstStyle/>
          <a:p>
            <a:endParaRPr lang="en-VN"/>
          </a:p>
        </p:txBody>
      </p:sp>
      <p:sp>
        <p:nvSpPr>
          <p:cNvPr id="12" name="Text 9"/>
          <p:cNvSpPr/>
          <p:nvPr/>
        </p:nvSpPr>
        <p:spPr>
          <a:xfrm>
            <a:off x="7479196" y="8622196"/>
            <a:ext cx="1432782" cy="551622"/>
          </a:xfrm>
          <a:prstGeom prst="rect">
            <a:avLst/>
          </a:prstGeom>
          <a:noFill/>
          <a:ln/>
        </p:spPr>
        <p:txBody>
          <a:bodyPr wrap="square" lIns="0" tIns="0" rIns="0" bIns="0" rtlCol="0" anchor="t">
            <a:normAutofit/>
          </a:bodyPr>
          <a:lstStyle/>
          <a:p>
            <a:pPr marL="0" indent="0" algn="l">
              <a:buNone/>
            </a:pPr>
            <a:r>
              <a:rPr lang="en-US" sz="1800" kern="0" spc="-12" dirty="0">
                <a:solidFill>
                  <a:srgbClr val="2A2C36"/>
                </a:solidFill>
                <a:latin typeface="Courier New" pitchFamily="34" charset="0"/>
                <a:ea typeface="Courier New" pitchFamily="34" charset="-122"/>
                <a:cs typeface="Courier New" pitchFamily="34" charset="-120"/>
              </a:rPr>
              <a:t>Pipeline + Scheduler</a:t>
            </a:r>
            <a:endParaRPr lang="en-US" sz="1800" dirty="0"/>
          </a:p>
        </p:txBody>
      </p:sp>
      <p:sp>
        <p:nvSpPr>
          <p:cNvPr id="13" name="Shape 10"/>
          <p:cNvSpPr/>
          <p:nvPr/>
        </p:nvSpPr>
        <p:spPr>
          <a:xfrm>
            <a:off x="10330872" y="8518663"/>
            <a:ext cx="3245230" cy="720587"/>
          </a:xfrm>
          <a:prstGeom prst="roundRect">
            <a:avLst>
              <a:gd name="adj" fmla="val 50000"/>
            </a:avLst>
          </a:prstGeom>
          <a:ln w="8283">
            <a:solidFill>
              <a:srgbClr val="13141A">
                <a:alpha val="28000"/>
              </a:srgbClr>
            </a:solidFill>
            <a:prstDash val="solid"/>
          </a:ln>
        </p:spPr>
        <p:txBody>
          <a:bodyPr/>
          <a:lstStyle/>
          <a:p>
            <a:endParaRPr lang="en-VN"/>
          </a:p>
        </p:txBody>
      </p:sp>
      <p:sp>
        <p:nvSpPr>
          <p:cNvPr id="14" name="Text 11"/>
          <p:cNvSpPr/>
          <p:nvPr/>
        </p:nvSpPr>
        <p:spPr>
          <a:xfrm>
            <a:off x="10711354" y="8622196"/>
            <a:ext cx="1568441" cy="551622"/>
          </a:xfrm>
          <a:prstGeom prst="rect">
            <a:avLst/>
          </a:prstGeom>
          <a:noFill/>
          <a:ln/>
        </p:spPr>
        <p:txBody>
          <a:bodyPr wrap="square" lIns="0" tIns="0" rIns="0" bIns="0" rtlCol="0" anchor="t">
            <a:normAutofit/>
          </a:bodyPr>
          <a:lstStyle/>
          <a:p>
            <a:pPr marL="0" indent="0" algn="l">
              <a:buNone/>
            </a:pPr>
            <a:r>
              <a:rPr lang="en-US" sz="1800" kern="0" spc="-12" dirty="0">
                <a:solidFill>
                  <a:srgbClr val="2A2C36"/>
                </a:solidFill>
                <a:latin typeface="Courier New" pitchFamily="34" charset="0"/>
                <a:ea typeface="Courier New" pitchFamily="34" charset="-122"/>
                <a:cs typeface="Courier New" pitchFamily="34" charset="-120"/>
              </a:rPr>
              <a:t>Cache-Aside (Caffeine)</a:t>
            </a:r>
            <a:endParaRPr lang="en-US" sz="1800" dirty="0"/>
          </a:p>
        </p:txBody>
      </p:sp>
      <p:sp>
        <p:nvSpPr>
          <p:cNvPr id="15" name="Shape 12"/>
          <p:cNvSpPr/>
          <p:nvPr/>
        </p:nvSpPr>
        <p:spPr>
          <a:xfrm>
            <a:off x="13804650" y="8518663"/>
            <a:ext cx="3245230" cy="720587"/>
          </a:xfrm>
          <a:prstGeom prst="roundRect">
            <a:avLst>
              <a:gd name="adj" fmla="val 50000"/>
            </a:avLst>
          </a:prstGeom>
          <a:ln w="8283">
            <a:solidFill>
              <a:srgbClr val="13141A">
                <a:alpha val="28000"/>
              </a:srgbClr>
            </a:solidFill>
            <a:prstDash val="solid"/>
          </a:ln>
        </p:spPr>
        <p:txBody>
          <a:bodyPr/>
          <a:lstStyle/>
          <a:p>
            <a:endParaRPr lang="en-VN"/>
          </a:p>
        </p:txBody>
      </p:sp>
      <p:sp>
        <p:nvSpPr>
          <p:cNvPr id="16" name="Text 13"/>
          <p:cNvSpPr/>
          <p:nvPr/>
        </p:nvSpPr>
        <p:spPr>
          <a:xfrm>
            <a:off x="14185133" y="8622196"/>
            <a:ext cx="1704099" cy="551622"/>
          </a:xfrm>
          <a:prstGeom prst="rect">
            <a:avLst/>
          </a:prstGeom>
          <a:noFill/>
          <a:ln/>
        </p:spPr>
        <p:txBody>
          <a:bodyPr wrap="square" lIns="0" tIns="0" rIns="0" bIns="0" rtlCol="0" anchor="t">
            <a:normAutofit/>
          </a:bodyPr>
          <a:lstStyle/>
          <a:p>
            <a:pPr marL="0" indent="0" algn="l">
              <a:buNone/>
            </a:pPr>
            <a:r>
              <a:rPr lang="en-US" sz="1800" kern="0" spc="-12" dirty="0">
                <a:solidFill>
                  <a:srgbClr val="2A2C36"/>
                </a:solidFill>
                <a:latin typeface="Courier New" pitchFamily="34" charset="0"/>
                <a:ea typeface="Courier New" pitchFamily="34" charset="-122"/>
                <a:cs typeface="Courier New" pitchFamily="34" charset="-120"/>
              </a:rPr>
              <a:t>Strategy (AI provider)</a:t>
            </a:r>
            <a:endParaRPr lang="en-US" sz="1800" dirty="0"/>
          </a:p>
        </p:txBody>
      </p:sp>
      <p:sp>
        <p:nvSpPr>
          <p:cNvPr id="17" name="Text 14"/>
          <p:cNvSpPr/>
          <p:nvPr/>
        </p:nvSpPr>
        <p:spPr>
          <a:xfrm>
            <a:off x="1238250" y="9458740"/>
            <a:ext cx="3617314"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6B6A65"/>
                </a:solidFill>
                <a:latin typeface="Courier New" pitchFamily="34" charset="0"/>
                <a:ea typeface="Courier New" pitchFamily="34" charset="-122"/>
                <a:cs typeface="Courier New" pitchFamily="34" charset="-120"/>
              </a:rPr>
              <a:t>06 — SYSTEM ARCHITECTURE</a:t>
            </a:r>
            <a:endParaRPr lang="en-US" sz="1800" dirty="0"/>
          </a:p>
        </p:txBody>
      </p:sp>
      <p:sp>
        <p:nvSpPr>
          <p:cNvPr id="18" name="Text 15"/>
          <p:cNvSpPr/>
          <p:nvPr/>
        </p:nvSpPr>
        <p:spPr>
          <a:xfrm>
            <a:off x="16025425" y="9458740"/>
            <a:ext cx="1100526"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6B6A65"/>
                </a:solidFill>
                <a:latin typeface="Courier New" pitchFamily="34" charset="0"/>
                <a:ea typeface="Courier New" pitchFamily="34" charset="-122"/>
                <a:cs typeface="Courier New" pitchFamily="34" charset="-120"/>
              </a:rPr>
              <a:t>06 / 15</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0E6"/>
        </a:solidFill>
        <a:effectLst/>
      </p:bgPr>
    </p:bg>
    <p:spTree>
      <p:nvGrpSpPr>
        <p:cNvPr id="1" name=""/>
        <p:cNvGrpSpPr/>
        <p:nvPr/>
      </p:nvGrpSpPr>
      <p:grpSpPr>
        <a:xfrm>
          <a:off x="0" y="0"/>
          <a:ext cx="0" cy="0"/>
          <a:chOff x="0" y="0"/>
          <a:chExt cx="0" cy="0"/>
        </a:xfrm>
      </p:grpSpPr>
      <p:sp>
        <p:nvSpPr>
          <p:cNvPr id="2" name="Text 0"/>
          <p:cNvSpPr/>
          <p:nvPr/>
        </p:nvSpPr>
        <p:spPr>
          <a:xfrm>
            <a:off x="1238250" y="1047750"/>
            <a:ext cx="2607831"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6B6A65"/>
                </a:solidFill>
                <a:latin typeface="Courier New" pitchFamily="34" charset="0"/>
                <a:ea typeface="Courier New" pitchFamily="34" charset="-122"/>
                <a:cs typeface="Courier New" pitchFamily="34" charset="-120"/>
              </a:rPr>
              <a:t>DATA MODEL · ERD</a:t>
            </a:r>
            <a:endParaRPr lang="en-US" sz="1800" dirty="0"/>
          </a:p>
        </p:txBody>
      </p:sp>
      <p:sp>
        <p:nvSpPr>
          <p:cNvPr id="3" name="Text 1"/>
          <p:cNvSpPr/>
          <p:nvPr/>
        </p:nvSpPr>
        <p:spPr>
          <a:xfrm>
            <a:off x="16757012" y="1047750"/>
            <a:ext cx="368938"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6B6A65"/>
                </a:solidFill>
                <a:latin typeface="Courier New" pitchFamily="34" charset="0"/>
                <a:ea typeface="Courier New" pitchFamily="34" charset="-122"/>
                <a:cs typeface="Courier New" pitchFamily="34" charset="-120"/>
              </a:rPr>
              <a:t>07</a:t>
            </a:r>
            <a:endParaRPr lang="en-US" sz="1800" dirty="0"/>
          </a:p>
        </p:txBody>
      </p:sp>
      <p:sp>
        <p:nvSpPr>
          <p:cNvPr id="4" name="Text 2"/>
          <p:cNvSpPr/>
          <p:nvPr/>
        </p:nvSpPr>
        <p:spPr>
          <a:xfrm>
            <a:off x="1238250" y="1304511"/>
            <a:ext cx="6685973" cy="949187"/>
          </a:xfrm>
          <a:prstGeom prst="rect">
            <a:avLst/>
          </a:prstGeom>
          <a:noFill/>
          <a:ln/>
        </p:spPr>
        <p:txBody>
          <a:bodyPr wrap="square" lIns="25400" tIns="25400" rIns="25400" bIns="25400" rtlCol="0" anchor="t">
            <a:normAutofit/>
          </a:bodyPr>
          <a:lstStyle/>
          <a:p>
            <a:pPr marL="0" indent="0" algn="l">
              <a:lnSpc>
                <a:spcPct val="98000"/>
              </a:lnSpc>
              <a:buNone/>
            </a:pPr>
            <a:r>
              <a:rPr lang="en-US" sz="7200" kern="0" spc="-252" dirty="0">
                <a:solidFill>
                  <a:srgbClr val="13141A"/>
                </a:solidFill>
                <a:latin typeface="Arial" pitchFamily="34" charset="0"/>
                <a:ea typeface="Arial" pitchFamily="34" charset="-122"/>
                <a:cs typeface="Arial" pitchFamily="34" charset="-120"/>
              </a:rPr>
              <a:t>6 bảng. </a:t>
            </a:r>
            <a:r>
              <a:rPr lang="en-US" sz="7200" i="1" kern="0" spc="-252" dirty="0">
                <a:solidFill>
                  <a:srgbClr val="13141A"/>
                </a:solidFill>
                <a:latin typeface="Georgia" pitchFamily="34" charset="0"/>
                <a:ea typeface="Georgia" pitchFamily="34" charset="-122"/>
                <a:cs typeface="Georgia" pitchFamily="34" charset="-120"/>
              </a:rPr>
              <a:t>Một vector.</a:t>
            </a:r>
            <a:endParaRPr lang="en-US" sz="7200" dirty="0"/>
          </a:p>
        </p:txBody>
      </p:sp>
      <p:sp>
        <p:nvSpPr>
          <p:cNvPr id="5" name="Text 3"/>
          <p:cNvSpPr/>
          <p:nvPr/>
        </p:nvSpPr>
        <p:spPr>
          <a:xfrm>
            <a:off x="8186582" y="1884294"/>
            <a:ext cx="4295403" cy="294861"/>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6B6A65"/>
                </a:solidFill>
                <a:latin typeface="Courier New" pitchFamily="34" charset="0"/>
                <a:ea typeface="Courier New" pitchFamily="34" charset="-122"/>
                <a:cs typeface="Courier New" pitchFamily="34" charset="-120"/>
              </a:rPr>
              <a:t>POSTGRESQL 16 + PGVECTOR</a:t>
            </a:r>
            <a:endParaRPr lang="en-US" sz="1800" dirty="0"/>
          </a:p>
        </p:txBody>
      </p:sp>
      <p:pic>
        <p:nvPicPr>
          <p:cNvPr id="6" name="Image 0" descr="preencoded.png"/>
          <p:cNvPicPr>
            <a:picLocks noChangeAspect="1"/>
          </p:cNvPicPr>
          <p:nvPr/>
        </p:nvPicPr>
        <p:blipFill>
          <a:blip r:embed="rId3"/>
          <a:stretch>
            <a:fillRect/>
          </a:stretch>
        </p:blipFill>
        <p:spPr>
          <a:xfrm>
            <a:off x="1238250" y="2891795"/>
            <a:ext cx="15811500" cy="5766508"/>
          </a:xfrm>
          <a:prstGeom prst="rect">
            <a:avLst/>
          </a:prstGeom>
        </p:spPr>
      </p:pic>
      <p:sp>
        <p:nvSpPr>
          <p:cNvPr id="7" name="Text 4"/>
          <p:cNvSpPr/>
          <p:nvPr/>
        </p:nvSpPr>
        <p:spPr>
          <a:xfrm>
            <a:off x="1238250" y="9458740"/>
            <a:ext cx="3165167"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6B6A65"/>
                </a:solidFill>
                <a:latin typeface="Courier New" pitchFamily="34" charset="0"/>
                <a:ea typeface="Courier New" pitchFamily="34" charset="-122"/>
                <a:cs typeface="Courier New" pitchFamily="34" charset="-120"/>
              </a:rPr>
              <a:t>07 — DATA MODEL &amp; ERD</a:t>
            </a:r>
            <a:endParaRPr lang="en-US" sz="1800" dirty="0"/>
          </a:p>
        </p:txBody>
      </p:sp>
      <p:sp>
        <p:nvSpPr>
          <p:cNvPr id="8" name="Text 5"/>
          <p:cNvSpPr/>
          <p:nvPr/>
        </p:nvSpPr>
        <p:spPr>
          <a:xfrm>
            <a:off x="16025425" y="9458740"/>
            <a:ext cx="1100526"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6B6A65"/>
                </a:solidFill>
                <a:latin typeface="Courier New" pitchFamily="34" charset="0"/>
                <a:ea typeface="Courier New" pitchFamily="34" charset="-122"/>
                <a:cs typeface="Courier New" pitchFamily="34" charset="-120"/>
              </a:rPr>
              <a:t>07 / 15</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0E6"/>
        </a:solidFill>
        <a:effectLst/>
      </p:bgPr>
    </p:bg>
    <p:spTree>
      <p:nvGrpSpPr>
        <p:cNvPr id="1" name=""/>
        <p:cNvGrpSpPr/>
        <p:nvPr/>
      </p:nvGrpSpPr>
      <p:grpSpPr>
        <a:xfrm>
          <a:off x="0" y="0"/>
          <a:ext cx="0" cy="0"/>
          <a:chOff x="0" y="0"/>
          <a:chExt cx="0" cy="0"/>
        </a:xfrm>
      </p:grpSpPr>
      <p:sp>
        <p:nvSpPr>
          <p:cNvPr id="2" name="Text 0"/>
          <p:cNvSpPr/>
          <p:nvPr/>
        </p:nvSpPr>
        <p:spPr>
          <a:xfrm>
            <a:off x="1238250" y="1047750"/>
            <a:ext cx="2168853"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6B6A65"/>
                </a:solidFill>
                <a:latin typeface="Courier New" pitchFamily="34" charset="0"/>
                <a:ea typeface="Courier New" pitchFamily="34" charset="-122"/>
                <a:cs typeface="Courier New" pitchFamily="34" charset="-120"/>
              </a:rPr>
              <a:t>CORE FEATURES</a:t>
            </a:r>
            <a:endParaRPr lang="en-US" sz="1800" dirty="0"/>
          </a:p>
        </p:txBody>
      </p:sp>
      <p:sp>
        <p:nvSpPr>
          <p:cNvPr id="3" name="Text 1"/>
          <p:cNvSpPr/>
          <p:nvPr/>
        </p:nvSpPr>
        <p:spPr>
          <a:xfrm>
            <a:off x="16757012" y="1047750"/>
            <a:ext cx="368938"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6B6A65"/>
                </a:solidFill>
                <a:latin typeface="Courier New" pitchFamily="34" charset="0"/>
                <a:ea typeface="Courier New" pitchFamily="34" charset="-122"/>
                <a:cs typeface="Courier New" pitchFamily="34" charset="-120"/>
              </a:rPr>
              <a:t>08</a:t>
            </a:r>
            <a:endParaRPr lang="en-US" sz="1800" dirty="0"/>
          </a:p>
        </p:txBody>
      </p:sp>
      <p:sp>
        <p:nvSpPr>
          <p:cNvPr id="4" name="Text 2"/>
          <p:cNvSpPr/>
          <p:nvPr/>
        </p:nvSpPr>
        <p:spPr>
          <a:xfrm>
            <a:off x="1238250" y="1304511"/>
            <a:ext cx="16285845" cy="949187"/>
          </a:xfrm>
          <a:prstGeom prst="rect">
            <a:avLst/>
          </a:prstGeom>
          <a:noFill/>
          <a:ln/>
        </p:spPr>
        <p:txBody>
          <a:bodyPr wrap="square" lIns="25400" tIns="25400" rIns="25400" bIns="25400" rtlCol="0" anchor="t">
            <a:normAutofit/>
          </a:bodyPr>
          <a:lstStyle/>
          <a:p>
            <a:pPr marL="0" indent="0" algn="l">
              <a:lnSpc>
                <a:spcPct val="98000"/>
              </a:lnSpc>
              <a:buNone/>
            </a:pPr>
            <a:r>
              <a:rPr lang="en-US" sz="7200" kern="0" spc="-252" dirty="0">
                <a:solidFill>
                  <a:srgbClr val="13141A"/>
                </a:solidFill>
                <a:latin typeface="Arial" pitchFamily="34" charset="0"/>
                <a:ea typeface="Arial" pitchFamily="34" charset="-122"/>
                <a:cs typeface="Arial" pitchFamily="34" charset="-120"/>
              </a:rPr>
              <a:t>Sáu tính năng </a:t>
            </a:r>
            <a:r>
              <a:rPr lang="en-US" sz="7200" i="1" kern="0" spc="-252" dirty="0">
                <a:solidFill>
                  <a:srgbClr val="13141A"/>
                </a:solidFill>
                <a:latin typeface="Georgia" pitchFamily="34" charset="0"/>
                <a:ea typeface="Georgia" pitchFamily="34" charset="-122"/>
                <a:cs typeface="Georgia" pitchFamily="34" charset="-120"/>
              </a:rPr>
              <a:t>làm nên </a:t>
            </a:r>
            <a:r>
              <a:rPr lang="en-US" sz="7200" kern="0" spc="-252" dirty="0">
                <a:solidFill>
                  <a:srgbClr val="13141A"/>
                </a:solidFill>
                <a:latin typeface="Arial" pitchFamily="34" charset="0"/>
                <a:ea typeface="Arial" pitchFamily="34" charset="-122"/>
                <a:cs typeface="Arial" pitchFamily="34" charset="-120"/>
              </a:rPr>
              <a:t>ScholarSlate.</a:t>
            </a:r>
            <a:endParaRPr lang="en-US" sz="7200" dirty="0"/>
          </a:p>
        </p:txBody>
      </p:sp>
      <p:sp>
        <p:nvSpPr>
          <p:cNvPr id="5" name="Shape 3"/>
          <p:cNvSpPr/>
          <p:nvPr/>
        </p:nvSpPr>
        <p:spPr>
          <a:xfrm>
            <a:off x="1238250" y="2882348"/>
            <a:ext cx="5067274" cy="2711260"/>
          </a:xfrm>
          <a:prstGeom prst="roundRect">
            <a:avLst>
              <a:gd name="adj" fmla="val 6324"/>
            </a:avLst>
          </a:prstGeom>
          <a:solidFill>
            <a:srgbClr val="FBF8F0"/>
          </a:solidFill>
          <a:ln w="8283">
            <a:solidFill>
              <a:srgbClr val="13141A">
                <a:alpha val="12000"/>
              </a:srgbClr>
            </a:solidFill>
            <a:prstDash val="solid"/>
          </a:ln>
        </p:spPr>
        <p:txBody>
          <a:bodyPr/>
          <a:lstStyle/>
          <a:p>
            <a:endParaRPr lang="en-VN"/>
          </a:p>
        </p:txBody>
      </p:sp>
      <p:pic>
        <p:nvPicPr>
          <p:cNvPr id="6" name="Image 0" descr="preencoded.png"/>
          <p:cNvPicPr>
            <a:picLocks noChangeAspect="1"/>
          </p:cNvPicPr>
          <p:nvPr/>
        </p:nvPicPr>
        <p:blipFill>
          <a:blip r:embed="rId3"/>
          <a:stretch>
            <a:fillRect/>
          </a:stretch>
        </p:blipFill>
        <p:spPr>
          <a:xfrm>
            <a:off x="1589355" y="3266454"/>
            <a:ext cx="342822" cy="342822"/>
          </a:xfrm>
          <a:prstGeom prst="rect">
            <a:avLst/>
          </a:prstGeom>
        </p:spPr>
      </p:pic>
      <p:sp>
        <p:nvSpPr>
          <p:cNvPr id="7" name="Text 4"/>
          <p:cNvSpPr/>
          <p:nvPr/>
        </p:nvSpPr>
        <p:spPr>
          <a:xfrm>
            <a:off x="2236900" y="3309653"/>
            <a:ext cx="1685718" cy="294654"/>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13141A"/>
                </a:solidFill>
                <a:latin typeface="Courier New" pitchFamily="34" charset="0"/>
                <a:ea typeface="Courier New" pitchFamily="34" charset="-122"/>
                <a:cs typeface="Courier New" pitchFamily="34" charset="-120"/>
              </a:rPr>
              <a:t>UC10 · UC11</a:t>
            </a:r>
            <a:endParaRPr lang="en-US" sz="1800" dirty="0"/>
          </a:p>
        </p:txBody>
      </p:sp>
      <p:sp>
        <p:nvSpPr>
          <p:cNvPr id="8" name="Text 5"/>
          <p:cNvSpPr/>
          <p:nvPr/>
        </p:nvSpPr>
        <p:spPr>
          <a:xfrm>
            <a:off x="1589355" y="3870955"/>
            <a:ext cx="4496016" cy="377687"/>
          </a:xfrm>
          <a:prstGeom prst="rect">
            <a:avLst/>
          </a:prstGeom>
          <a:noFill/>
          <a:ln/>
        </p:spPr>
        <p:txBody>
          <a:bodyPr wrap="square" lIns="25400" tIns="25400" rIns="25400" bIns="25400" rtlCol="0" anchor="t">
            <a:normAutofit/>
          </a:bodyPr>
          <a:lstStyle/>
          <a:p>
            <a:pPr marL="0" indent="0" algn="l">
              <a:buNone/>
            </a:pPr>
            <a:r>
              <a:rPr lang="en-US" sz="2100" kern="0" spc="-21" dirty="0">
                <a:solidFill>
                  <a:srgbClr val="13141A"/>
                </a:solidFill>
                <a:latin typeface="Arial" pitchFamily="34" charset="0"/>
                <a:ea typeface="Arial" pitchFamily="34" charset="-122"/>
                <a:cs typeface="Arial" pitchFamily="34" charset="-120"/>
              </a:rPr>
              <a:t>Auto-fetch từ arXiv</a:t>
            </a:r>
            <a:endParaRPr lang="en-US" sz="2100" dirty="0"/>
          </a:p>
        </p:txBody>
      </p:sp>
      <p:sp>
        <p:nvSpPr>
          <p:cNvPr id="9" name="Text 6"/>
          <p:cNvSpPr/>
          <p:nvPr/>
        </p:nvSpPr>
        <p:spPr>
          <a:xfrm>
            <a:off x="1589355" y="4286638"/>
            <a:ext cx="4496016" cy="1032013"/>
          </a:xfrm>
          <a:prstGeom prst="rect">
            <a:avLst/>
          </a:prstGeom>
          <a:noFill/>
          <a:ln/>
        </p:spPr>
        <p:txBody>
          <a:bodyPr wrap="square" lIns="25400" tIns="25400" rIns="25400" bIns="25400" rtlCol="0" anchor="t">
            <a:normAutofit/>
          </a:bodyPr>
          <a:lstStyle/>
          <a:p>
            <a:pPr marL="0" indent="0" algn="l">
              <a:lnSpc>
                <a:spcPct val="145000"/>
              </a:lnSpc>
              <a:buNone/>
            </a:pPr>
            <a:r>
              <a:rPr lang="en-US" sz="1800" kern="0" spc="-12" dirty="0">
                <a:solidFill>
                  <a:srgbClr val="6B6A65"/>
                </a:solidFill>
                <a:latin typeface="Arial" pitchFamily="34" charset="0"/>
                <a:ea typeface="Arial" pitchFamily="34" charset="-122"/>
                <a:cs typeface="Arial" pitchFamily="34" charset="-120"/>
              </a:rPr>
              <a:t>Scheduler 06:00 quét topic active, gọi arXiv Atom API, delay 1500ms / request, UPSERT theo arxiv_id.</a:t>
            </a:r>
            <a:endParaRPr lang="en-US" sz="1800" dirty="0"/>
          </a:p>
        </p:txBody>
      </p:sp>
      <p:sp>
        <p:nvSpPr>
          <p:cNvPr id="10" name="Shape 7"/>
          <p:cNvSpPr/>
          <p:nvPr/>
        </p:nvSpPr>
        <p:spPr>
          <a:xfrm>
            <a:off x="6610298" y="2882348"/>
            <a:ext cx="5067274" cy="2711260"/>
          </a:xfrm>
          <a:prstGeom prst="roundRect">
            <a:avLst>
              <a:gd name="adj" fmla="val 6324"/>
            </a:avLst>
          </a:prstGeom>
          <a:solidFill>
            <a:srgbClr val="FBF8F0"/>
          </a:solidFill>
          <a:ln w="8283">
            <a:solidFill>
              <a:srgbClr val="13141A">
                <a:alpha val="12000"/>
              </a:srgbClr>
            </a:solidFill>
            <a:prstDash val="solid"/>
          </a:ln>
        </p:spPr>
        <p:txBody>
          <a:bodyPr/>
          <a:lstStyle/>
          <a:p>
            <a:endParaRPr lang="en-VN"/>
          </a:p>
        </p:txBody>
      </p:sp>
      <p:pic>
        <p:nvPicPr>
          <p:cNvPr id="11" name="Image 1" descr="preencoded.png"/>
          <p:cNvPicPr>
            <a:picLocks noChangeAspect="1"/>
          </p:cNvPicPr>
          <p:nvPr/>
        </p:nvPicPr>
        <p:blipFill>
          <a:blip r:embed="rId4"/>
          <a:stretch>
            <a:fillRect/>
          </a:stretch>
        </p:blipFill>
        <p:spPr>
          <a:xfrm>
            <a:off x="6961404" y="3266454"/>
            <a:ext cx="342822" cy="342822"/>
          </a:xfrm>
          <a:prstGeom prst="rect">
            <a:avLst/>
          </a:prstGeom>
        </p:spPr>
      </p:pic>
      <p:sp>
        <p:nvSpPr>
          <p:cNvPr id="12" name="Text 8"/>
          <p:cNvSpPr/>
          <p:nvPr/>
        </p:nvSpPr>
        <p:spPr>
          <a:xfrm>
            <a:off x="7608948" y="3309653"/>
            <a:ext cx="661392" cy="294654"/>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13141A"/>
                </a:solidFill>
                <a:latin typeface="Courier New" pitchFamily="34" charset="0"/>
                <a:ea typeface="Courier New" pitchFamily="34" charset="-122"/>
                <a:cs typeface="Courier New" pitchFamily="34" charset="-120"/>
              </a:rPr>
              <a:t>UC11</a:t>
            </a:r>
            <a:endParaRPr lang="en-US" sz="1800" dirty="0"/>
          </a:p>
        </p:txBody>
      </p:sp>
      <p:sp>
        <p:nvSpPr>
          <p:cNvPr id="13" name="Text 9"/>
          <p:cNvSpPr/>
          <p:nvPr/>
        </p:nvSpPr>
        <p:spPr>
          <a:xfrm>
            <a:off x="6961404" y="3870955"/>
            <a:ext cx="4496016" cy="377687"/>
          </a:xfrm>
          <a:prstGeom prst="rect">
            <a:avLst/>
          </a:prstGeom>
          <a:noFill/>
          <a:ln/>
        </p:spPr>
        <p:txBody>
          <a:bodyPr wrap="square" lIns="25400" tIns="25400" rIns="25400" bIns="25400" rtlCol="0" anchor="t">
            <a:normAutofit/>
          </a:bodyPr>
          <a:lstStyle/>
          <a:p>
            <a:pPr marL="0" indent="0" algn="l">
              <a:buNone/>
            </a:pPr>
            <a:r>
              <a:rPr lang="en-US" sz="2100" kern="0" spc="-21" dirty="0">
                <a:solidFill>
                  <a:srgbClr val="13141A"/>
                </a:solidFill>
                <a:latin typeface="Arial" pitchFamily="34" charset="0"/>
                <a:ea typeface="Arial" pitchFamily="34" charset="-122"/>
                <a:cs typeface="Arial" pitchFamily="34" charset="-120"/>
              </a:rPr>
              <a:t>AI Summary + Quality Score</a:t>
            </a:r>
            <a:endParaRPr lang="en-US" sz="2100" dirty="0"/>
          </a:p>
        </p:txBody>
      </p:sp>
      <p:sp>
        <p:nvSpPr>
          <p:cNvPr id="14" name="Text 10"/>
          <p:cNvSpPr/>
          <p:nvPr/>
        </p:nvSpPr>
        <p:spPr>
          <a:xfrm>
            <a:off x="6961404" y="4286638"/>
            <a:ext cx="4496016" cy="1032013"/>
          </a:xfrm>
          <a:prstGeom prst="rect">
            <a:avLst/>
          </a:prstGeom>
          <a:noFill/>
          <a:ln/>
        </p:spPr>
        <p:txBody>
          <a:bodyPr wrap="square" lIns="25400" tIns="25400" rIns="25400" bIns="25400" rtlCol="0" anchor="t">
            <a:normAutofit/>
          </a:bodyPr>
          <a:lstStyle/>
          <a:p>
            <a:pPr marL="0" indent="0" algn="l">
              <a:lnSpc>
                <a:spcPct val="145000"/>
              </a:lnSpc>
              <a:buNone/>
            </a:pPr>
            <a:r>
              <a:rPr lang="en-US" sz="1800" kern="0" spc="-12" dirty="0">
                <a:solidFill>
                  <a:srgbClr val="6B6A65"/>
                </a:solidFill>
                <a:latin typeface="Arial" pitchFamily="34" charset="0"/>
                <a:ea typeface="Arial" pitchFamily="34" charset="-122"/>
                <a:cs typeface="Arial" pitchFamily="34" charset="-120"/>
              </a:rPr>
              <a:t>Groq llama-3.1-8b tóm tắt abstract, sinh quality_score ∈ [0–10]. Hiển thị ngay trong paper card.</a:t>
            </a:r>
            <a:endParaRPr lang="en-US" sz="1800" dirty="0"/>
          </a:p>
        </p:txBody>
      </p:sp>
      <p:sp>
        <p:nvSpPr>
          <p:cNvPr id="15" name="Shape 11"/>
          <p:cNvSpPr/>
          <p:nvPr/>
        </p:nvSpPr>
        <p:spPr>
          <a:xfrm>
            <a:off x="11982347" y="2882348"/>
            <a:ext cx="5067403" cy="2711260"/>
          </a:xfrm>
          <a:prstGeom prst="roundRect">
            <a:avLst>
              <a:gd name="adj" fmla="val 6324"/>
            </a:avLst>
          </a:prstGeom>
          <a:solidFill>
            <a:srgbClr val="FBF8F0"/>
          </a:solidFill>
          <a:ln w="8283">
            <a:solidFill>
              <a:srgbClr val="13141A">
                <a:alpha val="12000"/>
              </a:srgbClr>
            </a:solidFill>
            <a:prstDash val="solid"/>
          </a:ln>
        </p:spPr>
        <p:txBody>
          <a:bodyPr/>
          <a:lstStyle/>
          <a:p>
            <a:endParaRPr lang="en-VN"/>
          </a:p>
        </p:txBody>
      </p:sp>
      <p:pic>
        <p:nvPicPr>
          <p:cNvPr id="16" name="Image 2" descr="preencoded.png"/>
          <p:cNvPicPr>
            <a:picLocks noChangeAspect="1"/>
          </p:cNvPicPr>
          <p:nvPr/>
        </p:nvPicPr>
        <p:blipFill>
          <a:blip r:embed="rId5"/>
          <a:stretch>
            <a:fillRect/>
          </a:stretch>
        </p:blipFill>
        <p:spPr>
          <a:xfrm>
            <a:off x="12333452" y="3266454"/>
            <a:ext cx="342822" cy="342822"/>
          </a:xfrm>
          <a:prstGeom prst="rect">
            <a:avLst/>
          </a:prstGeom>
        </p:spPr>
      </p:pic>
      <p:sp>
        <p:nvSpPr>
          <p:cNvPr id="17" name="Text 12"/>
          <p:cNvSpPr/>
          <p:nvPr/>
        </p:nvSpPr>
        <p:spPr>
          <a:xfrm>
            <a:off x="12980996" y="3309653"/>
            <a:ext cx="661392" cy="294654"/>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13141A"/>
                </a:solidFill>
                <a:latin typeface="Courier New" pitchFamily="34" charset="0"/>
                <a:ea typeface="Courier New" pitchFamily="34" charset="-122"/>
                <a:cs typeface="Courier New" pitchFamily="34" charset="-120"/>
              </a:rPr>
              <a:t>UC14</a:t>
            </a:r>
            <a:endParaRPr lang="en-US" sz="1800" dirty="0"/>
          </a:p>
        </p:txBody>
      </p:sp>
      <p:sp>
        <p:nvSpPr>
          <p:cNvPr id="18" name="Text 13"/>
          <p:cNvSpPr/>
          <p:nvPr/>
        </p:nvSpPr>
        <p:spPr>
          <a:xfrm>
            <a:off x="12333452" y="3870955"/>
            <a:ext cx="4496150" cy="377687"/>
          </a:xfrm>
          <a:prstGeom prst="rect">
            <a:avLst/>
          </a:prstGeom>
          <a:noFill/>
          <a:ln/>
        </p:spPr>
        <p:txBody>
          <a:bodyPr wrap="square" lIns="25400" tIns="25400" rIns="25400" bIns="25400" rtlCol="0" anchor="t">
            <a:normAutofit/>
          </a:bodyPr>
          <a:lstStyle/>
          <a:p>
            <a:pPr marL="0" indent="0" algn="l">
              <a:buNone/>
            </a:pPr>
            <a:r>
              <a:rPr lang="en-US" sz="2100" kern="0" spc="-21" dirty="0">
                <a:solidFill>
                  <a:srgbClr val="13141A"/>
                </a:solidFill>
                <a:latin typeface="Arial" pitchFamily="34" charset="0"/>
                <a:ea typeface="Arial" pitchFamily="34" charset="-122"/>
                <a:cs typeface="Arial" pitchFamily="34" charset="-120"/>
              </a:rPr>
              <a:t>Semantic Recommendation</a:t>
            </a:r>
            <a:endParaRPr lang="en-US" sz="2100" dirty="0"/>
          </a:p>
        </p:txBody>
      </p:sp>
      <p:sp>
        <p:nvSpPr>
          <p:cNvPr id="19" name="Text 14"/>
          <p:cNvSpPr/>
          <p:nvPr/>
        </p:nvSpPr>
        <p:spPr>
          <a:xfrm>
            <a:off x="12333452" y="4286638"/>
            <a:ext cx="4496150" cy="700709"/>
          </a:xfrm>
          <a:prstGeom prst="rect">
            <a:avLst/>
          </a:prstGeom>
          <a:noFill/>
          <a:ln/>
        </p:spPr>
        <p:txBody>
          <a:bodyPr wrap="square" lIns="25400" tIns="25400" rIns="25400" bIns="25400" rtlCol="0" anchor="t">
            <a:normAutofit/>
          </a:bodyPr>
          <a:lstStyle/>
          <a:p>
            <a:pPr marL="0" indent="0" algn="l">
              <a:lnSpc>
                <a:spcPct val="145000"/>
              </a:lnSpc>
              <a:buNone/>
            </a:pPr>
            <a:r>
              <a:rPr lang="en-US" sz="1800" kern="0" spc="-12" dirty="0">
                <a:solidFill>
                  <a:srgbClr val="6B6A65"/>
                </a:solidFill>
                <a:latin typeface="Arial" pitchFamily="34" charset="0"/>
                <a:ea typeface="Arial" pitchFamily="34" charset="-122"/>
                <a:cs typeface="Arial" pitchFamily="34" charset="-120"/>
              </a:rPr>
              <a:t>HNSW cosine search trên vector(384), top-10 paper liên quan, Caffeine cache TTL 1h.</a:t>
            </a:r>
            <a:endParaRPr lang="en-US" sz="1800" dirty="0"/>
          </a:p>
        </p:txBody>
      </p:sp>
      <p:sp>
        <p:nvSpPr>
          <p:cNvPr id="20" name="Shape 15"/>
          <p:cNvSpPr/>
          <p:nvPr/>
        </p:nvSpPr>
        <p:spPr>
          <a:xfrm>
            <a:off x="1238250" y="5898382"/>
            <a:ext cx="5067274" cy="2711260"/>
          </a:xfrm>
          <a:prstGeom prst="roundRect">
            <a:avLst>
              <a:gd name="adj" fmla="val 6324"/>
            </a:avLst>
          </a:prstGeom>
          <a:solidFill>
            <a:srgbClr val="FBF8F0"/>
          </a:solidFill>
          <a:ln w="8283">
            <a:solidFill>
              <a:srgbClr val="13141A">
                <a:alpha val="12000"/>
              </a:srgbClr>
            </a:solidFill>
            <a:prstDash val="solid"/>
          </a:ln>
        </p:spPr>
        <p:txBody>
          <a:bodyPr/>
          <a:lstStyle/>
          <a:p>
            <a:endParaRPr lang="en-VN"/>
          </a:p>
        </p:txBody>
      </p:sp>
      <p:pic>
        <p:nvPicPr>
          <p:cNvPr id="21" name="Image 3" descr="preencoded.png"/>
          <p:cNvPicPr>
            <a:picLocks noChangeAspect="1"/>
          </p:cNvPicPr>
          <p:nvPr/>
        </p:nvPicPr>
        <p:blipFill>
          <a:blip r:embed="rId6"/>
          <a:stretch>
            <a:fillRect/>
          </a:stretch>
        </p:blipFill>
        <p:spPr>
          <a:xfrm>
            <a:off x="1589355" y="6282489"/>
            <a:ext cx="342822" cy="342822"/>
          </a:xfrm>
          <a:prstGeom prst="rect">
            <a:avLst/>
          </a:prstGeom>
        </p:spPr>
      </p:pic>
      <p:sp>
        <p:nvSpPr>
          <p:cNvPr id="22" name="Text 16"/>
          <p:cNvSpPr/>
          <p:nvPr/>
        </p:nvSpPr>
        <p:spPr>
          <a:xfrm>
            <a:off x="2236900" y="6325687"/>
            <a:ext cx="1685718" cy="294654"/>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13141A"/>
                </a:solidFill>
                <a:latin typeface="Courier New" pitchFamily="34" charset="0"/>
                <a:ea typeface="Courier New" pitchFamily="34" charset="-122"/>
                <a:cs typeface="Courier New" pitchFamily="34" charset="-120"/>
              </a:rPr>
              <a:t>UC05 · UC12</a:t>
            </a:r>
            <a:endParaRPr lang="en-US" sz="1800" dirty="0"/>
          </a:p>
        </p:txBody>
      </p:sp>
      <p:sp>
        <p:nvSpPr>
          <p:cNvPr id="23" name="Text 17"/>
          <p:cNvSpPr/>
          <p:nvPr/>
        </p:nvSpPr>
        <p:spPr>
          <a:xfrm>
            <a:off x="1589355" y="6886990"/>
            <a:ext cx="4496016" cy="377687"/>
          </a:xfrm>
          <a:prstGeom prst="rect">
            <a:avLst/>
          </a:prstGeom>
          <a:noFill/>
          <a:ln/>
        </p:spPr>
        <p:txBody>
          <a:bodyPr wrap="square" lIns="25400" tIns="25400" rIns="25400" bIns="25400" rtlCol="0" anchor="t">
            <a:normAutofit/>
          </a:bodyPr>
          <a:lstStyle/>
          <a:p>
            <a:pPr marL="0" indent="0" algn="l">
              <a:buNone/>
            </a:pPr>
            <a:r>
              <a:rPr lang="en-US" sz="2100" kern="0" spc="-21" dirty="0">
                <a:solidFill>
                  <a:srgbClr val="13141A"/>
                </a:solidFill>
                <a:latin typeface="Arial" pitchFamily="34" charset="0"/>
                <a:ea typeface="Arial" pitchFamily="34" charset="-122"/>
                <a:cs typeface="Arial" pitchFamily="34" charset="-120"/>
              </a:rPr>
              <a:t>Full-text Search + Match</a:t>
            </a:r>
            <a:endParaRPr lang="en-US" sz="2100" dirty="0"/>
          </a:p>
        </p:txBody>
      </p:sp>
      <p:sp>
        <p:nvSpPr>
          <p:cNvPr id="24" name="Text 18"/>
          <p:cNvSpPr/>
          <p:nvPr/>
        </p:nvSpPr>
        <p:spPr>
          <a:xfrm>
            <a:off x="1589355" y="7302673"/>
            <a:ext cx="4496016" cy="1032013"/>
          </a:xfrm>
          <a:prstGeom prst="rect">
            <a:avLst/>
          </a:prstGeom>
          <a:noFill/>
          <a:ln/>
        </p:spPr>
        <p:txBody>
          <a:bodyPr wrap="square" lIns="25400" tIns="25400" rIns="25400" bIns="25400" rtlCol="0" anchor="t">
            <a:normAutofit/>
          </a:bodyPr>
          <a:lstStyle/>
          <a:p>
            <a:pPr marL="0" indent="0" algn="l">
              <a:lnSpc>
                <a:spcPct val="145000"/>
              </a:lnSpc>
              <a:buNone/>
            </a:pPr>
            <a:r>
              <a:rPr lang="en-US" sz="1800" kern="0" spc="-12" dirty="0">
                <a:solidFill>
                  <a:srgbClr val="6B6A65"/>
                </a:solidFill>
                <a:latin typeface="Arial" pitchFamily="34" charset="0"/>
                <a:ea typeface="Arial" pitchFamily="34" charset="-122"/>
                <a:cs typeface="Arial" pitchFamily="34" charset="-120"/>
              </a:rPr>
              <a:t>GIN index + plainto_tsquery cho user search · phraseto_tsquery cho topic matching.</a:t>
            </a:r>
            <a:endParaRPr lang="en-US" sz="1800" dirty="0"/>
          </a:p>
        </p:txBody>
      </p:sp>
      <p:sp>
        <p:nvSpPr>
          <p:cNvPr id="25" name="Shape 19"/>
          <p:cNvSpPr/>
          <p:nvPr/>
        </p:nvSpPr>
        <p:spPr>
          <a:xfrm>
            <a:off x="6610298" y="5898382"/>
            <a:ext cx="5067274" cy="2711260"/>
          </a:xfrm>
          <a:prstGeom prst="roundRect">
            <a:avLst>
              <a:gd name="adj" fmla="val 6324"/>
            </a:avLst>
          </a:prstGeom>
          <a:solidFill>
            <a:srgbClr val="FBF8F0"/>
          </a:solidFill>
          <a:ln w="8283">
            <a:solidFill>
              <a:srgbClr val="13141A">
                <a:alpha val="12000"/>
              </a:srgbClr>
            </a:solidFill>
            <a:prstDash val="solid"/>
          </a:ln>
        </p:spPr>
        <p:txBody>
          <a:bodyPr/>
          <a:lstStyle/>
          <a:p>
            <a:endParaRPr lang="en-VN"/>
          </a:p>
        </p:txBody>
      </p:sp>
      <p:pic>
        <p:nvPicPr>
          <p:cNvPr id="26" name="Image 4" descr="preencoded.png"/>
          <p:cNvPicPr>
            <a:picLocks noChangeAspect="1"/>
          </p:cNvPicPr>
          <p:nvPr/>
        </p:nvPicPr>
        <p:blipFill>
          <a:blip r:embed="rId7"/>
          <a:stretch>
            <a:fillRect/>
          </a:stretch>
        </p:blipFill>
        <p:spPr>
          <a:xfrm>
            <a:off x="6961404" y="6282489"/>
            <a:ext cx="342822" cy="342822"/>
          </a:xfrm>
          <a:prstGeom prst="rect">
            <a:avLst/>
          </a:prstGeom>
        </p:spPr>
      </p:pic>
      <p:sp>
        <p:nvSpPr>
          <p:cNvPr id="27" name="Text 20"/>
          <p:cNvSpPr/>
          <p:nvPr/>
        </p:nvSpPr>
        <p:spPr>
          <a:xfrm>
            <a:off x="7608948" y="6325687"/>
            <a:ext cx="1685718" cy="294654"/>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13141A"/>
                </a:solidFill>
                <a:latin typeface="Courier New" pitchFamily="34" charset="0"/>
                <a:ea typeface="Courier New" pitchFamily="34" charset="-122"/>
                <a:cs typeface="Courier New" pitchFamily="34" charset="-120"/>
              </a:rPr>
              <a:t>UC07 · UC08</a:t>
            </a:r>
            <a:endParaRPr lang="en-US" sz="1800" dirty="0"/>
          </a:p>
        </p:txBody>
      </p:sp>
      <p:sp>
        <p:nvSpPr>
          <p:cNvPr id="28" name="Text 21"/>
          <p:cNvSpPr/>
          <p:nvPr/>
        </p:nvSpPr>
        <p:spPr>
          <a:xfrm>
            <a:off x="6961404" y="6886990"/>
            <a:ext cx="4496016" cy="377687"/>
          </a:xfrm>
          <a:prstGeom prst="rect">
            <a:avLst/>
          </a:prstGeom>
          <a:noFill/>
          <a:ln/>
        </p:spPr>
        <p:txBody>
          <a:bodyPr wrap="square" lIns="25400" tIns="25400" rIns="25400" bIns="25400" rtlCol="0" anchor="t">
            <a:normAutofit/>
          </a:bodyPr>
          <a:lstStyle/>
          <a:p>
            <a:pPr marL="0" indent="0" algn="l">
              <a:buNone/>
            </a:pPr>
            <a:r>
              <a:rPr lang="en-US" sz="2100" kern="0" spc="-21" dirty="0">
                <a:solidFill>
                  <a:srgbClr val="13141A"/>
                </a:solidFill>
                <a:latin typeface="Arial" pitchFamily="34" charset="0"/>
                <a:ea typeface="Arial" pitchFamily="34" charset="-122"/>
                <a:cs typeface="Arial" pitchFamily="34" charset="-120"/>
              </a:rPr>
              <a:t>Favorite &amp; Notification</a:t>
            </a:r>
            <a:endParaRPr lang="en-US" sz="2100" dirty="0"/>
          </a:p>
        </p:txBody>
      </p:sp>
      <p:sp>
        <p:nvSpPr>
          <p:cNvPr id="29" name="Text 22"/>
          <p:cNvSpPr/>
          <p:nvPr/>
        </p:nvSpPr>
        <p:spPr>
          <a:xfrm>
            <a:off x="6961404" y="7302673"/>
            <a:ext cx="4496016" cy="1032013"/>
          </a:xfrm>
          <a:prstGeom prst="rect">
            <a:avLst/>
          </a:prstGeom>
          <a:noFill/>
          <a:ln/>
        </p:spPr>
        <p:txBody>
          <a:bodyPr wrap="square" lIns="25400" tIns="25400" rIns="25400" bIns="25400" rtlCol="0" anchor="t">
            <a:normAutofit/>
          </a:bodyPr>
          <a:lstStyle/>
          <a:p>
            <a:pPr marL="0" indent="0" algn="l">
              <a:lnSpc>
                <a:spcPct val="145000"/>
              </a:lnSpc>
              <a:buNone/>
            </a:pPr>
            <a:r>
              <a:rPr lang="en-US" sz="1800" kern="0" spc="-12" dirty="0">
                <a:solidFill>
                  <a:srgbClr val="6B6A65"/>
                </a:solidFill>
                <a:latin typeface="Arial" pitchFamily="34" charset="0"/>
                <a:ea typeface="Arial" pitchFamily="34" charset="-122"/>
                <a:cs typeface="Arial" pitchFamily="34" charset="-120"/>
              </a:rPr>
              <a:t>Lưu paper yêu thích idempotent, badge số chưa đọc, NEW_PAPER khi có paper mới khớp topic.</a:t>
            </a:r>
            <a:endParaRPr lang="en-US" sz="1800" dirty="0"/>
          </a:p>
        </p:txBody>
      </p:sp>
      <p:sp>
        <p:nvSpPr>
          <p:cNvPr id="30" name="Shape 23"/>
          <p:cNvSpPr/>
          <p:nvPr/>
        </p:nvSpPr>
        <p:spPr>
          <a:xfrm>
            <a:off x="11982347" y="5898382"/>
            <a:ext cx="5067403" cy="2711260"/>
          </a:xfrm>
          <a:prstGeom prst="roundRect">
            <a:avLst>
              <a:gd name="adj" fmla="val 6324"/>
            </a:avLst>
          </a:prstGeom>
          <a:solidFill>
            <a:srgbClr val="FBF8F0"/>
          </a:solidFill>
          <a:ln w="8283">
            <a:solidFill>
              <a:srgbClr val="13141A">
                <a:alpha val="12000"/>
              </a:srgbClr>
            </a:solidFill>
            <a:prstDash val="solid"/>
          </a:ln>
        </p:spPr>
        <p:txBody>
          <a:bodyPr/>
          <a:lstStyle/>
          <a:p>
            <a:endParaRPr lang="en-VN"/>
          </a:p>
        </p:txBody>
      </p:sp>
      <p:pic>
        <p:nvPicPr>
          <p:cNvPr id="31" name="Image 5" descr="preencoded.png"/>
          <p:cNvPicPr>
            <a:picLocks noChangeAspect="1"/>
          </p:cNvPicPr>
          <p:nvPr/>
        </p:nvPicPr>
        <p:blipFill>
          <a:blip r:embed="rId8"/>
          <a:stretch>
            <a:fillRect/>
          </a:stretch>
        </p:blipFill>
        <p:spPr>
          <a:xfrm>
            <a:off x="12333452" y="6282489"/>
            <a:ext cx="342822" cy="342822"/>
          </a:xfrm>
          <a:prstGeom prst="rect">
            <a:avLst/>
          </a:prstGeom>
        </p:spPr>
      </p:pic>
      <p:sp>
        <p:nvSpPr>
          <p:cNvPr id="32" name="Text 24"/>
          <p:cNvSpPr/>
          <p:nvPr/>
        </p:nvSpPr>
        <p:spPr>
          <a:xfrm>
            <a:off x="12980996" y="6325687"/>
            <a:ext cx="661392" cy="294654"/>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13141A"/>
                </a:solidFill>
                <a:latin typeface="Courier New" pitchFamily="34" charset="0"/>
                <a:ea typeface="Courier New" pitchFamily="34" charset="-122"/>
                <a:cs typeface="Courier New" pitchFamily="34" charset="-120"/>
              </a:rPr>
              <a:t>UC15</a:t>
            </a:r>
            <a:endParaRPr lang="en-US" sz="1800" dirty="0"/>
          </a:p>
        </p:txBody>
      </p:sp>
      <p:sp>
        <p:nvSpPr>
          <p:cNvPr id="33" name="Text 25"/>
          <p:cNvSpPr/>
          <p:nvPr/>
        </p:nvSpPr>
        <p:spPr>
          <a:xfrm>
            <a:off x="12333452" y="6886990"/>
            <a:ext cx="4496150" cy="377687"/>
          </a:xfrm>
          <a:prstGeom prst="rect">
            <a:avLst/>
          </a:prstGeom>
          <a:noFill/>
          <a:ln/>
        </p:spPr>
        <p:txBody>
          <a:bodyPr wrap="square" lIns="25400" tIns="25400" rIns="25400" bIns="25400" rtlCol="0" anchor="t">
            <a:normAutofit/>
          </a:bodyPr>
          <a:lstStyle/>
          <a:p>
            <a:pPr marL="0" indent="0" algn="l">
              <a:buNone/>
            </a:pPr>
            <a:r>
              <a:rPr lang="en-US" sz="2100" kern="0" spc="-21" dirty="0">
                <a:solidFill>
                  <a:srgbClr val="13141A"/>
                </a:solidFill>
                <a:latin typeface="Arial" pitchFamily="34" charset="0"/>
                <a:ea typeface="Arial" pitchFamily="34" charset="-122"/>
                <a:cs typeface="Arial" pitchFamily="34" charset="-120"/>
              </a:rPr>
              <a:t>Trend Analytics</a:t>
            </a:r>
            <a:endParaRPr lang="en-US" sz="2100" dirty="0"/>
          </a:p>
        </p:txBody>
      </p:sp>
      <p:sp>
        <p:nvSpPr>
          <p:cNvPr id="34" name="Text 26"/>
          <p:cNvSpPr/>
          <p:nvPr/>
        </p:nvSpPr>
        <p:spPr>
          <a:xfrm>
            <a:off x="12333452" y="7302673"/>
            <a:ext cx="4496150" cy="1032013"/>
          </a:xfrm>
          <a:prstGeom prst="rect">
            <a:avLst/>
          </a:prstGeom>
          <a:noFill/>
          <a:ln/>
        </p:spPr>
        <p:txBody>
          <a:bodyPr wrap="square" lIns="25400" tIns="25400" rIns="25400" bIns="25400" rtlCol="0" anchor="t">
            <a:normAutofit/>
          </a:bodyPr>
          <a:lstStyle/>
          <a:p>
            <a:pPr marL="0" indent="0" algn="l">
              <a:lnSpc>
                <a:spcPct val="145000"/>
              </a:lnSpc>
              <a:buNone/>
            </a:pPr>
            <a:r>
              <a:rPr lang="en-US" sz="1800" kern="0" spc="-12" dirty="0">
                <a:solidFill>
                  <a:srgbClr val="6B6A65"/>
                </a:solidFill>
                <a:latin typeface="Arial" pitchFamily="34" charset="0"/>
                <a:ea typeface="Arial" pitchFamily="34" charset="-122"/>
                <a:cs typeface="Arial" pitchFamily="34" charset="-120"/>
              </a:rPr>
              <a:t>GROUP BY YYYY-MM trên PAPER × PAPER_TOPIC. 24 tháng gần nhất, biểu đồ đường theo topic.</a:t>
            </a:r>
            <a:endParaRPr lang="en-US" sz="1800" dirty="0"/>
          </a:p>
        </p:txBody>
      </p:sp>
      <p:sp>
        <p:nvSpPr>
          <p:cNvPr id="35" name="Text 27"/>
          <p:cNvSpPr/>
          <p:nvPr/>
        </p:nvSpPr>
        <p:spPr>
          <a:xfrm>
            <a:off x="1238250" y="9458740"/>
            <a:ext cx="2713019"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6B6A65"/>
                </a:solidFill>
                <a:latin typeface="Courier New" pitchFamily="34" charset="0"/>
                <a:ea typeface="Courier New" pitchFamily="34" charset="-122"/>
                <a:cs typeface="Courier New" pitchFamily="34" charset="-120"/>
              </a:rPr>
              <a:t>08 — CORE FEATURES</a:t>
            </a:r>
            <a:endParaRPr lang="en-US" sz="1800" dirty="0"/>
          </a:p>
        </p:txBody>
      </p:sp>
      <p:sp>
        <p:nvSpPr>
          <p:cNvPr id="36" name="Text 28"/>
          <p:cNvSpPr/>
          <p:nvPr/>
        </p:nvSpPr>
        <p:spPr>
          <a:xfrm>
            <a:off x="16025425" y="9458740"/>
            <a:ext cx="1100526"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6B6A65"/>
                </a:solidFill>
                <a:latin typeface="Courier New" pitchFamily="34" charset="0"/>
                <a:ea typeface="Courier New" pitchFamily="34" charset="-122"/>
                <a:cs typeface="Courier New" pitchFamily="34" charset="-120"/>
              </a:rPr>
              <a:t>08 / 15</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3141A"/>
        </a:solidFill>
        <a:effectLst/>
      </p:bgPr>
    </p:bg>
    <p:spTree>
      <p:nvGrpSpPr>
        <p:cNvPr id="1" name=""/>
        <p:cNvGrpSpPr/>
        <p:nvPr/>
      </p:nvGrpSpPr>
      <p:grpSpPr>
        <a:xfrm>
          <a:off x="0" y="0"/>
          <a:ext cx="0" cy="0"/>
          <a:chOff x="0" y="0"/>
          <a:chExt cx="0" cy="0"/>
        </a:xfrm>
      </p:grpSpPr>
      <p:sp>
        <p:nvSpPr>
          <p:cNvPr id="2" name="Text 0"/>
          <p:cNvSpPr/>
          <p:nvPr/>
        </p:nvSpPr>
        <p:spPr>
          <a:xfrm>
            <a:off x="1238250" y="1047750"/>
            <a:ext cx="5169839"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F4F0E6">
                    <a:alpha val="50000"/>
                  </a:srgbClr>
                </a:solidFill>
                <a:latin typeface="Courier New" pitchFamily="34" charset="0"/>
                <a:ea typeface="Courier New" pitchFamily="34" charset="-122"/>
                <a:cs typeface="Courier New" pitchFamily="34" charset="-120"/>
              </a:rPr>
              <a:t>WORKFLOW · AI PROCESSING PIPELINE</a:t>
            </a:r>
            <a:endParaRPr lang="en-US" sz="1800" dirty="0"/>
          </a:p>
        </p:txBody>
      </p:sp>
      <p:sp>
        <p:nvSpPr>
          <p:cNvPr id="3" name="Text 1"/>
          <p:cNvSpPr/>
          <p:nvPr/>
        </p:nvSpPr>
        <p:spPr>
          <a:xfrm>
            <a:off x="16757012" y="1047750"/>
            <a:ext cx="368938"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F4F0E6">
                    <a:alpha val="50000"/>
                  </a:srgbClr>
                </a:solidFill>
                <a:latin typeface="Courier New" pitchFamily="34" charset="0"/>
                <a:ea typeface="Courier New" pitchFamily="34" charset="-122"/>
                <a:cs typeface="Courier New" pitchFamily="34" charset="-120"/>
              </a:rPr>
              <a:t>09</a:t>
            </a:r>
            <a:endParaRPr lang="en-US" sz="1800" dirty="0"/>
          </a:p>
        </p:txBody>
      </p:sp>
      <p:sp>
        <p:nvSpPr>
          <p:cNvPr id="4" name="Text 2"/>
          <p:cNvSpPr/>
          <p:nvPr/>
        </p:nvSpPr>
        <p:spPr>
          <a:xfrm>
            <a:off x="1238250" y="1304511"/>
            <a:ext cx="16285845" cy="1843709"/>
          </a:xfrm>
          <a:prstGeom prst="rect">
            <a:avLst/>
          </a:prstGeom>
          <a:noFill/>
          <a:ln/>
        </p:spPr>
        <p:txBody>
          <a:bodyPr wrap="square" lIns="25400" tIns="25400" rIns="25400" bIns="25400" rtlCol="0" anchor="t">
            <a:normAutofit/>
          </a:bodyPr>
          <a:lstStyle/>
          <a:p>
            <a:pPr marL="0" indent="0" algn="l">
              <a:lnSpc>
                <a:spcPct val="98000"/>
              </a:lnSpc>
              <a:buNone/>
            </a:pPr>
            <a:r>
              <a:rPr lang="en-US" sz="7200" kern="0" spc="-252" dirty="0">
                <a:solidFill>
                  <a:srgbClr val="F4F0E6"/>
                </a:solidFill>
                <a:latin typeface="Arial" pitchFamily="34" charset="0"/>
                <a:ea typeface="Arial" pitchFamily="34" charset="-122"/>
                <a:cs typeface="Arial" pitchFamily="34" charset="-120"/>
              </a:rPr>
              <a:t>Từ arXiv đến</a:t>
            </a:r>
            <a:r>
              <a:rPr lang="en-US" sz="7200" i="1" kern="0" spc="-252" dirty="0">
                <a:solidFill>
                  <a:srgbClr val="F4F0E6"/>
                </a:solidFill>
                <a:latin typeface="Georgia" pitchFamily="34" charset="0"/>
                <a:ea typeface="Georgia" pitchFamily="34" charset="-122"/>
                <a:cs typeface="Georgia" pitchFamily="34" charset="-120"/>
              </a:rPr>
              <a:t>thông báo </a:t>
            </a:r>
            <a:r>
              <a:rPr lang="en-US" sz="7200" kern="0" spc="-252" dirty="0">
                <a:solidFill>
                  <a:srgbClr val="F4F0E6"/>
                </a:solidFill>
                <a:latin typeface="Arial" pitchFamily="34" charset="0"/>
                <a:ea typeface="Arial" pitchFamily="34" charset="-122"/>
                <a:cs typeface="Arial" pitchFamily="34" charset="-120"/>
              </a:rPr>
              <a:t>— trong một dòng chảy.</a:t>
            </a:r>
            <a:endParaRPr lang="en-US" sz="7200" dirty="0"/>
          </a:p>
        </p:txBody>
      </p:sp>
      <p:pic>
        <p:nvPicPr>
          <p:cNvPr id="5" name="Image 0" descr="preencoded.png"/>
          <p:cNvPicPr>
            <a:picLocks noChangeAspect="1"/>
          </p:cNvPicPr>
          <p:nvPr/>
        </p:nvPicPr>
        <p:blipFill>
          <a:blip r:embed="rId3"/>
          <a:stretch>
            <a:fillRect/>
          </a:stretch>
        </p:blipFill>
        <p:spPr>
          <a:xfrm>
            <a:off x="1238250" y="4467432"/>
            <a:ext cx="15811500" cy="3348245"/>
          </a:xfrm>
          <a:prstGeom prst="rect">
            <a:avLst/>
          </a:prstGeom>
        </p:spPr>
      </p:pic>
      <p:sp>
        <p:nvSpPr>
          <p:cNvPr id="6" name="Text 3"/>
          <p:cNvSpPr/>
          <p:nvPr/>
        </p:nvSpPr>
        <p:spPr>
          <a:xfrm>
            <a:off x="1238250" y="8982490"/>
            <a:ext cx="7545347" cy="294861"/>
          </a:xfrm>
          <a:prstGeom prst="rect">
            <a:avLst/>
          </a:prstGeom>
          <a:noFill/>
          <a:ln/>
        </p:spPr>
        <p:txBody>
          <a:bodyPr wrap="square" lIns="25400" tIns="25400" rIns="25400" bIns="25400" rtlCol="0" anchor="t">
            <a:normAutofit/>
          </a:bodyPr>
          <a:lstStyle/>
          <a:p>
            <a:pPr marL="0" indent="0" algn="l">
              <a:buNone/>
            </a:pPr>
            <a:r>
              <a:rPr lang="en-US" sz="1800" kern="0" spc="-12" dirty="0">
                <a:solidFill>
                  <a:srgbClr val="F4F0E6">
                    <a:alpha val="55000"/>
                  </a:srgbClr>
                </a:solidFill>
                <a:latin typeface="Courier New" pitchFamily="34" charset="0"/>
                <a:ea typeface="Courier New" pitchFamily="34" charset="-122"/>
                <a:cs typeface="Courier New" pitchFamily="34" charset="-120"/>
              </a:rPr>
              <a:t>REQUIRES_NEW transaction · 1 paper = 1 unit of failure</a:t>
            </a:r>
            <a:endParaRPr lang="en-US" sz="1800" dirty="0"/>
          </a:p>
        </p:txBody>
      </p:sp>
      <p:sp>
        <p:nvSpPr>
          <p:cNvPr id="7" name="Text 4"/>
          <p:cNvSpPr/>
          <p:nvPr/>
        </p:nvSpPr>
        <p:spPr>
          <a:xfrm>
            <a:off x="8944830" y="8982490"/>
            <a:ext cx="211957" cy="294861"/>
          </a:xfrm>
          <a:prstGeom prst="rect">
            <a:avLst/>
          </a:prstGeom>
          <a:noFill/>
          <a:ln/>
        </p:spPr>
        <p:txBody>
          <a:bodyPr wrap="square" lIns="25400" tIns="25400" rIns="25400" bIns="25400" rtlCol="0" anchor="t">
            <a:normAutofit/>
          </a:bodyPr>
          <a:lstStyle/>
          <a:p>
            <a:pPr marL="0" indent="0" algn="l">
              <a:buNone/>
            </a:pPr>
            <a:r>
              <a:rPr lang="en-US" sz="1800" kern="0" spc="-12" dirty="0">
                <a:solidFill>
                  <a:srgbClr val="F4F0E6">
                    <a:alpha val="55000"/>
                  </a:srgbClr>
                </a:solidFill>
                <a:latin typeface="Courier New" pitchFamily="34" charset="0"/>
                <a:ea typeface="Courier New" pitchFamily="34" charset="-122"/>
                <a:cs typeface="Courier New" pitchFamily="34" charset="-120"/>
              </a:rPr>
              <a:t>·</a:t>
            </a:r>
            <a:endParaRPr lang="en-US" sz="1800" dirty="0"/>
          </a:p>
        </p:txBody>
      </p:sp>
      <p:sp>
        <p:nvSpPr>
          <p:cNvPr id="8" name="Text 5"/>
          <p:cNvSpPr/>
          <p:nvPr/>
        </p:nvSpPr>
        <p:spPr>
          <a:xfrm>
            <a:off x="9461586" y="8982490"/>
            <a:ext cx="4331660" cy="294861"/>
          </a:xfrm>
          <a:prstGeom prst="rect">
            <a:avLst/>
          </a:prstGeom>
          <a:noFill/>
          <a:ln/>
        </p:spPr>
        <p:txBody>
          <a:bodyPr wrap="square" lIns="25400" tIns="25400" rIns="25400" bIns="25400" rtlCol="0" anchor="t">
            <a:normAutofit/>
          </a:bodyPr>
          <a:lstStyle/>
          <a:p>
            <a:pPr marL="0" indent="0" algn="l">
              <a:buNone/>
            </a:pPr>
            <a:r>
              <a:rPr lang="en-US" sz="1800" kern="0" spc="-12" dirty="0">
                <a:solidFill>
                  <a:srgbClr val="F4F0E6">
                    <a:alpha val="55000"/>
                  </a:srgbClr>
                </a:solidFill>
                <a:latin typeface="Courier New" pitchFamily="34" charset="0"/>
                <a:ea typeface="Courier New" pitchFamily="34" charset="-122"/>
                <a:cs typeface="Courier New" pitchFamily="34" charset="-120"/>
              </a:rPr>
              <a:t>Free-tier rate limits respected</a:t>
            </a:r>
            <a:endParaRPr lang="en-US" sz="1800" dirty="0"/>
          </a:p>
        </p:txBody>
      </p:sp>
      <p:sp>
        <p:nvSpPr>
          <p:cNvPr id="9" name="Text 6"/>
          <p:cNvSpPr/>
          <p:nvPr/>
        </p:nvSpPr>
        <p:spPr>
          <a:xfrm>
            <a:off x="1238250" y="9458740"/>
            <a:ext cx="4069462"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F4F0E6">
                    <a:alpha val="45000"/>
                  </a:srgbClr>
                </a:solidFill>
                <a:latin typeface="Courier New" pitchFamily="34" charset="0"/>
                <a:ea typeface="Courier New" pitchFamily="34" charset="-122"/>
                <a:cs typeface="Courier New" pitchFamily="34" charset="-120"/>
              </a:rPr>
              <a:t>09 — AI PROCESSING WORKFLOW</a:t>
            </a:r>
            <a:endParaRPr lang="en-US" sz="1800" dirty="0"/>
          </a:p>
        </p:txBody>
      </p:sp>
      <p:sp>
        <p:nvSpPr>
          <p:cNvPr id="10" name="Text 7"/>
          <p:cNvSpPr/>
          <p:nvPr/>
        </p:nvSpPr>
        <p:spPr>
          <a:xfrm>
            <a:off x="16025425" y="9458740"/>
            <a:ext cx="1100526"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F4F0E6">
                    <a:alpha val="45000"/>
                  </a:srgbClr>
                </a:solidFill>
                <a:latin typeface="Courier New" pitchFamily="34" charset="0"/>
                <a:ea typeface="Courier New" pitchFamily="34" charset="-122"/>
                <a:cs typeface="Courier New" pitchFamily="34" charset="-120"/>
              </a:rPr>
              <a:t>09 / 15</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3141A"/>
        </a:solidFill>
        <a:effectLst/>
      </p:bgPr>
    </p:bg>
    <p:spTree>
      <p:nvGrpSpPr>
        <p:cNvPr id="1" name=""/>
        <p:cNvGrpSpPr/>
        <p:nvPr/>
      </p:nvGrpSpPr>
      <p:grpSpPr>
        <a:xfrm>
          <a:off x="0" y="0"/>
          <a:ext cx="0" cy="0"/>
          <a:chOff x="0" y="0"/>
          <a:chExt cx="0" cy="0"/>
        </a:xfrm>
      </p:grpSpPr>
      <p:sp>
        <p:nvSpPr>
          <p:cNvPr id="2" name="Text 0"/>
          <p:cNvSpPr/>
          <p:nvPr/>
        </p:nvSpPr>
        <p:spPr>
          <a:xfrm>
            <a:off x="1238250" y="1047750"/>
            <a:ext cx="5471226"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F4F0E6">
                    <a:alpha val="50000"/>
                  </a:srgbClr>
                </a:solidFill>
                <a:latin typeface="Courier New" pitchFamily="34" charset="0"/>
                <a:ea typeface="Courier New" pitchFamily="34" charset="-122"/>
                <a:cs typeface="Courier New" pitchFamily="34" charset="-120"/>
              </a:rPr>
              <a:t>QUYẾT ĐỊNH KỸ THUẬT · KEY DECISIONS</a:t>
            </a:r>
            <a:endParaRPr lang="en-US" sz="1800" dirty="0"/>
          </a:p>
        </p:txBody>
      </p:sp>
      <p:sp>
        <p:nvSpPr>
          <p:cNvPr id="3" name="Text 1"/>
          <p:cNvSpPr/>
          <p:nvPr/>
        </p:nvSpPr>
        <p:spPr>
          <a:xfrm>
            <a:off x="16757012" y="1047750"/>
            <a:ext cx="368938"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F4F0E6">
                    <a:alpha val="50000"/>
                  </a:srgbClr>
                </a:solidFill>
                <a:latin typeface="Courier New" pitchFamily="34" charset="0"/>
                <a:ea typeface="Courier New" pitchFamily="34" charset="-122"/>
                <a:cs typeface="Courier New" pitchFamily="34" charset="-120"/>
              </a:rPr>
              <a:t>10</a:t>
            </a:r>
            <a:endParaRPr lang="en-US" sz="1800" dirty="0"/>
          </a:p>
        </p:txBody>
      </p:sp>
      <p:sp>
        <p:nvSpPr>
          <p:cNvPr id="4" name="Text 2"/>
          <p:cNvSpPr/>
          <p:nvPr/>
        </p:nvSpPr>
        <p:spPr>
          <a:xfrm>
            <a:off x="1238250" y="1304511"/>
            <a:ext cx="12141470" cy="949187"/>
          </a:xfrm>
          <a:prstGeom prst="rect">
            <a:avLst/>
          </a:prstGeom>
          <a:noFill/>
          <a:ln/>
        </p:spPr>
        <p:txBody>
          <a:bodyPr wrap="square" lIns="25400" tIns="25400" rIns="25400" bIns="25400" rtlCol="0" anchor="t">
            <a:normAutofit/>
          </a:bodyPr>
          <a:lstStyle/>
          <a:p>
            <a:pPr marL="0" indent="0" algn="l">
              <a:lnSpc>
                <a:spcPct val="98000"/>
              </a:lnSpc>
              <a:buNone/>
            </a:pPr>
            <a:r>
              <a:rPr lang="en-US" sz="7200" kern="0" spc="-252" dirty="0">
                <a:solidFill>
                  <a:srgbClr val="F4F0E6"/>
                </a:solidFill>
                <a:latin typeface="Arial" pitchFamily="34" charset="0"/>
                <a:ea typeface="Arial" pitchFamily="34" charset="-122"/>
                <a:cs typeface="Arial" pitchFamily="34" charset="-120"/>
              </a:rPr>
              <a:t>5 quyết định </a:t>
            </a:r>
            <a:r>
              <a:rPr lang="en-US" sz="7200" i="1" kern="0" spc="-252" dirty="0">
                <a:solidFill>
                  <a:srgbClr val="F4F0E6"/>
                </a:solidFill>
                <a:latin typeface="Georgia" pitchFamily="34" charset="0"/>
                <a:ea typeface="Georgia" pitchFamily="34" charset="-122"/>
                <a:cs typeface="Georgia" pitchFamily="34" charset="-120"/>
              </a:rPr>
              <a:t>kỹ thuật quan trọng.</a:t>
            </a:r>
            <a:endParaRPr lang="en-US" sz="7200" dirty="0"/>
          </a:p>
        </p:txBody>
      </p:sp>
      <p:sp>
        <p:nvSpPr>
          <p:cNvPr id="5" name="Shape 3"/>
          <p:cNvSpPr/>
          <p:nvPr/>
        </p:nvSpPr>
        <p:spPr>
          <a:xfrm>
            <a:off x="1238250" y="2691848"/>
            <a:ext cx="7772452" cy="2004650"/>
          </a:xfrm>
          <a:prstGeom prst="roundRect">
            <a:avLst>
              <a:gd name="adj" fmla="val 8553"/>
            </a:avLst>
          </a:prstGeom>
          <a:solidFill>
            <a:srgbClr val="FFFFFF">
              <a:alpha val="4000"/>
            </a:srgbClr>
          </a:solidFill>
          <a:ln w="8283">
            <a:solidFill>
              <a:srgbClr val="FFFFFF">
                <a:alpha val="10000"/>
              </a:srgbClr>
            </a:solidFill>
            <a:prstDash val="solid"/>
          </a:ln>
        </p:spPr>
        <p:txBody>
          <a:bodyPr/>
          <a:lstStyle/>
          <a:p>
            <a:endParaRPr lang="en-VN"/>
          </a:p>
        </p:txBody>
      </p:sp>
      <p:sp>
        <p:nvSpPr>
          <p:cNvPr id="6" name="Text 4"/>
          <p:cNvSpPr/>
          <p:nvPr/>
        </p:nvSpPr>
        <p:spPr>
          <a:xfrm>
            <a:off x="1589355" y="3042953"/>
            <a:ext cx="356644" cy="452230"/>
          </a:xfrm>
          <a:prstGeom prst="rect">
            <a:avLst/>
          </a:prstGeom>
          <a:noFill/>
          <a:ln/>
        </p:spPr>
        <p:txBody>
          <a:bodyPr wrap="square" lIns="25400" tIns="25400" rIns="25400" bIns="25400" rtlCol="0" anchor="t">
            <a:normAutofit/>
          </a:bodyPr>
          <a:lstStyle/>
          <a:p>
            <a:pPr marL="0" indent="0" algn="l">
              <a:lnSpc>
                <a:spcPct val="100000"/>
              </a:lnSpc>
              <a:buNone/>
            </a:pPr>
            <a:r>
              <a:rPr lang="en-US" sz="3300" i="1" kern="0" spc="-66" dirty="0">
                <a:solidFill>
                  <a:srgbClr val="294792"/>
                </a:solidFill>
                <a:latin typeface="Georgia" pitchFamily="34" charset="0"/>
                <a:ea typeface="Georgia" pitchFamily="34" charset="-122"/>
                <a:cs typeface="Georgia" pitchFamily="34" charset="-120"/>
              </a:rPr>
              <a:t>01</a:t>
            </a:r>
            <a:endParaRPr lang="en-US" sz="3300" dirty="0"/>
          </a:p>
        </p:txBody>
      </p:sp>
      <p:sp>
        <p:nvSpPr>
          <p:cNvPr id="7" name="Text 5"/>
          <p:cNvSpPr/>
          <p:nvPr/>
        </p:nvSpPr>
        <p:spPr>
          <a:xfrm>
            <a:off x="2060299" y="3042953"/>
            <a:ext cx="4882448" cy="361122"/>
          </a:xfrm>
          <a:prstGeom prst="rect">
            <a:avLst/>
          </a:prstGeom>
          <a:noFill/>
          <a:ln/>
        </p:spPr>
        <p:txBody>
          <a:bodyPr wrap="square" lIns="25400" tIns="25400" rIns="25400" bIns="25400" rtlCol="0" anchor="t">
            <a:normAutofit/>
          </a:bodyPr>
          <a:lstStyle/>
          <a:p>
            <a:pPr marL="0" indent="0" algn="l">
              <a:buNone/>
            </a:pPr>
            <a:r>
              <a:rPr lang="en-US" sz="1950" b="1" kern="0" spc="-12" dirty="0">
                <a:solidFill>
                  <a:srgbClr val="F4F0E6"/>
                </a:solidFill>
                <a:latin typeface="Arial" pitchFamily="34" charset="0"/>
                <a:ea typeface="Arial" pitchFamily="34" charset="-122"/>
                <a:cs typeface="Arial" pitchFamily="34" charset="-120"/>
              </a:rPr>
              <a:t>VectorUserType thay AttributeConverter</a:t>
            </a:r>
            <a:endParaRPr lang="en-US" sz="1950" dirty="0"/>
          </a:p>
        </p:txBody>
      </p:sp>
      <p:sp>
        <p:nvSpPr>
          <p:cNvPr id="8" name="Text 6"/>
          <p:cNvSpPr/>
          <p:nvPr/>
        </p:nvSpPr>
        <p:spPr>
          <a:xfrm>
            <a:off x="2060299" y="3423047"/>
            <a:ext cx="4882448" cy="651013"/>
          </a:xfrm>
          <a:prstGeom prst="rect">
            <a:avLst/>
          </a:prstGeom>
          <a:noFill/>
          <a:ln/>
        </p:spPr>
        <p:txBody>
          <a:bodyPr wrap="square" lIns="25400" tIns="25400" rIns="25400" bIns="25400" rtlCol="0" anchor="t">
            <a:normAutofit/>
          </a:bodyPr>
          <a:lstStyle/>
          <a:p>
            <a:pPr marL="0" indent="0" algn="l">
              <a:lnSpc>
                <a:spcPct val="150000"/>
              </a:lnSpc>
              <a:buNone/>
            </a:pPr>
            <a:r>
              <a:rPr lang="en-US" sz="1650" kern="0" spc="-12" dirty="0">
                <a:solidFill>
                  <a:srgbClr val="DC5050">
                    <a:alpha val="80000"/>
                  </a:srgbClr>
                </a:solidFill>
                <a:latin typeface="Arial" pitchFamily="34" charset="0"/>
                <a:ea typeface="Arial" pitchFamily="34" charset="-122"/>
                <a:cs typeface="Arial" pitchFamily="34" charset="-120"/>
              </a:rPr>
              <a:t>✗ </a:t>
            </a:r>
            <a:r>
              <a:rPr lang="en-US" sz="1650" kern="0" spc="-12" dirty="0">
                <a:solidFill>
                  <a:srgbClr val="F4F0E6">
                    <a:alpha val="60000"/>
                  </a:srgbClr>
                </a:solidFill>
                <a:latin typeface="Arial" pitchFamily="34" charset="0"/>
                <a:ea typeface="Arial" pitchFamily="34" charset="-122"/>
                <a:cs typeface="Arial" pitchFamily="34" charset="-120"/>
              </a:rPr>
              <a:t>setString() → PostgreSQL type mismatch </a:t>
            </a:r>
            <a:r>
              <a:rPr lang="en-US" sz="1650" kern="0" spc="-12" dirty="0">
                <a:solidFill>
                  <a:srgbClr val="41815A"/>
                </a:solidFill>
                <a:latin typeface="Arial" pitchFamily="34" charset="0"/>
                <a:ea typeface="Arial" pitchFamily="34" charset="-122"/>
                <a:cs typeface="Arial" pitchFamily="34" charset="-120"/>
              </a:rPr>
              <a:t>✓ </a:t>
            </a:r>
            <a:r>
              <a:rPr lang="en-US" sz="1650" kern="0" spc="-12" dirty="0">
                <a:solidFill>
                  <a:srgbClr val="F4F0E6">
                    <a:alpha val="60000"/>
                  </a:srgbClr>
                </a:solidFill>
                <a:latin typeface="Arial" pitchFamily="34" charset="0"/>
                <a:ea typeface="Arial" pitchFamily="34" charset="-122"/>
                <a:cs typeface="Arial" pitchFamily="34" charset="-120"/>
              </a:rPr>
              <a:t>PGobject.type="vector" → đúng OID, không lỗi</a:t>
            </a:r>
            <a:endParaRPr lang="en-US" sz="1650" dirty="0"/>
          </a:p>
        </p:txBody>
      </p:sp>
      <p:sp>
        <p:nvSpPr>
          <p:cNvPr id="9" name="Shape 7"/>
          <p:cNvSpPr/>
          <p:nvPr/>
        </p:nvSpPr>
        <p:spPr>
          <a:xfrm>
            <a:off x="9277299" y="2691848"/>
            <a:ext cx="7772452" cy="2004650"/>
          </a:xfrm>
          <a:prstGeom prst="roundRect">
            <a:avLst>
              <a:gd name="adj" fmla="val 8553"/>
            </a:avLst>
          </a:prstGeom>
          <a:solidFill>
            <a:srgbClr val="FFFFFF">
              <a:alpha val="4000"/>
            </a:srgbClr>
          </a:solidFill>
          <a:ln w="8283">
            <a:solidFill>
              <a:srgbClr val="FFFFFF">
                <a:alpha val="10000"/>
              </a:srgbClr>
            </a:solidFill>
            <a:prstDash val="solid"/>
          </a:ln>
        </p:spPr>
        <p:txBody>
          <a:bodyPr/>
          <a:lstStyle/>
          <a:p>
            <a:endParaRPr lang="en-VN"/>
          </a:p>
        </p:txBody>
      </p:sp>
      <p:sp>
        <p:nvSpPr>
          <p:cNvPr id="10" name="Text 8"/>
          <p:cNvSpPr/>
          <p:nvPr/>
        </p:nvSpPr>
        <p:spPr>
          <a:xfrm>
            <a:off x="9628404" y="3042953"/>
            <a:ext cx="416952" cy="452230"/>
          </a:xfrm>
          <a:prstGeom prst="rect">
            <a:avLst/>
          </a:prstGeom>
          <a:noFill/>
          <a:ln/>
        </p:spPr>
        <p:txBody>
          <a:bodyPr wrap="square" lIns="25400" tIns="25400" rIns="25400" bIns="25400" rtlCol="0" anchor="t">
            <a:normAutofit/>
          </a:bodyPr>
          <a:lstStyle/>
          <a:p>
            <a:pPr marL="0" indent="0" algn="l">
              <a:lnSpc>
                <a:spcPct val="100000"/>
              </a:lnSpc>
              <a:buNone/>
            </a:pPr>
            <a:r>
              <a:rPr lang="en-US" sz="3300" i="1" kern="0" spc="-66" dirty="0">
                <a:solidFill>
                  <a:srgbClr val="294792"/>
                </a:solidFill>
                <a:latin typeface="Georgia" pitchFamily="34" charset="0"/>
                <a:ea typeface="Georgia" pitchFamily="34" charset="-122"/>
                <a:cs typeface="Georgia" pitchFamily="34" charset="-120"/>
              </a:rPr>
              <a:t>02</a:t>
            </a:r>
            <a:endParaRPr lang="en-US" sz="3300" dirty="0"/>
          </a:p>
        </p:txBody>
      </p:sp>
      <p:sp>
        <p:nvSpPr>
          <p:cNvPr id="11" name="Text 9"/>
          <p:cNvSpPr/>
          <p:nvPr/>
        </p:nvSpPr>
        <p:spPr>
          <a:xfrm>
            <a:off x="10159655" y="3042953"/>
            <a:ext cx="5347126" cy="361122"/>
          </a:xfrm>
          <a:prstGeom prst="rect">
            <a:avLst/>
          </a:prstGeom>
          <a:noFill/>
          <a:ln/>
        </p:spPr>
        <p:txBody>
          <a:bodyPr wrap="square" lIns="25400" tIns="25400" rIns="25400" bIns="25400" rtlCol="0" anchor="t">
            <a:normAutofit/>
          </a:bodyPr>
          <a:lstStyle/>
          <a:p>
            <a:pPr marL="0" indent="0" algn="l">
              <a:buNone/>
            </a:pPr>
            <a:r>
              <a:rPr lang="en-US" sz="1950" b="1" kern="0" spc="-12" dirty="0">
                <a:solidFill>
                  <a:srgbClr val="F4F0E6"/>
                </a:solidFill>
                <a:latin typeface="Arial" pitchFamily="34" charset="0"/>
                <a:ea typeface="Arial" pitchFamily="34" charset="-122"/>
                <a:cs typeface="Arial" pitchFamily="34" charset="-120"/>
              </a:rPr>
              <a:t>Manual Mapper thay MapStruct</a:t>
            </a:r>
            <a:endParaRPr lang="en-US" sz="1950" dirty="0"/>
          </a:p>
        </p:txBody>
      </p:sp>
      <p:sp>
        <p:nvSpPr>
          <p:cNvPr id="12" name="Text 10"/>
          <p:cNvSpPr/>
          <p:nvPr/>
        </p:nvSpPr>
        <p:spPr>
          <a:xfrm>
            <a:off x="10159655" y="3423047"/>
            <a:ext cx="5347126" cy="651013"/>
          </a:xfrm>
          <a:prstGeom prst="rect">
            <a:avLst/>
          </a:prstGeom>
          <a:noFill/>
          <a:ln/>
        </p:spPr>
        <p:txBody>
          <a:bodyPr wrap="square" lIns="25400" tIns="25400" rIns="25400" bIns="25400" rtlCol="0" anchor="t">
            <a:normAutofit/>
          </a:bodyPr>
          <a:lstStyle/>
          <a:p>
            <a:pPr marL="0" indent="0" algn="l">
              <a:lnSpc>
                <a:spcPct val="150000"/>
              </a:lnSpc>
              <a:buNone/>
            </a:pPr>
            <a:r>
              <a:rPr lang="en-US" sz="1650" kern="0" spc="-12" dirty="0">
                <a:solidFill>
                  <a:srgbClr val="DC5050">
                    <a:alpha val="80000"/>
                  </a:srgbClr>
                </a:solidFill>
                <a:latin typeface="Arial" pitchFamily="34" charset="0"/>
                <a:ea typeface="Arial" pitchFamily="34" charset="-122"/>
                <a:cs typeface="Arial" pitchFamily="34" charset="-120"/>
              </a:rPr>
              <a:t>✗ </a:t>
            </a:r>
            <a:r>
              <a:rPr lang="en-US" sz="1650" kern="0" spc="-12" dirty="0">
                <a:solidFill>
                  <a:srgbClr val="F4F0E6">
                    <a:alpha val="60000"/>
                  </a:srgbClr>
                </a:solidFill>
                <a:latin typeface="Arial" pitchFamily="34" charset="0"/>
                <a:ea typeface="Arial" pitchFamily="34" charset="-122"/>
                <a:cs typeface="Arial" pitchFamily="34" charset="-120"/>
              </a:rPr>
              <a:t>Spring Boot 4.x component scan conflict </a:t>
            </a:r>
            <a:r>
              <a:rPr lang="en-US" sz="1650" kern="0" spc="-12" dirty="0">
                <a:solidFill>
                  <a:srgbClr val="41815A"/>
                </a:solidFill>
                <a:latin typeface="Arial" pitchFamily="34" charset="0"/>
                <a:ea typeface="Arial" pitchFamily="34" charset="-122"/>
                <a:cs typeface="Arial" pitchFamily="34" charset="-120"/>
              </a:rPr>
              <a:t>✓ </a:t>
            </a:r>
            <a:r>
              <a:rPr lang="en-US" sz="1650" kern="0" spc="-12" dirty="0">
                <a:solidFill>
                  <a:srgbClr val="F4F0E6">
                    <a:alpha val="60000"/>
                  </a:srgbClr>
                </a:solidFill>
                <a:latin typeface="Arial" pitchFamily="34" charset="0"/>
                <a:ea typeface="Arial" pitchFamily="34" charset="-122"/>
                <a:cs typeface="Arial" pitchFamily="34" charset="-120"/>
              </a:rPr>
              <a:t>@Component manual mapper — kiểm soát hoàn toàn</a:t>
            </a:r>
            <a:endParaRPr lang="en-US" sz="1650" dirty="0"/>
          </a:p>
        </p:txBody>
      </p:sp>
      <p:sp>
        <p:nvSpPr>
          <p:cNvPr id="13" name="Shape 11"/>
          <p:cNvSpPr/>
          <p:nvPr/>
        </p:nvSpPr>
        <p:spPr>
          <a:xfrm>
            <a:off x="1238250" y="4963095"/>
            <a:ext cx="7772452" cy="2004650"/>
          </a:xfrm>
          <a:prstGeom prst="roundRect">
            <a:avLst>
              <a:gd name="adj" fmla="val 8553"/>
            </a:avLst>
          </a:prstGeom>
          <a:solidFill>
            <a:srgbClr val="FFFFFF">
              <a:alpha val="4000"/>
            </a:srgbClr>
          </a:solidFill>
          <a:ln w="8283">
            <a:solidFill>
              <a:srgbClr val="FFFFFF">
                <a:alpha val="10000"/>
              </a:srgbClr>
            </a:solidFill>
            <a:prstDash val="solid"/>
          </a:ln>
        </p:spPr>
        <p:txBody>
          <a:bodyPr/>
          <a:lstStyle/>
          <a:p>
            <a:endParaRPr lang="en-VN"/>
          </a:p>
        </p:txBody>
      </p:sp>
      <p:sp>
        <p:nvSpPr>
          <p:cNvPr id="14" name="Text 12"/>
          <p:cNvSpPr/>
          <p:nvPr/>
        </p:nvSpPr>
        <p:spPr>
          <a:xfrm>
            <a:off x="1589355" y="5314199"/>
            <a:ext cx="409057" cy="452230"/>
          </a:xfrm>
          <a:prstGeom prst="rect">
            <a:avLst/>
          </a:prstGeom>
          <a:noFill/>
          <a:ln/>
        </p:spPr>
        <p:txBody>
          <a:bodyPr wrap="square" lIns="25400" tIns="25400" rIns="25400" bIns="25400" rtlCol="0" anchor="t">
            <a:normAutofit/>
          </a:bodyPr>
          <a:lstStyle/>
          <a:p>
            <a:pPr marL="0" indent="0" algn="l">
              <a:lnSpc>
                <a:spcPct val="100000"/>
              </a:lnSpc>
              <a:buNone/>
            </a:pPr>
            <a:r>
              <a:rPr lang="en-US" sz="3300" i="1" kern="0" spc="-66" dirty="0">
                <a:solidFill>
                  <a:srgbClr val="294792"/>
                </a:solidFill>
                <a:latin typeface="Georgia" pitchFamily="34" charset="0"/>
                <a:ea typeface="Georgia" pitchFamily="34" charset="-122"/>
                <a:cs typeface="Georgia" pitchFamily="34" charset="-120"/>
              </a:rPr>
              <a:t>03</a:t>
            </a:r>
            <a:endParaRPr lang="en-US" sz="3300" dirty="0"/>
          </a:p>
        </p:txBody>
      </p:sp>
      <p:sp>
        <p:nvSpPr>
          <p:cNvPr id="15" name="Text 13"/>
          <p:cNvSpPr/>
          <p:nvPr/>
        </p:nvSpPr>
        <p:spPr>
          <a:xfrm>
            <a:off x="2112712" y="5314199"/>
            <a:ext cx="3846054" cy="361122"/>
          </a:xfrm>
          <a:prstGeom prst="rect">
            <a:avLst/>
          </a:prstGeom>
          <a:noFill/>
          <a:ln/>
        </p:spPr>
        <p:txBody>
          <a:bodyPr wrap="square" lIns="25400" tIns="25400" rIns="25400" bIns="25400" rtlCol="0" anchor="t">
            <a:normAutofit/>
          </a:bodyPr>
          <a:lstStyle/>
          <a:p>
            <a:pPr marL="0" indent="0" algn="l">
              <a:buNone/>
            </a:pPr>
            <a:r>
              <a:rPr lang="en-US" sz="1950" b="1" kern="0" spc="-12" dirty="0">
                <a:solidFill>
                  <a:srgbClr val="F4F0E6"/>
                </a:solidFill>
                <a:latin typeface="Arial" pitchFamily="34" charset="0"/>
                <a:ea typeface="Arial" pitchFamily="34" charset="-122"/>
                <a:cs typeface="Arial" pitchFamily="34" charset="-120"/>
              </a:rPr>
              <a:t>arXiv delay 350ms → 1500ms</a:t>
            </a:r>
            <a:endParaRPr lang="en-US" sz="1950" dirty="0"/>
          </a:p>
        </p:txBody>
      </p:sp>
      <p:sp>
        <p:nvSpPr>
          <p:cNvPr id="16" name="Text 14"/>
          <p:cNvSpPr/>
          <p:nvPr/>
        </p:nvSpPr>
        <p:spPr>
          <a:xfrm>
            <a:off x="2112712" y="5694294"/>
            <a:ext cx="3846054" cy="651013"/>
          </a:xfrm>
          <a:prstGeom prst="rect">
            <a:avLst/>
          </a:prstGeom>
          <a:noFill/>
          <a:ln/>
        </p:spPr>
        <p:txBody>
          <a:bodyPr wrap="square" lIns="25400" tIns="25400" rIns="25400" bIns="25400" rtlCol="0" anchor="t">
            <a:normAutofit/>
          </a:bodyPr>
          <a:lstStyle/>
          <a:p>
            <a:pPr marL="0" indent="0" algn="l">
              <a:lnSpc>
                <a:spcPct val="150000"/>
              </a:lnSpc>
              <a:buNone/>
            </a:pPr>
            <a:r>
              <a:rPr lang="en-US" sz="1650" kern="0" spc="-12" dirty="0">
                <a:solidFill>
                  <a:srgbClr val="DC5050">
                    <a:alpha val="80000"/>
                  </a:srgbClr>
                </a:solidFill>
                <a:latin typeface="Arial" pitchFamily="34" charset="0"/>
                <a:ea typeface="Arial" pitchFamily="34" charset="-122"/>
                <a:cs typeface="Arial" pitchFamily="34" charset="-120"/>
              </a:rPr>
              <a:t>✗ </a:t>
            </a:r>
            <a:r>
              <a:rPr lang="en-US" sz="1650" kern="0" spc="-12" dirty="0">
                <a:solidFill>
                  <a:srgbClr val="F4F0E6">
                    <a:alpha val="60000"/>
                  </a:srgbClr>
                </a:solidFill>
                <a:latin typeface="Arial" pitchFamily="34" charset="0"/>
                <a:ea typeface="Arial" pitchFamily="34" charset="-122"/>
                <a:cs typeface="Arial" pitchFamily="34" charset="-120"/>
              </a:rPr>
              <a:t>350ms → HTTP 429 trên Railway logs </a:t>
            </a:r>
            <a:r>
              <a:rPr lang="en-US" sz="1650" kern="0" spc="-12" dirty="0">
                <a:solidFill>
                  <a:srgbClr val="41815A"/>
                </a:solidFill>
                <a:latin typeface="Arial" pitchFamily="34" charset="0"/>
                <a:ea typeface="Arial" pitchFamily="34" charset="-122"/>
                <a:cs typeface="Arial" pitchFamily="34" charset="-120"/>
              </a:rPr>
              <a:t>✓ </a:t>
            </a:r>
            <a:r>
              <a:rPr lang="en-US" sz="1650" kern="0" spc="-12" dirty="0">
                <a:solidFill>
                  <a:srgbClr val="F4F0E6">
                    <a:alpha val="60000"/>
                  </a:srgbClr>
                </a:solidFill>
                <a:latin typeface="Arial" pitchFamily="34" charset="0"/>
                <a:ea typeface="Arial" pitchFamily="34" charset="-122"/>
                <a:cs typeface="Arial" pitchFamily="34" charset="-120"/>
              </a:rPr>
              <a:t>1500ms — không còn rate limit error</a:t>
            </a:r>
            <a:endParaRPr lang="en-US" sz="1650" dirty="0"/>
          </a:p>
        </p:txBody>
      </p:sp>
      <p:sp>
        <p:nvSpPr>
          <p:cNvPr id="17" name="Shape 15"/>
          <p:cNvSpPr/>
          <p:nvPr/>
        </p:nvSpPr>
        <p:spPr>
          <a:xfrm>
            <a:off x="9277299" y="4963095"/>
            <a:ext cx="7772452" cy="2004650"/>
          </a:xfrm>
          <a:prstGeom prst="roundRect">
            <a:avLst>
              <a:gd name="adj" fmla="val 8553"/>
            </a:avLst>
          </a:prstGeom>
          <a:solidFill>
            <a:srgbClr val="FFFFFF">
              <a:alpha val="4000"/>
            </a:srgbClr>
          </a:solidFill>
          <a:ln w="8283">
            <a:solidFill>
              <a:srgbClr val="FFFFFF">
                <a:alpha val="10000"/>
              </a:srgbClr>
            </a:solidFill>
            <a:prstDash val="solid"/>
          </a:ln>
        </p:spPr>
        <p:txBody>
          <a:bodyPr/>
          <a:lstStyle/>
          <a:p>
            <a:endParaRPr lang="en-VN"/>
          </a:p>
        </p:txBody>
      </p:sp>
      <p:sp>
        <p:nvSpPr>
          <p:cNvPr id="18" name="Text 16"/>
          <p:cNvSpPr/>
          <p:nvPr/>
        </p:nvSpPr>
        <p:spPr>
          <a:xfrm>
            <a:off x="9628404" y="5314199"/>
            <a:ext cx="417858" cy="452230"/>
          </a:xfrm>
          <a:prstGeom prst="rect">
            <a:avLst/>
          </a:prstGeom>
          <a:noFill/>
          <a:ln/>
        </p:spPr>
        <p:txBody>
          <a:bodyPr wrap="square" lIns="25400" tIns="25400" rIns="25400" bIns="25400" rtlCol="0" anchor="t">
            <a:normAutofit/>
          </a:bodyPr>
          <a:lstStyle/>
          <a:p>
            <a:pPr marL="0" indent="0" algn="l">
              <a:lnSpc>
                <a:spcPct val="100000"/>
              </a:lnSpc>
              <a:buNone/>
            </a:pPr>
            <a:r>
              <a:rPr lang="en-US" sz="3300" i="1" kern="0" spc="-66" dirty="0">
                <a:solidFill>
                  <a:srgbClr val="294792"/>
                </a:solidFill>
                <a:latin typeface="Georgia" pitchFamily="34" charset="0"/>
                <a:ea typeface="Georgia" pitchFamily="34" charset="-122"/>
                <a:cs typeface="Georgia" pitchFamily="34" charset="-120"/>
              </a:rPr>
              <a:t>04</a:t>
            </a:r>
            <a:endParaRPr lang="en-US" sz="3300" dirty="0"/>
          </a:p>
        </p:txBody>
      </p:sp>
      <p:sp>
        <p:nvSpPr>
          <p:cNvPr id="19" name="Text 17"/>
          <p:cNvSpPr/>
          <p:nvPr/>
        </p:nvSpPr>
        <p:spPr>
          <a:xfrm>
            <a:off x="10160561" y="5314199"/>
            <a:ext cx="5240220" cy="361122"/>
          </a:xfrm>
          <a:prstGeom prst="rect">
            <a:avLst/>
          </a:prstGeom>
          <a:noFill/>
          <a:ln/>
        </p:spPr>
        <p:txBody>
          <a:bodyPr wrap="square" lIns="25400" tIns="25400" rIns="25400" bIns="25400" rtlCol="0" anchor="t">
            <a:normAutofit/>
          </a:bodyPr>
          <a:lstStyle/>
          <a:p>
            <a:pPr marL="0" indent="0" algn="l">
              <a:buNone/>
            </a:pPr>
            <a:r>
              <a:rPr lang="en-US" sz="1950" b="1" kern="0" spc="-12" dirty="0">
                <a:solidFill>
                  <a:srgbClr val="F4F0E6"/>
                </a:solidFill>
                <a:latin typeface="Arial" pitchFamily="34" charset="0"/>
                <a:ea typeface="Arial" pitchFamily="34" charset="-122"/>
                <a:cs typeface="Arial" pitchFamily="34" charset="-120"/>
              </a:rPr>
              <a:t>BAAI/bge thay all-MiniLM-L6-v2</a:t>
            </a:r>
            <a:endParaRPr lang="en-US" sz="1950" dirty="0"/>
          </a:p>
        </p:txBody>
      </p:sp>
      <p:sp>
        <p:nvSpPr>
          <p:cNvPr id="20" name="Text 18"/>
          <p:cNvSpPr/>
          <p:nvPr/>
        </p:nvSpPr>
        <p:spPr>
          <a:xfrm>
            <a:off x="10160561" y="5694294"/>
            <a:ext cx="5240220" cy="651013"/>
          </a:xfrm>
          <a:prstGeom prst="rect">
            <a:avLst/>
          </a:prstGeom>
          <a:noFill/>
          <a:ln/>
        </p:spPr>
        <p:txBody>
          <a:bodyPr wrap="square" lIns="25400" tIns="25400" rIns="25400" bIns="25400" rtlCol="0" anchor="t">
            <a:normAutofit/>
          </a:bodyPr>
          <a:lstStyle/>
          <a:p>
            <a:pPr marL="0" indent="0" algn="l">
              <a:lnSpc>
                <a:spcPct val="150000"/>
              </a:lnSpc>
              <a:buNone/>
            </a:pPr>
            <a:r>
              <a:rPr lang="en-US" sz="1650" kern="0" spc="-12" dirty="0">
                <a:solidFill>
                  <a:srgbClr val="DC5050">
                    <a:alpha val="80000"/>
                  </a:srgbClr>
                </a:solidFill>
                <a:latin typeface="Arial" pitchFamily="34" charset="0"/>
                <a:ea typeface="Arial" pitchFamily="34" charset="-122"/>
                <a:cs typeface="Arial" pitchFamily="34" charset="-120"/>
              </a:rPr>
              <a:t>✗ </a:t>
            </a:r>
            <a:r>
              <a:rPr lang="en-US" sz="1650" kern="0" spc="-12" dirty="0">
                <a:solidFill>
                  <a:srgbClr val="F4F0E6">
                    <a:alpha val="60000"/>
                  </a:srgbClr>
                </a:solidFill>
                <a:latin typeface="Arial" pitchFamily="34" charset="0"/>
                <a:ea typeface="Arial" pitchFamily="34" charset="-122"/>
                <a:cs typeface="Arial" pitchFamily="34" charset="-120"/>
              </a:rPr>
              <a:t>HF phân loại sai pipeline (sentence-similarity) </a:t>
            </a:r>
            <a:r>
              <a:rPr lang="en-US" sz="1650" kern="0" spc="-12" dirty="0">
                <a:solidFill>
                  <a:srgbClr val="41815A"/>
                </a:solidFill>
                <a:latin typeface="Arial" pitchFamily="34" charset="0"/>
                <a:ea typeface="Arial" pitchFamily="34" charset="-122"/>
                <a:cs typeface="Arial" pitchFamily="34" charset="-120"/>
              </a:rPr>
              <a:t>✓ </a:t>
            </a:r>
            <a:r>
              <a:rPr lang="en-US" sz="1650" kern="0" spc="-12" dirty="0">
                <a:solidFill>
                  <a:srgbClr val="F4F0E6">
                    <a:alpha val="60000"/>
                  </a:srgbClr>
                </a:solidFill>
                <a:latin typeface="Arial" pitchFamily="34" charset="0"/>
                <a:ea typeface="Arial" pitchFamily="34" charset="-122"/>
                <a:cs typeface="Arial" pitchFamily="34" charset="-120"/>
              </a:rPr>
              <a:t>feature-extraction, cùng 384 dims, không đổi schema</a:t>
            </a:r>
            <a:endParaRPr lang="en-US" sz="1650" dirty="0"/>
          </a:p>
        </p:txBody>
      </p:sp>
      <p:sp>
        <p:nvSpPr>
          <p:cNvPr id="21" name="Shape 19"/>
          <p:cNvSpPr/>
          <p:nvPr/>
        </p:nvSpPr>
        <p:spPr>
          <a:xfrm>
            <a:off x="1238250" y="7234342"/>
            <a:ext cx="15811500" cy="2004650"/>
          </a:xfrm>
          <a:prstGeom prst="roundRect">
            <a:avLst>
              <a:gd name="adj" fmla="val 8553"/>
            </a:avLst>
          </a:prstGeom>
          <a:solidFill>
            <a:srgbClr val="FFFFFF">
              <a:alpha val="4000"/>
            </a:srgbClr>
          </a:solidFill>
          <a:ln w="8283">
            <a:solidFill>
              <a:srgbClr val="FFFFFF">
                <a:alpha val="10000"/>
              </a:srgbClr>
            </a:solidFill>
            <a:prstDash val="solid"/>
          </a:ln>
        </p:spPr>
        <p:txBody>
          <a:bodyPr/>
          <a:lstStyle/>
          <a:p>
            <a:endParaRPr lang="en-VN"/>
          </a:p>
        </p:txBody>
      </p:sp>
      <p:sp>
        <p:nvSpPr>
          <p:cNvPr id="22" name="Text 20"/>
          <p:cNvSpPr/>
          <p:nvPr/>
        </p:nvSpPr>
        <p:spPr>
          <a:xfrm>
            <a:off x="1589355" y="7874820"/>
            <a:ext cx="414881" cy="452230"/>
          </a:xfrm>
          <a:prstGeom prst="rect">
            <a:avLst/>
          </a:prstGeom>
          <a:noFill/>
          <a:ln/>
        </p:spPr>
        <p:txBody>
          <a:bodyPr wrap="square" lIns="25400" tIns="25400" rIns="25400" bIns="25400" rtlCol="0" anchor="t">
            <a:normAutofit/>
          </a:bodyPr>
          <a:lstStyle/>
          <a:p>
            <a:pPr marL="0" indent="0" algn="l">
              <a:lnSpc>
                <a:spcPct val="100000"/>
              </a:lnSpc>
              <a:buNone/>
            </a:pPr>
            <a:r>
              <a:rPr lang="en-US" sz="3300" i="1" kern="0" spc="-66" dirty="0">
                <a:solidFill>
                  <a:srgbClr val="294792"/>
                </a:solidFill>
                <a:latin typeface="Georgia" pitchFamily="34" charset="0"/>
                <a:ea typeface="Georgia" pitchFamily="34" charset="-122"/>
                <a:cs typeface="Georgia" pitchFamily="34" charset="-120"/>
              </a:rPr>
              <a:t>05</a:t>
            </a:r>
            <a:endParaRPr lang="en-US" sz="3300" dirty="0"/>
          </a:p>
        </p:txBody>
      </p:sp>
      <p:sp>
        <p:nvSpPr>
          <p:cNvPr id="23" name="Text 21"/>
          <p:cNvSpPr/>
          <p:nvPr/>
        </p:nvSpPr>
        <p:spPr>
          <a:xfrm>
            <a:off x="2118536" y="7585446"/>
            <a:ext cx="15017513" cy="361122"/>
          </a:xfrm>
          <a:prstGeom prst="rect">
            <a:avLst/>
          </a:prstGeom>
          <a:noFill/>
          <a:ln/>
        </p:spPr>
        <p:txBody>
          <a:bodyPr wrap="square" lIns="25400" tIns="25400" rIns="25400" bIns="25400" rtlCol="0" anchor="t">
            <a:normAutofit/>
          </a:bodyPr>
          <a:lstStyle/>
          <a:p>
            <a:pPr marL="0" indent="0" algn="l">
              <a:buNone/>
            </a:pPr>
            <a:r>
              <a:rPr lang="en-US" sz="1950" b="1" kern="0" spc="-12" dirty="0">
                <a:solidFill>
                  <a:srgbClr val="F4F0E6"/>
                </a:solidFill>
                <a:latin typeface="Arial" pitchFamily="34" charset="0"/>
                <a:ea typeface="Arial" pitchFamily="34" charset="-122"/>
                <a:cs typeface="Arial" pitchFamily="34" charset="-120"/>
              </a:rPr>
              <a:t>REQUIRES_NEW per paper — Transaction isolation</a:t>
            </a:r>
            <a:endParaRPr lang="en-US" sz="1950" dirty="0"/>
          </a:p>
        </p:txBody>
      </p:sp>
      <p:sp>
        <p:nvSpPr>
          <p:cNvPr id="24" name="Text 22"/>
          <p:cNvSpPr/>
          <p:nvPr/>
        </p:nvSpPr>
        <p:spPr>
          <a:xfrm>
            <a:off x="2118536" y="7965541"/>
            <a:ext cx="15017513" cy="651013"/>
          </a:xfrm>
          <a:prstGeom prst="rect">
            <a:avLst/>
          </a:prstGeom>
          <a:noFill/>
          <a:ln/>
        </p:spPr>
        <p:txBody>
          <a:bodyPr wrap="square" lIns="25400" tIns="25400" rIns="25400" bIns="25400" rtlCol="0" anchor="t">
            <a:normAutofit/>
          </a:bodyPr>
          <a:lstStyle/>
          <a:p>
            <a:pPr marL="0" indent="0" algn="l">
              <a:lnSpc>
                <a:spcPct val="150000"/>
              </a:lnSpc>
              <a:buNone/>
            </a:pPr>
            <a:r>
              <a:rPr lang="en-US" sz="1650" kern="0" spc="-12" dirty="0">
                <a:solidFill>
                  <a:srgbClr val="DC5050">
                    <a:alpha val="80000"/>
                  </a:srgbClr>
                </a:solidFill>
                <a:latin typeface="Arial" pitchFamily="34" charset="0"/>
                <a:ea typeface="Arial" pitchFamily="34" charset="-122"/>
                <a:cs typeface="Arial" pitchFamily="34" charset="-120"/>
              </a:rPr>
              <a:t>✗ </a:t>
            </a:r>
            <a:r>
              <a:rPr lang="en-US" sz="1650" kern="0" spc="-12" dirty="0">
                <a:solidFill>
                  <a:srgbClr val="F4F0E6">
                    <a:alpha val="60000"/>
                  </a:srgbClr>
                </a:solidFill>
                <a:latin typeface="Arial" pitchFamily="34" charset="0"/>
                <a:ea typeface="Arial" pitchFamily="34" charset="-122"/>
                <a:cs typeface="Arial" pitchFamily="34" charset="-120"/>
              </a:rPr>
              <a:t>Outer @Transactional → lỗi 1 paper rollback toàn batch · HikariCP pool exhaustion (max 20 conn) </a:t>
            </a:r>
            <a:r>
              <a:rPr lang="en-US" sz="1650" kern="0" spc="-12" dirty="0">
                <a:solidFill>
                  <a:srgbClr val="41815A"/>
                </a:solidFill>
                <a:latin typeface="Arial" pitchFamily="34" charset="0"/>
                <a:ea typeface="Arial" pitchFamily="34" charset="-122"/>
                <a:cs typeface="Arial" pitchFamily="34" charset="-120"/>
              </a:rPr>
              <a:t>✓ </a:t>
            </a:r>
            <a:r>
              <a:rPr lang="en-US" sz="1650" kern="0" spc="-12" dirty="0">
                <a:solidFill>
                  <a:srgbClr val="F4F0E6">
                    <a:alpha val="60000"/>
                  </a:srgbClr>
                </a:solidFill>
                <a:latin typeface="Arial" pitchFamily="34" charset="0"/>
                <a:ea typeface="Arial" pitchFamily="34" charset="-122"/>
                <a:cs typeface="Arial" pitchFamily="34" charset="-120"/>
              </a:rPr>
              <a:t>REQUIRES_NEW: mỗi paper 1 transaction độc lập, outer không có @Transactional</a:t>
            </a:r>
            <a:endParaRPr lang="en-US" sz="1650" dirty="0"/>
          </a:p>
        </p:txBody>
      </p:sp>
      <p:sp>
        <p:nvSpPr>
          <p:cNvPr id="25" name="Text 23"/>
          <p:cNvSpPr/>
          <p:nvPr/>
        </p:nvSpPr>
        <p:spPr>
          <a:xfrm>
            <a:off x="1238250" y="9458740"/>
            <a:ext cx="4220089"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F4F0E6">
                    <a:alpha val="45000"/>
                  </a:srgbClr>
                </a:solidFill>
                <a:latin typeface="Courier New" pitchFamily="34" charset="0"/>
                <a:ea typeface="Courier New" pitchFamily="34" charset="-122"/>
                <a:cs typeface="Courier New" pitchFamily="34" charset="-120"/>
              </a:rPr>
              <a:t>10 — KEY TECHNICAL DECISIONS</a:t>
            </a:r>
            <a:endParaRPr lang="en-US" sz="1800" dirty="0"/>
          </a:p>
        </p:txBody>
      </p:sp>
      <p:sp>
        <p:nvSpPr>
          <p:cNvPr id="26" name="Text 24"/>
          <p:cNvSpPr/>
          <p:nvPr/>
        </p:nvSpPr>
        <p:spPr>
          <a:xfrm>
            <a:off x="16025425" y="9458740"/>
            <a:ext cx="1100526"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F4F0E6">
                    <a:alpha val="45000"/>
                  </a:srgbClr>
                </a:solidFill>
                <a:latin typeface="Courier New" pitchFamily="34" charset="0"/>
                <a:ea typeface="Courier New" pitchFamily="34" charset="-122"/>
                <a:cs typeface="Courier New" pitchFamily="34" charset="-120"/>
              </a:rPr>
              <a:t>10 / 15</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0E6"/>
        </a:solidFill>
        <a:effectLst/>
      </p:bgPr>
    </p:bg>
    <p:spTree>
      <p:nvGrpSpPr>
        <p:cNvPr id="1" name=""/>
        <p:cNvGrpSpPr/>
        <p:nvPr/>
      </p:nvGrpSpPr>
      <p:grpSpPr>
        <a:xfrm>
          <a:off x="0" y="0"/>
          <a:ext cx="0" cy="0"/>
          <a:chOff x="0" y="0"/>
          <a:chExt cx="0" cy="0"/>
        </a:xfrm>
      </p:grpSpPr>
      <p:sp>
        <p:nvSpPr>
          <p:cNvPr id="2" name="Text 0"/>
          <p:cNvSpPr/>
          <p:nvPr/>
        </p:nvSpPr>
        <p:spPr>
          <a:xfrm>
            <a:off x="1238250" y="1047750"/>
            <a:ext cx="2909101"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6B6A65"/>
                </a:solidFill>
                <a:latin typeface="Courier New" pitchFamily="34" charset="0"/>
                <a:ea typeface="Courier New" pitchFamily="34" charset="-122"/>
                <a:cs typeface="Courier New" pitchFamily="34" charset="-120"/>
              </a:rPr>
              <a:t>DEMO · LIVE SYSTEM</a:t>
            </a:r>
            <a:endParaRPr lang="en-US" sz="1800" dirty="0"/>
          </a:p>
        </p:txBody>
      </p:sp>
      <p:sp>
        <p:nvSpPr>
          <p:cNvPr id="3" name="Text 1"/>
          <p:cNvSpPr/>
          <p:nvPr/>
        </p:nvSpPr>
        <p:spPr>
          <a:xfrm>
            <a:off x="16757012" y="1047750"/>
            <a:ext cx="368938"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6B6A65"/>
                </a:solidFill>
                <a:latin typeface="Courier New" pitchFamily="34" charset="0"/>
                <a:ea typeface="Courier New" pitchFamily="34" charset="-122"/>
                <a:cs typeface="Courier New" pitchFamily="34" charset="-120"/>
              </a:rPr>
              <a:t>11</a:t>
            </a:r>
            <a:endParaRPr lang="en-US" sz="1800" dirty="0"/>
          </a:p>
        </p:txBody>
      </p:sp>
      <p:sp>
        <p:nvSpPr>
          <p:cNvPr id="4" name="Text 2"/>
          <p:cNvSpPr/>
          <p:nvPr/>
        </p:nvSpPr>
        <p:spPr>
          <a:xfrm>
            <a:off x="1238250" y="1304511"/>
            <a:ext cx="9965909" cy="949187"/>
          </a:xfrm>
          <a:prstGeom prst="rect">
            <a:avLst/>
          </a:prstGeom>
          <a:noFill/>
          <a:ln/>
        </p:spPr>
        <p:txBody>
          <a:bodyPr wrap="square" lIns="25400" tIns="25400" rIns="25400" bIns="25400" rtlCol="0" anchor="t">
            <a:normAutofit/>
          </a:bodyPr>
          <a:lstStyle/>
          <a:p>
            <a:pPr marL="0" indent="0" algn="l">
              <a:lnSpc>
                <a:spcPct val="98000"/>
              </a:lnSpc>
              <a:buNone/>
            </a:pPr>
            <a:r>
              <a:rPr lang="en-US" sz="7200" kern="0" spc="-252" dirty="0">
                <a:solidFill>
                  <a:srgbClr val="13141A"/>
                </a:solidFill>
                <a:latin typeface="Arial" pitchFamily="34" charset="0"/>
                <a:ea typeface="Arial" pitchFamily="34" charset="-122"/>
                <a:cs typeface="Arial" pitchFamily="34" charset="-120"/>
              </a:rPr>
              <a:t>Hệ thống </a:t>
            </a:r>
            <a:r>
              <a:rPr lang="en-US" sz="7200" i="1" kern="0" spc="-252" dirty="0">
                <a:solidFill>
                  <a:srgbClr val="13141A"/>
                </a:solidFill>
                <a:latin typeface="Georgia" pitchFamily="34" charset="0"/>
                <a:ea typeface="Georgia" pitchFamily="34" charset="-122"/>
                <a:cs typeface="Georgia" pitchFamily="34" charset="-120"/>
              </a:rPr>
              <a:t>hoạt động thực tế.</a:t>
            </a:r>
            <a:endParaRPr lang="en-US" sz="7200" dirty="0"/>
          </a:p>
        </p:txBody>
      </p:sp>
      <p:sp>
        <p:nvSpPr>
          <p:cNvPr id="5" name="Text 3"/>
          <p:cNvSpPr/>
          <p:nvPr/>
        </p:nvSpPr>
        <p:spPr>
          <a:xfrm>
            <a:off x="1238250" y="2787098"/>
            <a:ext cx="7907518" cy="294861"/>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6B6A65"/>
                </a:solidFill>
                <a:latin typeface="Courier New" pitchFamily="34" charset="0"/>
                <a:ea typeface="Courier New" pitchFamily="34" charset="-122"/>
                <a:cs typeface="Courier New" pitchFamily="34" charset="-120"/>
              </a:rPr>
              <a:t>DEPLOYED &amp; LIVE</a:t>
            </a:r>
            <a:endParaRPr lang="en-US" sz="1800" dirty="0"/>
          </a:p>
        </p:txBody>
      </p:sp>
      <p:sp>
        <p:nvSpPr>
          <p:cNvPr id="6" name="Shape 4"/>
          <p:cNvSpPr/>
          <p:nvPr/>
        </p:nvSpPr>
        <p:spPr>
          <a:xfrm>
            <a:off x="1238250" y="3310455"/>
            <a:ext cx="7677202" cy="1461492"/>
          </a:xfrm>
          <a:prstGeom prst="roundRect">
            <a:avLst>
              <a:gd name="adj" fmla="val 10428"/>
            </a:avLst>
          </a:prstGeom>
          <a:solidFill>
            <a:srgbClr val="FBF8F0"/>
          </a:solidFill>
          <a:ln w="8283">
            <a:solidFill>
              <a:srgbClr val="13141A">
                <a:alpha val="12000"/>
              </a:srgbClr>
            </a:solidFill>
            <a:prstDash val="solid"/>
          </a:ln>
        </p:spPr>
        <p:txBody>
          <a:bodyPr/>
          <a:lstStyle/>
          <a:p>
            <a:endParaRPr lang="en-VN"/>
          </a:p>
        </p:txBody>
      </p:sp>
      <p:sp>
        <p:nvSpPr>
          <p:cNvPr id="7" name="Text 5"/>
          <p:cNvSpPr/>
          <p:nvPr/>
        </p:nvSpPr>
        <p:spPr>
          <a:xfrm>
            <a:off x="1551307" y="3585334"/>
            <a:ext cx="7262621" cy="253448"/>
          </a:xfrm>
          <a:prstGeom prst="rect">
            <a:avLst/>
          </a:prstGeom>
          <a:noFill/>
          <a:ln/>
        </p:spPr>
        <p:txBody>
          <a:bodyPr wrap="square" lIns="25400" tIns="25400" rIns="25400" bIns="25400" rtlCol="0" anchor="t">
            <a:normAutofit/>
          </a:bodyPr>
          <a:lstStyle/>
          <a:p>
            <a:pPr marL="0" indent="0" algn="l">
              <a:buNone/>
            </a:pPr>
            <a:r>
              <a:rPr lang="en-US" sz="1500" kern="0" spc="90" dirty="0">
                <a:solidFill>
                  <a:srgbClr val="6B6A65"/>
                </a:solidFill>
                <a:latin typeface="Courier New" pitchFamily="34" charset="0"/>
                <a:ea typeface="Courier New" pitchFamily="34" charset="-122"/>
                <a:cs typeface="Courier New" pitchFamily="34" charset="-120"/>
              </a:rPr>
              <a:t>FRONTEND · VERCEL</a:t>
            </a:r>
            <a:endParaRPr lang="en-US" sz="1500" dirty="0"/>
          </a:p>
        </p:txBody>
      </p:sp>
      <p:sp>
        <p:nvSpPr>
          <p:cNvPr id="8" name="Text 6"/>
          <p:cNvSpPr/>
          <p:nvPr/>
        </p:nvSpPr>
        <p:spPr>
          <a:xfrm>
            <a:off x="1551307" y="3876779"/>
            <a:ext cx="7262621" cy="361122"/>
          </a:xfrm>
          <a:prstGeom prst="rect">
            <a:avLst/>
          </a:prstGeom>
          <a:noFill/>
          <a:ln/>
        </p:spPr>
        <p:txBody>
          <a:bodyPr wrap="square" lIns="25400" tIns="25400" rIns="25400" bIns="25400" rtlCol="0" anchor="t">
            <a:normAutofit/>
          </a:bodyPr>
          <a:lstStyle/>
          <a:p>
            <a:pPr marL="0" indent="0" algn="l">
              <a:buNone/>
            </a:pPr>
            <a:r>
              <a:rPr lang="en-US" sz="1950" kern="0" spc="-12" dirty="0">
                <a:solidFill>
                  <a:srgbClr val="13141A"/>
                </a:solidFill>
                <a:latin typeface="Arial" pitchFamily="34" charset="0"/>
                <a:ea typeface="Arial" pitchFamily="34" charset="-122"/>
                <a:cs typeface="Arial" pitchFamily="34" charset="-120"/>
              </a:rPr>
              <a:t>scholarslate.vercel.app</a:t>
            </a:r>
            <a:endParaRPr lang="en-US" sz="1950" dirty="0"/>
          </a:p>
        </p:txBody>
      </p:sp>
      <p:sp>
        <p:nvSpPr>
          <p:cNvPr id="9" name="Text 7"/>
          <p:cNvSpPr/>
          <p:nvPr/>
        </p:nvSpPr>
        <p:spPr>
          <a:xfrm>
            <a:off x="1551307" y="4256873"/>
            <a:ext cx="7262621" cy="278296"/>
          </a:xfrm>
          <a:prstGeom prst="rect">
            <a:avLst/>
          </a:prstGeom>
          <a:noFill/>
          <a:ln/>
        </p:spPr>
        <p:txBody>
          <a:bodyPr wrap="square" lIns="25400" tIns="25400" rIns="25400" bIns="25400" rtlCol="0" anchor="t">
            <a:normAutofit/>
          </a:bodyPr>
          <a:lstStyle/>
          <a:p>
            <a:pPr marL="0" indent="0" algn="l">
              <a:buNone/>
            </a:pPr>
            <a:r>
              <a:rPr lang="en-US" sz="1650" kern="0" spc="-12" dirty="0">
                <a:solidFill>
                  <a:srgbClr val="6B6A65"/>
                </a:solidFill>
                <a:latin typeface="Arial" pitchFamily="34" charset="0"/>
                <a:ea typeface="Arial" pitchFamily="34" charset="-122"/>
                <a:cs typeface="Arial" pitchFamily="34" charset="-120"/>
              </a:rPr>
              <a:t>React 19 · BrowserRouter · SPA</a:t>
            </a:r>
            <a:endParaRPr lang="en-US" sz="1650" dirty="0"/>
          </a:p>
        </p:txBody>
      </p:sp>
      <p:sp>
        <p:nvSpPr>
          <p:cNvPr id="10" name="Shape 8"/>
          <p:cNvSpPr/>
          <p:nvPr/>
        </p:nvSpPr>
        <p:spPr>
          <a:xfrm>
            <a:off x="1238250" y="4924270"/>
            <a:ext cx="7677202" cy="1461492"/>
          </a:xfrm>
          <a:prstGeom prst="roundRect">
            <a:avLst>
              <a:gd name="adj" fmla="val 10428"/>
            </a:avLst>
          </a:prstGeom>
          <a:solidFill>
            <a:srgbClr val="FBF8F0"/>
          </a:solidFill>
          <a:ln w="8283">
            <a:solidFill>
              <a:srgbClr val="13141A">
                <a:alpha val="12000"/>
              </a:srgbClr>
            </a:solidFill>
            <a:prstDash val="solid"/>
          </a:ln>
        </p:spPr>
        <p:txBody>
          <a:bodyPr/>
          <a:lstStyle/>
          <a:p>
            <a:endParaRPr lang="en-VN"/>
          </a:p>
        </p:txBody>
      </p:sp>
      <p:sp>
        <p:nvSpPr>
          <p:cNvPr id="11" name="Text 9"/>
          <p:cNvSpPr/>
          <p:nvPr/>
        </p:nvSpPr>
        <p:spPr>
          <a:xfrm>
            <a:off x="1551307" y="5199149"/>
            <a:ext cx="7262621" cy="253448"/>
          </a:xfrm>
          <a:prstGeom prst="rect">
            <a:avLst/>
          </a:prstGeom>
          <a:noFill/>
          <a:ln/>
        </p:spPr>
        <p:txBody>
          <a:bodyPr wrap="square" lIns="25400" tIns="25400" rIns="25400" bIns="25400" rtlCol="0" anchor="t">
            <a:normAutofit/>
          </a:bodyPr>
          <a:lstStyle/>
          <a:p>
            <a:pPr marL="0" indent="0" algn="l">
              <a:buNone/>
            </a:pPr>
            <a:r>
              <a:rPr lang="en-US" sz="1500" kern="0" spc="90" dirty="0">
                <a:solidFill>
                  <a:srgbClr val="6B6A65"/>
                </a:solidFill>
                <a:latin typeface="Courier New" pitchFamily="34" charset="0"/>
                <a:ea typeface="Courier New" pitchFamily="34" charset="-122"/>
                <a:cs typeface="Courier New" pitchFamily="34" charset="-120"/>
              </a:rPr>
              <a:t>BACKEND · RAILWAY</a:t>
            </a:r>
            <a:endParaRPr lang="en-US" sz="1500" dirty="0"/>
          </a:p>
        </p:txBody>
      </p:sp>
      <p:sp>
        <p:nvSpPr>
          <p:cNvPr id="12" name="Text 10"/>
          <p:cNvSpPr/>
          <p:nvPr/>
        </p:nvSpPr>
        <p:spPr>
          <a:xfrm>
            <a:off x="1551307" y="5490593"/>
            <a:ext cx="7262621" cy="361122"/>
          </a:xfrm>
          <a:prstGeom prst="rect">
            <a:avLst/>
          </a:prstGeom>
          <a:noFill/>
          <a:ln/>
        </p:spPr>
        <p:txBody>
          <a:bodyPr wrap="square" lIns="25400" tIns="25400" rIns="25400" bIns="25400" rtlCol="0" anchor="t">
            <a:normAutofit/>
          </a:bodyPr>
          <a:lstStyle/>
          <a:p>
            <a:pPr marL="0" indent="0" algn="l">
              <a:buNone/>
            </a:pPr>
            <a:r>
              <a:rPr lang="en-US" sz="1950" kern="0" spc="-12" dirty="0">
                <a:solidFill>
                  <a:srgbClr val="13141A"/>
                </a:solidFill>
                <a:latin typeface="Arial" pitchFamily="34" charset="0"/>
                <a:ea typeface="Arial" pitchFamily="34" charset="-122"/>
                <a:cs typeface="Arial" pitchFamily="34" charset="-120"/>
              </a:rPr>
              <a:t>scholarslateapp.up.railway.app/api</a:t>
            </a:r>
            <a:endParaRPr lang="en-US" sz="1950" dirty="0"/>
          </a:p>
        </p:txBody>
      </p:sp>
      <p:sp>
        <p:nvSpPr>
          <p:cNvPr id="13" name="Text 11"/>
          <p:cNvSpPr/>
          <p:nvPr/>
        </p:nvSpPr>
        <p:spPr>
          <a:xfrm>
            <a:off x="1551307" y="5870688"/>
            <a:ext cx="7262621" cy="278296"/>
          </a:xfrm>
          <a:prstGeom prst="rect">
            <a:avLst/>
          </a:prstGeom>
          <a:noFill/>
          <a:ln/>
        </p:spPr>
        <p:txBody>
          <a:bodyPr wrap="square" lIns="25400" tIns="25400" rIns="25400" bIns="25400" rtlCol="0" anchor="t">
            <a:normAutofit/>
          </a:bodyPr>
          <a:lstStyle/>
          <a:p>
            <a:pPr marL="0" indent="0" algn="l">
              <a:buNone/>
            </a:pPr>
            <a:r>
              <a:rPr lang="en-US" sz="1650" kern="0" spc="-12" dirty="0">
                <a:solidFill>
                  <a:srgbClr val="6B6A65"/>
                </a:solidFill>
                <a:latin typeface="Arial" pitchFamily="34" charset="0"/>
                <a:ea typeface="Arial" pitchFamily="34" charset="-122"/>
                <a:cs typeface="Arial" pitchFamily="34" charset="-120"/>
              </a:rPr>
              <a:t>Spring Boot · Docker multi-stage</a:t>
            </a:r>
            <a:endParaRPr lang="en-US" sz="1650" dirty="0"/>
          </a:p>
        </p:txBody>
      </p:sp>
      <p:sp>
        <p:nvSpPr>
          <p:cNvPr id="14" name="Shape 12"/>
          <p:cNvSpPr/>
          <p:nvPr/>
        </p:nvSpPr>
        <p:spPr>
          <a:xfrm>
            <a:off x="1238250" y="6538085"/>
            <a:ext cx="7677202" cy="1461492"/>
          </a:xfrm>
          <a:prstGeom prst="roundRect">
            <a:avLst>
              <a:gd name="adj" fmla="val 10428"/>
            </a:avLst>
          </a:prstGeom>
          <a:solidFill>
            <a:srgbClr val="FBF8F0"/>
          </a:solidFill>
          <a:ln w="8283">
            <a:solidFill>
              <a:srgbClr val="13141A">
                <a:alpha val="12000"/>
              </a:srgbClr>
            </a:solidFill>
            <a:prstDash val="solid"/>
          </a:ln>
        </p:spPr>
        <p:txBody>
          <a:bodyPr/>
          <a:lstStyle/>
          <a:p>
            <a:endParaRPr lang="en-VN"/>
          </a:p>
        </p:txBody>
      </p:sp>
      <p:sp>
        <p:nvSpPr>
          <p:cNvPr id="15" name="Text 13"/>
          <p:cNvSpPr/>
          <p:nvPr/>
        </p:nvSpPr>
        <p:spPr>
          <a:xfrm>
            <a:off x="1551307" y="6812964"/>
            <a:ext cx="7262621" cy="253448"/>
          </a:xfrm>
          <a:prstGeom prst="rect">
            <a:avLst/>
          </a:prstGeom>
          <a:noFill/>
          <a:ln/>
        </p:spPr>
        <p:txBody>
          <a:bodyPr wrap="square" lIns="25400" tIns="25400" rIns="25400" bIns="25400" rtlCol="0" anchor="t">
            <a:normAutofit/>
          </a:bodyPr>
          <a:lstStyle/>
          <a:p>
            <a:pPr marL="0" indent="0" algn="l">
              <a:buNone/>
            </a:pPr>
            <a:r>
              <a:rPr lang="en-US" sz="1500" kern="0" spc="90" dirty="0">
                <a:solidFill>
                  <a:srgbClr val="6B6A65"/>
                </a:solidFill>
                <a:latin typeface="Courier New" pitchFamily="34" charset="0"/>
                <a:ea typeface="Courier New" pitchFamily="34" charset="-122"/>
                <a:cs typeface="Courier New" pitchFamily="34" charset="-120"/>
              </a:rPr>
              <a:t>ADMIN ACCOUNT</a:t>
            </a:r>
            <a:endParaRPr lang="en-US" sz="1500" dirty="0"/>
          </a:p>
        </p:txBody>
      </p:sp>
      <p:sp>
        <p:nvSpPr>
          <p:cNvPr id="16" name="Text 14"/>
          <p:cNvSpPr/>
          <p:nvPr/>
        </p:nvSpPr>
        <p:spPr>
          <a:xfrm>
            <a:off x="1551307" y="7104408"/>
            <a:ext cx="7262621" cy="361122"/>
          </a:xfrm>
          <a:prstGeom prst="rect">
            <a:avLst/>
          </a:prstGeom>
          <a:noFill/>
          <a:ln/>
        </p:spPr>
        <p:txBody>
          <a:bodyPr wrap="square" lIns="25400" tIns="25400" rIns="25400" bIns="25400" rtlCol="0" anchor="t">
            <a:normAutofit/>
          </a:bodyPr>
          <a:lstStyle/>
          <a:p>
            <a:pPr marL="0" indent="0" algn="l">
              <a:buNone/>
            </a:pPr>
            <a:r>
              <a:rPr lang="en-US" sz="1950" kern="0" spc="-12" dirty="0">
                <a:solidFill>
                  <a:srgbClr val="13141A"/>
                </a:solidFill>
                <a:latin typeface="Arial" pitchFamily="34" charset="0"/>
                <a:ea typeface="Arial" pitchFamily="34" charset="-122"/>
                <a:cs typeface="Arial" pitchFamily="34" charset="-120"/>
              </a:rPr>
              <a:t>admin@papertracker.local</a:t>
            </a:r>
            <a:endParaRPr lang="en-US" sz="1950" dirty="0"/>
          </a:p>
        </p:txBody>
      </p:sp>
      <p:sp>
        <p:nvSpPr>
          <p:cNvPr id="17" name="Text 15"/>
          <p:cNvSpPr/>
          <p:nvPr/>
        </p:nvSpPr>
        <p:spPr>
          <a:xfrm>
            <a:off x="1551307" y="7484502"/>
            <a:ext cx="7262621" cy="278296"/>
          </a:xfrm>
          <a:prstGeom prst="rect">
            <a:avLst/>
          </a:prstGeom>
          <a:noFill/>
          <a:ln/>
        </p:spPr>
        <p:txBody>
          <a:bodyPr wrap="square" lIns="25400" tIns="25400" rIns="25400" bIns="25400" rtlCol="0" anchor="t">
            <a:normAutofit/>
          </a:bodyPr>
          <a:lstStyle/>
          <a:p>
            <a:pPr marL="0" indent="0" algn="l">
              <a:buNone/>
            </a:pPr>
            <a:r>
              <a:rPr lang="en-US" sz="1650" kern="0" spc="-12" dirty="0">
                <a:solidFill>
                  <a:srgbClr val="6B6A65"/>
                </a:solidFill>
                <a:latin typeface="Arial" pitchFamily="34" charset="0"/>
                <a:ea typeface="Arial" pitchFamily="34" charset="-122"/>
                <a:cs typeface="Arial" pitchFamily="34" charset="-120"/>
              </a:rPr>
              <a:t>Flyway V5 seed · BCrypt password</a:t>
            </a:r>
            <a:endParaRPr lang="en-US" sz="1650" dirty="0"/>
          </a:p>
        </p:txBody>
      </p:sp>
      <p:sp>
        <p:nvSpPr>
          <p:cNvPr id="18" name="Text 16"/>
          <p:cNvSpPr/>
          <p:nvPr/>
        </p:nvSpPr>
        <p:spPr>
          <a:xfrm>
            <a:off x="9372549" y="2787098"/>
            <a:ext cx="7907518" cy="294861"/>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6B6A65"/>
                </a:solidFill>
                <a:latin typeface="Courier New" pitchFamily="34" charset="0"/>
                <a:ea typeface="Courier New" pitchFamily="34" charset="-122"/>
                <a:cs typeface="Courier New" pitchFamily="34" charset="-120"/>
              </a:rPr>
              <a:t>DEMO FLOW ĐỀ XUẤT</a:t>
            </a:r>
            <a:endParaRPr lang="en-US" sz="1800" dirty="0"/>
          </a:p>
        </p:txBody>
      </p:sp>
      <p:sp>
        <p:nvSpPr>
          <p:cNvPr id="19" name="Shape 17"/>
          <p:cNvSpPr/>
          <p:nvPr/>
        </p:nvSpPr>
        <p:spPr>
          <a:xfrm>
            <a:off x="9372549" y="3310455"/>
            <a:ext cx="7677202" cy="831367"/>
          </a:xfrm>
          <a:prstGeom prst="roundRect">
            <a:avLst>
              <a:gd name="adj" fmla="val 13748"/>
            </a:avLst>
          </a:prstGeom>
          <a:ln w="8283">
            <a:solidFill>
              <a:srgbClr val="13141A">
                <a:alpha val="12000"/>
              </a:srgbClr>
            </a:solidFill>
            <a:prstDash val="solid"/>
          </a:ln>
        </p:spPr>
        <p:txBody>
          <a:bodyPr/>
          <a:lstStyle/>
          <a:p>
            <a:endParaRPr lang="en-VN"/>
          </a:p>
        </p:txBody>
      </p:sp>
      <p:sp>
        <p:nvSpPr>
          <p:cNvPr id="20" name="Text 18"/>
          <p:cNvSpPr/>
          <p:nvPr/>
        </p:nvSpPr>
        <p:spPr>
          <a:xfrm>
            <a:off x="9609379" y="3490084"/>
            <a:ext cx="419022" cy="510209"/>
          </a:xfrm>
          <a:prstGeom prst="rect">
            <a:avLst/>
          </a:prstGeom>
          <a:noFill/>
          <a:ln/>
        </p:spPr>
        <p:txBody>
          <a:bodyPr wrap="square" lIns="25400" tIns="25400" rIns="25400" bIns="25400" rtlCol="0" anchor="t">
            <a:normAutofit/>
          </a:bodyPr>
          <a:lstStyle/>
          <a:p>
            <a:pPr marL="0" indent="0" algn="l">
              <a:buNone/>
            </a:pPr>
            <a:r>
              <a:rPr lang="en-US" sz="2850" i="1" kern="0" spc="-57" dirty="0">
                <a:solidFill>
                  <a:srgbClr val="294792"/>
                </a:solidFill>
                <a:latin typeface="Georgia" pitchFamily="34" charset="0"/>
                <a:ea typeface="Georgia" pitchFamily="34" charset="-122"/>
                <a:cs typeface="Georgia" pitchFamily="34" charset="-120"/>
              </a:rPr>
              <a:t>1</a:t>
            </a:r>
            <a:endParaRPr lang="en-US" sz="2850" dirty="0"/>
          </a:p>
        </p:txBody>
      </p:sp>
      <p:sp>
        <p:nvSpPr>
          <p:cNvPr id="21" name="Text 19"/>
          <p:cNvSpPr/>
          <p:nvPr/>
        </p:nvSpPr>
        <p:spPr>
          <a:xfrm>
            <a:off x="10142702" y="3593617"/>
            <a:ext cx="4127180" cy="303143"/>
          </a:xfrm>
          <a:prstGeom prst="rect">
            <a:avLst/>
          </a:prstGeom>
          <a:noFill/>
          <a:ln/>
        </p:spPr>
        <p:txBody>
          <a:bodyPr wrap="square" lIns="25400" tIns="25400" rIns="25400" bIns="25400" rtlCol="0" anchor="t">
            <a:normAutofit/>
          </a:bodyPr>
          <a:lstStyle/>
          <a:p>
            <a:pPr marL="0" indent="0" algn="l">
              <a:buNone/>
            </a:pPr>
            <a:r>
              <a:rPr lang="en-US" sz="1800" kern="0" spc="-12" dirty="0">
                <a:solidFill>
                  <a:srgbClr val="2A2C36"/>
                </a:solidFill>
                <a:latin typeface="Arial" pitchFamily="34" charset="0"/>
                <a:ea typeface="Arial" pitchFamily="34" charset="-122"/>
                <a:cs typeface="Arial" pitchFamily="34" charset="-120"/>
              </a:rPr>
              <a:t>Đăng ký tài khoản → nhận JWT → login</a:t>
            </a:r>
            <a:endParaRPr lang="en-US" sz="1800" dirty="0"/>
          </a:p>
        </p:txBody>
      </p:sp>
      <p:sp>
        <p:nvSpPr>
          <p:cNvPr id="22" name="Shape 20"/>
          <p:cNvSpPr/>
          <p:nvPr/>
        </p:nvSpPr>
        <p:spPr>
          <a:xfrm>
            <a:off x="9372549" y="4275120"/>
            <a:ext cx="7677202" cy="831367"/>
          </a:xfrm>
          <a:prstGeom prst="roundRect">
            <a:avLst>
              <a:gd name="adj" fmla="val 13748"/>
            </a:avLst>
          </a:prstGeom>
          <a:ln w="8283">
            <a:solidFill>
              <a:srgbClr val="13141A">
                <a:alpha val="12000"/>
              </a:srgbClr>
            </a:solidFill>
            <a:prstDash val="solid"/>
          </a:ln>
        </p:spPr>
        <p:txBody>
          <a:bodyPr/>
          <a:lstStyle/>
          <a:p>
            <a:endParaRPr lang="en-VN"/>
          </a:p>
        </p:txBody>
      </p:sp>
      <p:sp>
        <p:nvSpPr>
          <p:cNvPr id="23" name="Text 21"/>
          <p:cNvSpPr/>
          <p:nvPr/>
        </p:nvSpPr>
        <p:spPr>
          <a:xfrm>
            <a:off x="9609379" y="4454750"/>
            <a:ext cx="419022" cy="510209"/>
          </a:xfrm>
          <a:prstGeom prst="rect">
            <a:avLst/>
          </a:prstGeom>
          <a:noFill/>
          <a:ln/>
        </p:spPr>
        <p:txBody>
          <a:bodyPr wrap="square" lIns="25400" tIns="25400" rIns="25400" bIns="25400" rtlCol="0" anchor="t">
            <a:normAutofit/>
          </a:bodyPr>
          <a:lstStyle/>
          <a:p>
            <a:pPr marL="0" indent="0" algn="l">
              <a:buNone/>
            </a:pPr>
            <a:r>
              <a:rPr lang="en-US" sz="2850" i="1" kern="0" spc="-57" dirty="0">
                <a:solidFill>
                  <a:srgbClr val="294792"/>
                </a:solidFill>
                <a:latin typeface="Georgia" pitchFamily="34" charset="0"/>
                <a:ea typeface="Georgia" pitchFamily="34" charset="-122"/>
                <a:cs typeface="Georgia" pitchFamily="34" charset="-120"/>
              </a:rPr>
              <a:t>2</a:t>
            </a:r>
            <a:endParaRPr lang="en-US" sz="2850" dirty="0"/>
          </a:p>
        </p:txBody>
      </p:sp>
      <p:sp>
        <p:nvSpPr>
          <p:cNvPr id="24" name="Text 22"/>
          <p:cNvSpPr/>
          <p:nvPr/>
        </p:nvSpPr>
        <p:spPr>
          <a:xfrm>
            <a:off x="10142702" y="4558282"/>
            <a:ext cx="5348858" cy="303143"/>
          </a:xfrm>
          <a:prstGeom prst="rect">
            <a:avLst/>
          </a:prstGeom>
          <a:noFill/>
          <a:ln/>
        </p:spPr>
        <p:txBody>
          <a:bodyPr wrap="square" lIns="25400" tIns="25400" rIns="25400" bIns="25400" rtlCol="0" anchor="t">
            <a:normAutofit/>
          </a:bodyPr>
          <a:lstStyle/>
          <a:p>
            <a:pPr marL="0" indent="0" algn="l">
              <a:buNone/>
            </a:pPr>
            <a:r>
              <a:rPr lang="en-US" sz="1800" kern="0" spc="-12" dirty="0">
                <a:solidFill>
                  <a:srgbClr val="2A2C36"/>
                </a:solidFill>
                <a:latin typeface="Arial" pitchFamily="34" charset="0"/>
                <a:ea typeface="Arial" pitchFamily="34" charset="-122"/>
                <a:cs typeface="Arial" pitchFamily="34" charset="-120"/>
              </a:rPr>
              <a:t>Tạo Topic "large language model" → trigger pipeline</a:t>
            </a:r>
            <a:endParaRPr lang="en-US" sz="1800" dirty="0"/>
          </a:p>
        </p:txBody>
      </p:sp>
      <p:sp>
        <p:nvSpPr>
          <p:cNvPr id="25" name="Shape 23"/>
          <p:cNvSpPr/>
          <p:nvPr/>
        </p:nvSpPr>
        <p:spPr>
          <a:xfrm>
            <a:off x="9372549" y="5239785"/>
            <a:ext cx="7677202" cy="831367"/>
          </a:xfrm>
          <a:prstGeom prst="roundRect">
            <a:avLst>
              <a:gd name="adj" fmla="val 13748"/>
            </a:avLst>
          </a:prstGeom>
          <a:ln w="8283">
            <a:solidFill>
              <a:srgbClr val="13141A">
                <a:alpha val="12000"/>
              </a:srgbClr>
            </a:solidFill>
            <a:prstDash val="solid"/>
          </a:ln>
        </p:spPr>
        <p:txBody>
          <a:bodyPr/>
          <a:lstStyle/>
          <a:p>
            <a:endParaRPr lang="en-VN"/>
          </a:p>
        </p:txBody>
      </p:sp>
      <p:sp>
        <p:nvSpPr>
          <p:cNvPr id="26" name="Text 24"/>
          <p:cNvSpPr/>
          <p:nvPr/>
        </p:nvSpPr>
        <p:spPr>
          <a:xfrm>
            <a:off x="9609379" y="5419415"/>
            <a:ext cx="419022" cy="510209"/>
          </a:xfrm>
          <a:prstGeom prst="rect">
            <a:avLst/>
          </a:prstGeom>
          <a:noFill/>
          <a:ln/>
        </p:spPr>
        <p:txBody>
          <a:bodyPr wrap="square" lIns="25400" tIns="25400" rIns="25400" bIns="25400" rtlCol="0" anchor="t">
            <a:normAutofit/>
          </a:bodyPr>
          <a:lstStyle/>
          <a:p>
            <a:pPr marL="0" indent="0" algn="l">
              <a:buNone/>
            </a:pPr>
            <a:r>
              <a:rPr lang="en-US" sz="2850" i="1" kern="0" spc="-57" dirty="0">
                <a:solidFill>
                  <a:srgbClr val="294792"/>
                </a:solidFill>
                <a:latin typeface="Georgia" pitchFamily="34" charset="0"/>
                <a:ea typeface="Georgia" pitchFamily="34" charset="-122"/>
                <a:cs typeface="Georgia" pitchFamily="34" charset="-120"/>
              </a:rPr>
              <a:t>3</a:t>
            </a:r>
            <a:endParaRPr lang="en-US" sz="2850" dirty="0"/>
          </a:p>
        </p:txBody>
      </p:sp>
      <p:sp>
        <p:nvSpPr>
          <p:cNvPr id="27" name="Text 25"/>
          <p:cNvSpPr/>
          <p:nvPr/>
        </p:nvSpPr>
        <p:spPr>
          <a:xfrm>
            <a:off x="10142702" y="5522947"/>
            <a:ext cx="4820331" cy="303143"/>
          </a:xfrm>
          <a:prstGeom prst="rect">
            <a:avLst/>
          </a:prstGeom>
          <a:noFill/>
          <a:ln/>
        </p:spPr>
        <p:txBody>
          <a:bodyPr wrap="square" lIns="25400" tIns="25400" rIns="25400" bIns="25400" rtlCol="0" anchor="t">
            <a:normAutofit/>
          </a:bodyPr>
          <a:lstStyle/>
          <a:p>
            <a:pPr marL="0" indent="0" algn="l">
              <a:buNone/>
            </a:pPr>
            <a:r>
              <a:rPr lang="en-US" sz="1800" kern="0" spc="-12" dirty="0">
                <a:solidFill>
                  <a:srgbClr val="2A2C36"/>
                </a:solidFill>
                <a:latin typeface="Arial" pitchFamily="34" charset="0"/>
                <a:ea typeface="Arial" pitchFamily="34" charset="-122"/>
                <a:cs typeface="Arial" pitchFamily="34" charset="-120"/>
              </a:rPr>
              <a:t>Xem paper feed → AI summary + quality score</a:t>
            </a:r>
            <a:endParaRPr lang="en-US" sz="1800" dirty="0"/>
          </a:p>
        </p:txBody>
      </p:sp>
      <p:sp>
        <p:nvSpPr>
          <p:cNvPr id="28" name="Shape 26"/>
          <p:cNvSpPr/>
          <p:nvPr/>
        </p:nvSpPr>
        <p:spPr>
          <a:xfrm>
            <a:off x="9372549" y="6204450"/>
            <a:ext cx="7677202" cy="831367"/>
          </a:xfrm>
          <a:prstGeom prst="roundRect">
            <a:avLst>
              <a:gd name="adj" fmla="val 13748"/>
            </a:avLst>
          </a:prstGeom>
          <a:ln w="8283">
            <a:solidFill>
              <a:srgbClr val="13141A">
                <a:alpha val="12000"/>
              </a:srgbClr>
            </a:solidFill>
            <a:prstDash val="solid"/>
          </a:ln>
        </p:spPr>
        <p:txBody>
          <a:bodyPr/>
          <a:lstStyle/>
          <a:p>
            <a:endParaRPr lang="en-VN"/>
          </a:p>
        </p:txBody>
      </p:sp>
      <p:sp>
        <p:nvSpPr>
          <p:cNvPr id="29" name="Text 27"/>
          <p:cNvSpPr/>
          <p:nvPr/>
        </p:nvSpPr>
        <p:spPr>
          <a:xfrm>
            <a:off x="9609379" y="6384080"/>
            <a:ext cx="419022" cy="510209"/>
          </a:xfrm>
          <a:prstGeom prst="rect">
            <a:avLst/>
          </a:prstGeom>
          <a:noFill/>
          <a:ln/>
        </p:spPr>
        <p:txBody>
          <a:bodyPr wrap="square" lIns="25400" tIns="25400" rIns="25400" bIns="25400" rtlCol="0" anchor="t">
            <a:normAutofit/>
          </a:bodyPr>
          <a:lstStyle/>
          <a:p>
            <a:pPr marL="0" indent="0" algn="l">
              <a:buNone/>
            </a:pPr>
            <a:r>
              <a:rPr lang="en-US" sz="2850" i="1" kern="0" spc="-57" dirty="0">
                <a:solidFill>
                  <a:srgbClr val="294792"/>
                </a:solidFill>
                <a:latin typeface="Georgia" pitchFamily="34" charset="0"/>
                <a:ea typeface="Georgia" pitchFamily="34" charset="-122"/>
                <a:cs typeface="Georgia" pitchFamily="34" charset="-120"/>
              </a:rPr>
              <a:t>4</a:t>
            </a:r>
            <a:endParaRPr lang="en-US" sz="2850" dirty="0"/>
          </a:p>
        </p:txBody>
      </p:sp>
      <p:sp>
        <p:nvSpPr>
          <p:cNvPr id="30" name="Text 28"/>
          <p:cNvSpPr/>
          <p:nvPr/>
        </p:nvSpPr>
        <p:spPr>
          <a:xfrm>
            <a:off x="10142702" y="6487612"/>
            <a:ext cx="5056802" cy="303143"/>
          </a:xfrm>
          <a:prstGeom prst="rect">
            <a:avLst/>
          </a:prstGeom>
          <a:noFill/>
          <a:ln/>
        </p:spPr>
        <p:txBody>
          <a:bodyPr wrap="square" lIns="25400" tIns="25400" rIns="25400" bIns="25400" rtlCol="0" anchor="t">
            <a:normAutofit/>
          </a:bodyPr>
          <a:lstStyle/>
          <a:p>
            <a:pPr marL="0" indent="0" algn="l">
              <a:buNone/>
            </a:pPr>
            <a:r>
              <a:rPr lang="en-US" sz="1800" kern="0" spc="-12" dirty="0">
                <a:solidFill>
                  <a:srgbClr val="2A2C36"/>
                </a:solidFill>
                <a:latin typeface="Arial" pitchFamily="34" charset="0"/>
                <a:ea typeface="Arial" pitchFamily="34" charset="-122"/>
                <a:cs typeface="Arial" pitchFamily="34" charset="-120"/>
              </a:rPr>
              <a:t>Mở chi tiết paper → xem recommendation top-10</a:t>
            </a:r>
            <a:endParaRPr lang="en-US" sz="1800" dirty="0"/>
          </a:p>
        </p:txBody>
      </p:sp>
      <p:sp>
        <p:nvSpPr>
          <p:cNvPr id="31" name="Shape 29"/>
          <p:cNvSpPr/>
          <p:nvPr/>
        </p:nvSpPr>
        <p:spPr>
          <a:xfrm>
            <a:off x="9372549" y="7169116"/>
            <a:ext cx="7677202" cy="831367"/>
          </a:xfrm>
          <a:prstGeom prst="roundRect">
            <a:avLst>
              <a:gd name="adj" fmla="val 13748"/>
            </a:avLst>
          </a:prstGeom>
          <a:ln w="8283">
            <a:solidFill>
              <a:srgbClr val="13141A">
                <a:alpha val="12000"/>
              </a:srgbClr>
            </a:solidFill>
            <a:prstDash val="solid"/>
          </a:ln>
        </p:spPr>
        <p:txBody>
          <a:bodyPr/>
          <a:lstStyle/>
          <a:p>
            <a:endParaRPr lang="en-VN"/>
          </a:p>
        </p:txBody>
      </p:sp>
      <p:sp>
        <p:nvSpPr>
          <p:cNvPr id="32" name="Text 30"/>
          <p:cNvSpPr/>
          <p:nvPr/>
        </p:nvSpPr>
        <p:spPr>
          <a:xfrm>
            <a:off x="9609379" y="7348745"/>
            <a:ext cx="419022" cy="510209"/>
          </a:xfrm>
          <a:prstGeom prst="rect">
            <a:avLst/>
          </a:prstGeom>
          <a:noFill/>
          <a:ln/>
        </p:spPr>
        <p:txBody>
          <a:bodyPr wrap="square" lIns="25400" tIns="25400" rIns="25400" bIns="25400" rtlCol="0" anchor="t">
            <a:normAutofit/>
          </a:bodyPr>
          <a:lstStyle/>
          <a:p>
            <a:pPr marL="0" indent="0" algn="l">
              <a:buNone/>
            </a:pPr>
            <a:r>
              <a:rPr lang="en-US" sz="2850" i="1" kern="0" spc="-57" dirty="0">
                <a:solidFill>
                  <a:srgbClr val="294792"/>
                </a:solidFill>
                <a:latin typeface="Georgia" pitchFamily="34" charset="0"/>
                <a:ea typeface="Georgia" pitchFamily="34" charset="-122"/>
                <a:cs typeface="Georgia" pitchFamily="34" charset="-120"/>
              </a:rPr>
              <a:t>5</a:t>
            </a:r>
            <a:endParaRPr lang="en-US" sz="2850" dirty="0"/>
          </a:p>
        </p:txBody>
      </p:sp>
      <p:sp>
        <p:nvSpPr>
          <p:cNvPr id="33" name="Text 31"/>
          <p:cNvSpPr/>
          <p:nvPr/>
        </p:nvSpPr>
        <p:spPr>
          <a:xfrm>
            <a:off x="10142702" y="7452278"/>
            <a:ext cx="5137714" cy="303143"/>
          </a:xfrm>
          <a:prstGeom prst="rect">
            <a:avLst/>
          </a:prstGeom>
          <a:noFill/>
          <a:ln/>
        </p:spPr>
        <p:txBody>
          <a:bodyPr wrap="square" lIns="25400" tIns="25400" rIns="25400" bIns="25400" rtlCol="0" anchor="t">
            <a:normAutofit/>
          </a:bodyPr>
          <a:lstStyle/>
          <a:p>
            <a:pPr marL="0" indent="0" algn="l">
              <a:buNone/>
            </a:pPr>
            <a:r>
              <a:rPr lang="en-US" sz="1800" kern="0" spc="-12" dirty="0">
                <a:solidFill>
                  <a:srgbClr val="2A2C36"/>
                </a:solidFill>
                <a:latin typeface="Arial" pitchFamily="34" charset="0"/>
                <a:ea typeface="Arial" pitchFamily="34" charset="-122"/>
                <a:cs typeface="Arial" pitchFamily="34" charset="-120"/>
              </a:rPr>
              <a:t>Admin panel → xem FAILED papers → reset retry</a:t>
            </a:r>
            <a:endParaRPr lang="en-US" sz="1800" dirty="0"/>
          </a:p>
        </p:txBody>
      </p:sp>
      <p:sp>
        <p:nvSpPr>
          <p:cNvPr id="34" name="Text 32"/>
          <p:cNvSpPr/>
          <p:nvPr/>
        </p:nvSpPr>
        <p:spPr>
          <a:xfrm>
            <a:off x="1238250" y="9458740"/>
            <a:ext cx="3466554"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6B6A65"/>
                </a:solidFill>
                <a:latin typeface="Courier New" pitchFamily="34" charset="0"/>
                <a:ea typeface="Courier New" pitchFamily="34" charset="-122"/>
                <a:cs typeface="Courier New" pitchFamily="34" charset="-120"/>
              </a:rPr>
              <a:t>11 — DEMO &amp; LIVE SYSTEM</a:t>
            </a:r>
            <a:endParaRPr lang="en-US" sz="1800" dirty="0"/>
          </a:p>
        </p:txBody>
      </p:sp>
      <p:sp>
        <p:nvSpPr>
          <p:cNvPr id="35" name="Text 33"/>
          <p:cNvSpPr/>
          <p:nvPr/>
        </p:nvSpPr>
        <p:spPr>
          <a:xfrm>
            <a:off x="16025425" y="9458740"/>
            <a:ext cx="1100526"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6B6A65"/>
                </a:solidFill>
                <a:latin typeface="Courier New" pitchFamily="34" charset="0"/>
                <a:ea typeface="Courier New" pitchFamily="34" charset="-122"/>
                <a:cs typeface="Courier New" pitchFamily="34" charset="-120"/>
              </a:rPr>
              <a:t>11 / 15</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0E6"/>
        </a:solidFill>
        <a:effectLst/>
      </p:bgPr>
    </p:bg>
    <p:spTree>
      <p:nvGrpSpPr>
        <p:cNvPr id="1" name=""/>
        <p:cNvGrpSpPr/>
        <p:nvPr/>
      </p:nvGrpSpPr>
      <p:grpSpPr>
        <a:xfrm>
          <a:off x="0" y="0"/>
          <a:ext cx="0" cy="0"/>
          <a:chOff x="0" y="0"/>
          <a:chExt cx="0" cy="0"/>
        </a:xfrm>
      </p:grpSpPr>
      <p:sp>
        <p:nvSpPr>
          <p:cNvPr id="2" name="Text 0"/>
          <p:cNvSpPr/>
          <p:nvPr/>
        </p:nvSpPr>
        <p:spPr>
          <a:xfrm>
            <a:off x="1238250" y="1047750"/>
            <a:ext cx="3210488"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6B6A65"/>
                </a:solidFill>
                <a:latin typeface="Courier New" pitchFamily="34" charset="0"/>
                <a:ea typeface="Courier New" pitchFamily="34" charset="-122"/>
                <a:cs typeface="Courier New" pitchFamily="34" charset="-120"/>
              </a:rPr>
              <a:t>RESULTS &amp; EVALUATION</a:t>
            </a:r>
            <a:endParaRPr lang="en-US" sz="1800" dirty="0"/>
          </a:p>
        </p:txBody>
      </p:sp>
      <p:sp>
        <p:nvSpPr>
          <p:cNvPr id="3" name="Text 1"/>
          <p:cNvSpPr/>
          <p:nvPr/>
        </p:nvSpPr>
        <p:spPr>
          <a:xfrm>
            <a:off x="16757012" y="1047750"/>
            <a:ext cx="368938"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6B6A65"/>
                </a:solidFill>
                <a:latin typeface="Courier New" pitchFamily="34" charset="0"/>
                <a:ea typeface="Courier New" pitchFamily="34" charset="-122"/>
                <a:cs typeface="Courier New" pitchFamily="34" charset="-120"/>
              </a:rPr>
              <a:t>12</a:t>
            </a:r>
            <a:endParaRPr lang="en-US" sz="1800" dirty="0"/>
          </a:p>
        </p:txBody>
      </p:sp>
      <p:sp>
        <p:nvSpPr>
          <p:cNvPr id="4" name="Text 2"/>
          <p:cNvSpPr/>
          <p:nvPr/>
        </p:nvSpPr>
        <p:spPr>
          <a:xfrm>
            <a:off x="1238250" y="1304511"/>
            <a:ext cx="10641332" cy="949187"/>
          </a:xfrm>
          <a:prstGeom prst="rect">
            <a:avLst/>
          </a:prstGeom>
          <a:noFill/>
          <a:ln/>
        </p:spPr>
        <p:txBody>
          <a:bodyPr wrap="square" lIns="25400" tIns="25400" rIns="25400" bIns="25400" rtlCol="0" anchor="t">
            <a:normAutofit/>
          </a:bodyPr>
          <a:lstStyle/>
          <a:p>
            <a:pPr marL="0" indent="0" algn="l">
              <a:lnSpc>
                <a:spcPct val="98000"/>
              </a:lnSpc>
              <a:buNone/>
            </a:pPr>
            <a:r>
              <a:rPr lang="en-US" sz="7200" kern="0" spc="-252" dirty="0">
                <a:solidFill>
                  <a:srgbClr val="13141A"/>
                </a:solidFill>
                <a:latin typeface="Arial" pitchFamily="34" charset="0"/>
                <a:ea typeface="Arial" pitchFamily="34" charset="-122"/>
                <a:cs typeface="Arial" pitchFamily="34" charset="-120"/>
              </a:rPr>
              <a:t>17 / 17 Use Case </a:t>
            </a:r>
            <a:r>
              <a:rPr lang="en-US" sz="7200" i="1" kern="0" spc="-252" dirty="0">
                <a:solidFill>
                  <a:srgbClr val="13141A"/>
                </a:solidFill>
                <a:latin typeface="Georgia" pitchFamily="34" charset="0"/>
                <a:ea typeface="Georgia" pitchFamily="34" charset="-122"/>
                <a:cs typeface="Georgia" pitchFamily="34" charset="-120"/>
              </a:rPr>
              <a:t>đạt yêu cầu.</a:t>
            </a:r>
            <a:endParaRPr lang="en-US" sz="7200" dirty="0"/>
          </a:p>
        </p:txBody>
      </p:sp>
      <p:sp>
        <p:nvSpPr>
          <p:cNvPr id="5" name="Text 3"/>
          <p:cNvSpPr/>
          <p:nvPr/>
        </p:nvSpPr>
        <p:spPr>
          <a:xfrm>
            <a:off x="1238250" y="2691848"/>
            <a:ext cx="3835923" cy="1040296"/>
          </a:xfrm>
          <a:prstGeom prst="rect">
            <a:avLst/>
          </a:prstGeom>
          <a:noFill/>
          <a:ln/>
        </p:spPr>
        <p:txBody>
          <a:bodyPr wrap="square" lIns="25400" tIns="25400" rIns="25400" bIns="25400" rtlCol="0" anchor="t">
            <a:normAutofit/>
          </a:bodyPr>
          <a:lstStyle/>
          <a:p>
            <a:pPr marL="0" indent="0" algn="l">
              <a:lnSpc>
                <a:spcPct val="100000"/>
              </a:lnSpc>
              <a:buNone/>
            </a:pPr>
            <a:r>
              <a:rPr lang="en-US" sz="7800" kern="0" spc="-312" dirty="0">
                <a:solidFill>
                  <a:srgbClr val="13141A"/>
                </a:solidFill>
                <a:latin typeface="Arial" pitchFamily="34" charset="0"/>
                <a:ea typeface="Arial" pitchFamily="34" charset="-122"/>
                <a:cs typeface="Arial" pitchFamily="34" charset="-120"/>
              </a:rPr>
              <a:t>17</a:t>
            </a:r>
            <a:r>
              <a:rPr lang="en-US" sz="7800" i="1" kern="0" spc="-312" dirty="0">
                <a:solidFill>
                  <a:srgbClr val="13141A"/>
                </a:solidFill>
                <a:latin typeface="Georgia" pitchFamily="34" charset="0"/>
                <a:ea typeface="Georgia" pitchFamily="34" charset="-122"/>
                <a:cs typeface="Georgia" pitchFamily="34" charset="-120"/>
              </a:rPr>
              <a:t>/17</a:t>
            </a:r>
            <a:endParaRPr lang="en-US" sz="7800" dirty="0"/>
          </a:p>
        </p:txBody>
      </p:sp>
      <p:sp>
        <p:nvSpPr>
          <p:cNvPr id="6" name="Text 4"/>
          <p:cNvSpPr/>
          <p:nvPr/>
        </p:nvSpPr>
        <p:spPr>
          <a:xfrm>
            <a:off x="1238250" y="3865390"/>
            <a:ext cx="3835923" cy="327991"/>
          </a:xfrm>
          <a:prstGeom prst="rect">
            <a:avLst/>
          </a:prstGeom>
          <a:noFill/>
          <a:ln/>
        </p:spPr>
        <p:txBody>
          <a:bodyPr wrap="square" lIns="25400" tIns="25400" rIns="25400" bIns="25400" rtlCol="0" anchor="t">
            <a:normAutofit/>
          </a:bodyPr>
          <a:lstStyle/>
          <a:p>
            <a:pPr marL="0" indent="0" algn="l">
              <a:lnSpc>
                <a:spcPct val="130000"/>
              </a:lnSpc>
              <a:buNone/>
            </a:pPr>
            <a:r>
              <a:rPr lang="en-US" sz="1800" kern="0" spc="108" dirty="0">
                <a:solidFill>
                  <a:srgbClr val="6B6A65"/>
                </a:solidFill>
                <a:latin typeface="Courier New" pitchFamily="34" charset="0"/>
                <a:ea typeface="Courier New" pitchFamily="34" charset="-122"/>
                <a:cs typeface="Courier New" pitchFamily="34" charset="-120"/>
              </a:rPr>
              <a:t>USE CASE HOÀN CHỈNH</a:t>
            </a:r>
            <a:endParaRPr lang="en-US" sz="1800" dirty="0"/>
          </a:p>
        </p:txBody>
      </p:sp>
      <p:sp>
        <p:nvSpPr>
          <p:cNvPr id="7" name="Text 5"/>
          <p:cNvSpPr/>
          <p:nvPr/>
        </p:nvSpPr>
        <p:spPr>
          <a:xfrm>
            <a:off x="5267222" y="2691848"/>
            <a:ext cx="3836057" cy="1023730"/>
          </a:xfrm>
          <a:prstGeom prst="rect">
            <a:avLst/>
          </a:prstGeom>
          <a:noFill/>
          <a:ln/>
        </p:spPr>
        <p:txBody>
          <a:bodyPr wrap="square" lIns="25400" tIns="25400" rIns="25400" bIns="25400" rtlCol="0" anchor="t">
            <a:normAutofit/>
          </a:bodyPr>
          <a:lstStyle/>
          <a:p>
            <a:pPr marL="0" indent="0" algn="l">
              <a:lnSpc>
                <a:spcPct val="100000"/>
              </a:lnSpc>
              <a:buNone/>
            </a:pPr>
            <a:r>
              <a:rPr lang="en-US" sz="7800" kern="0" spc="-312" dirty="0">
                <a:solidFill>
                  <a:srgbClr val="13141A"/>
                </a:solidFill>
                <a:latin typeface="Arial" pitchFamily="34" charset="0"/>
                <a:ea typeface="Arial" pitchFamily="34" charset="-122"/>
                <a:cs typeface="Arial" pitchFamily="34" charset="-120"/>
              </a:rPr>
              <a:t>6</a:t>
            </a:r>
            <a:endParaRPr lang="en-US" sz="7800" dirty="0"/>
          </a:p>
        </p:txBody>
      </p:sp>
      <p:sp>
        <p:nvSpPr>
          <p:cNvPr id="8" name="Text 6"/>
          <p:cNvSpPr/>
          <p:nvPr/>
        </p:nvSpPr>
        <p:spPr>
          <a:xfrm>
            <a:off x="5267222" y="3848825"/>
            <a:ext cx="3836057" cy="617883"/>
          </a:xfrm>
          <a:prstGeom prst="rect">
            <a:avLst/>
          </a:prstGeom>
          <a:noFill/>
          <a:ln/>
        </p:spPr>
        <p:txBody>
          <a:bodyPr wrap="square" lIns="25400" tIns="25400" rIns="25400" bIns="25400" rtlCol="0" anchor="t">
            <a:normAutofit/>
          </a:bodyPr>
          <a:lstStyle/>
          <a:p>
            <a:pPr marL="0" indent="0" algn="l">
              <a:lnSpc>
                <a:spcPct val="130000"/>
              </a:lnSpc>
              <a:buNone/>
            </a:pPr>
            <a:r>
              <a:rPr lang="en-US" sz="1800" kern="0" spc="108" dirty="0">
                <a:solidFill>
                  <a:srgbClr val="6B6A65"/>
                </a:solidFill>
                <a:latin typeface="Courier New" pitchFamily="34" charset="0"/>
                <a:ea typeface="Courier New" pitchFamily="34" charset="-122"/>
                <a:cs typeface="Courier New" pitchFamily="34" charset="-120"/>
              </a:rPr>
              <a:t>BẢNG DỮ LIỆU + 4 INDEX PATTERN</a:t>
            </a:r>
            <a:endParaRPr lang="en-US" sz="1800" dirty="0"/>
          </a:p>
        </p:txBody>
      </p:sp>
      <p:sp>
        <p:nvSpPr>
          <p:cNvPr id="9" name="Text 7"/>
          <p:cNvSpPr/>
          <p:nvPr/>
        </p:nvSpPr>
        <p:spPr>
          <a:xfrm>
            <a:off x="9296323" y="2691848"/>
            <a:ext cx="3836057" cy="1023730"/>
          </a:xfrm>
          <a:prstGeom prst="rect">
            <a:avLst/>
          </a:prstGeom>
          <a:noFill/>
          <a:ln/>
        </p:spPr>
        <p:txBody>
          <a:bodyPr wrap="square" lIns="25400" tIns="25400" rIns="25400" bIns="25400" rtlCol="0" anchor="t">
            <a:normAutofit/>
          </a:bodyPr>
          <a:lstStyle/>
          <a:p>
            <a:pPr marL="0" indent="0" algn="l">
              <a:lnSpc>
                <a:spcPct val="100000"/>
              </a:lnSpc>
              <a:buNone/>
            </a:pPr>
            <a:r>
              <a:rPr lang="en-US" sz="7800" kern="0" spc="-312" dirty="0">
                <a:solidFill>
                  <a:srgbClr val="13141A"/>
                </a:solidFill>
                <a:latin typeface="Arial" pitchFamily="34" charset="0"/>
                <a:ea typeface="Arial" pitchFamily="34" charset="-122"/>
                <a:cs typeface="Arial" pitchFamily="34" charset="-120"/>
              </a:rPr>
              <a:t>3</a:t>
            </a:r>
            <a:endParaRPr lang="en-US" sz="7800" dirty="0"/>
          </a:p>
        </p:txBody>
      </p:sp>
      <p:sp>
        <p:nvSpPr>
          <p:cNvPr id="10" name="Text 8"/>
          <p:cNvSpPr/>
          <p:nvPr/>
        </p:nvSpPr>
        <p:spPr>
          <a:xfrm>
            <a:off x="9296323" y="3848825"/>
            <a:ext cx="3836057" cy="327991"/>
          </a:xfrm>
          <a:prstGeom prst="rect">
            <a:avLst/>
          </a:prstGeom>
          <a:noFill/>
          <a:ln/>
        </p:spPr>
        <p:txBody>
          <a:bodyPr wrap="square" lIns="25400" tIns="25400" rIns="25400" bIns="25400" rtlCol="0" anchor="t">
            <a:normAutofit/>
          </a:bodyPr>
          <a:lstStyle/>
          <a:p>
            <a:pPr marL="0" indent="0" algn="l">
              <a:lnSpc>
                <a:spcPct val="130000"/>
              </a:lnSpc>
              <a:buNone/>
            </a:pPr>
            <a:r>
              <a:rPr lang="en-US" sz="1800" kern="0" spc="108" dirty="0">
                <a:solidFill>
                  <a:srgbClr val="6B6A65"/>
                </a:solidFill>
                <a:latin typeface="Courier New" pitchFamily="34" charset="0"/>
                <a:ea typeface="Courier New" pitchFamily="34" charset="-122"/>
                <a:cs typeface="Courier New" pitchFamily="34" charset="-120"/>
              </a:rPr>
              <a:t>TIER · 3 SERVICE DEPLOY</a:t>
            </a:r>
            <a:endParaRPr lang="en-US" sz="1800" dirty="0"/>
          </a:p>
        </p:txBody>
      </p:sp>
      <p:sp>
        <p:nvSpPr>
          <p:cNvPr id="11" name="Text 9"/>
          <p:cNvSpPr/>
          <p:nvPr/>
        </p:nvSpPr>
        <p:spPr>
          <a:xfrm>
            <a:off x="13325424" y="2691848"/>
            <a:ext cx="3836057" cy="1040296"/>
          </a:xfrm>
          <a:prstGeom prst="rect">
            <a:avLst/>
          </a:prstGeom>
          <a:noFill/>
          <a:ln/>
        </p:spPr>
        <p:txBody>
          <a:bodyPr wrap="square" lIns="25400" tIns="25400" rIns="25400" bIns="25400" rtlCol="0" anchor="t">
            <a:normAutofit/>
          </a:bodyPr>
          <a:lstStyle/>
          <a:p>
            <a:pPr marL="0" indent="0" algn="l">
              <a:lnSpc>
                <a:spcPct val="100000"/>
              </a:lnSpc>
              <a:buNone/>
            </a:pPr>
            <a:r>
              <a:rPr lang="en-US" sz="7800" kern="0" spc="-312" dirty="0">
                <a:solidFill>
                  <a:srgbClr val="13141A"/>
                </a:solidFill>
                <a:latin typeface="Arial" pitchFamily="34" charset="0"/>
                <a:ea typeface="Arial" pitchFamily="34" charset="-122"/>
                <a:cs typeface="Arial" pitchFamily="34" charset="-120"/>
              </a:rPr>
              <a:t>0</a:t>
            </a:r>
            <a:r>
              <a:rPr lang="en-US" sz="7800" i="1" kern="0" spc="-312" dirty="0">
                <a:solidFill>
                  <a:srgbClr val="13141A"/>
                </a:solidFill>
                <a:latin typeface="Georgia" pitchFamily="34" charset="0"/>
                <a:ea typeface="Georgia" pitchFamily="34" charset="-122"/>
                <a:cs typeface="Georgia" pitchFamily="34" charset="-120"/>
              </a:rPr>
              <a:t>₫</a:t>
            </a:r>
            <a:endParaRPr lang="en-US" sz="7800" dirty="0"/>
          </a:p>
        </p:txBody>
      </p:sp>
      <p:sp>
        <p:nvSpPr>
          <p:cNvPr id="12" name="Text 10"/>
          <p:cNvSpPr/>
          <p:nvPr/>
        </p:nvSpPr>
        <p:spPr>
          <a:xfrm>
            <a:off x="13325424" y="3865390"/>
            <a:ext cx="3836057" cy="327991"/>
          </a:xfrm>
          <a:prstGeom prst="rect">
            <a:avLst/>
          </a:prstGeom>
          <a:noFill/>
          <a:ln/>
        </p:spPr>
        <p:txBody>
          <a:bodyPr wrap="square" lIns="25400" tIns="25400" rIns="25400" bIns="25400" rtlCol="0" anchor="t">
            <a:normAutofit/>
          </a:bodyPr>
          <a:lstStyle/>
          <a:p>
            <a:pPr marL="0" indent="0" algn="l">
              <a:lnSpc>
                <a:spcPct val="130000"/>
              </a:lnSpc>
              <a:buNone/>
            </a:pPr>
            <a:r>
              <a:rPr lang="en-US" sz="1800" kern="0" spc="108" dirty="0">
                <a:solidFill>
                  <a:srgbClr val="6B6A65"/>
                </a:solidFill>
                <a:latin typeface="Courier New" pitchFamily="34" charset="0"/>
                <a:ea typeface="Courier New" pitchFamily="34" charset="-122"/>
                <a:cs typeface="Courier New" pitchFamily="34" charset="-120"/>
              </a:rPr>
              <a:t>TỔNG CHI PHÍ VẬN HÀNH</a:t>
            </a:r>
            <a:endParaRPr lang="en-US" sz="1800" dirty="0"/>
          </a:p>
        </p:txBody>
      </p:sp>
      <p:sp>
        <p:nvSpPr>
          <p:cNvPr id="13" name="Shape 11"/>
          <p:cNvSpPr/>
          <p:nvPr/>
        </p:nvSpPr>
        <p:spPr>
          <a:xfrm>
            <a:off x="1238250" y="4809608"/>
            <a:ext cx="15811500" cy="9525"/>
          </a:xfrm>
          <a:prstGeom prst="rect">
            <a:avLst/>
          </a:prstGeom>
          <a:solidFill>
            <a:srgbClr val="13141A">
              <a:alpha val="12000"/>
            </a:srgbClr>
          </a:solidFill>
          <a:ln/>
        </p:spPr>
        <p:txBody>
          <a:bodyPr/>
          <a:lstStyle/>
          <a:p>
            <a:endParaRPr lang="en-VN"/>
          </a:p>
        </p:txBody>
      </p:sp>
      <p:sp>
        <p:nvSpPr>
          <p:cNvPr id="14" name="Text 12"/>
          <p:cNvSpPr/>
          <p:nvPr/>
        </p:nvSpPr>
        <p:spPr>
          <a:xfrm>
            <a:off x="1238250" y="5085651"/>
            <a:ext cx="7848600" cy="294861"/>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6B6A65"/>
                </a:solidFill>
                <a:latin typeface="Courier New" pitchFamily="34" charset="0"/>
                <a:ea typeface="Courier New" pitchFamily="34" charset="-122"/>
                <a:cs typeface="Courier New" pitchFamily="34" charset="-120"/>
              </a:rPr>
              <a:t>HIGHLIGHTS NỔI BẬT</a:t>
            </a:r>
            <a:endParaRPr lang="en-US" sz="1800" dirty="0"/>
          </a:p>
        </p:txBody>
      </p:sp>
      <p:sp>
        <p:nvSpPr>
          <p:cNvPr id="15" name="Shape 13"/>
          <p:cNvSpPr/>
          <p:nvPr/>
        </p:nvSpPr>
        <p:spPr>
          <a:xfrm>
            <a:off x="1238250" y="6087847"/>
            <a:ext cx="7620000" cy="9525"/>
          </a:xfrm>
          <a:prstGeom prst="rect">
            <a:avLst/>
          </a:prstGeom>
          <a:solidFill>
            <a:srgbClr val="13141A">
              <a:alpha val="12000"/>
            </a:srgbClr>
          </a:solidFill>
          <a:ln/>
        </p:spPr>
        <p:txBody>
          <a:bodyPr/>
          <a:lstStyle/>
          <a:p>
            <a:endParaRPr lang="en-VN"/>
          </a:p>
        </p:txBody>
      </p:sp>
      <p:sp>
        <p:nvSpPr>
          <p:cNvPr id="16" name="Text 14"/>
          <p:cNvSpPr/>
          <p:nvPr/>
        </p:nvSpPr>
        <p:spPr>
          <a:xfrm>
            <a:off x="1238250" y="5628162"/>
            <a:ext cx="399998" cy="402535"/>
          </a:xfrm>
          <a:prstGeom prst="rect">
            <a:avLst/>
          </a:prstGeom>
          <a:noFill/>
          <a:ln/>
        </p:spPr>
        <p:txBody>
          <a:bodyPr wrap="square" lIns="25400" tIns="25400" rIns="25400" bIns="25400" rtlCol="0" anchor="t">
            <a:normAutofit/>
          </a:bodyPr>
          <a:lstStyle/>
          <a:p>
            <a:pPr marL="0" indent="0" algn="l">
              <a:lnSpc>
                <a:spcPct val="160000"/>
              </a:lnSpc>
              <a:buNone/>
            </a:pPr>
            <a:r>
              <a:rPr lang="en-US" sz="1800" i="1" kern="0" spc="-36" dirty="0">
                <a:solidFill>
                  <a:srgbClr val="294792"/>
                </a:solidFill>
                <a:latin typeface="Georgia" pitchFamily="34" charset="0"/>
                <a:ea typeface="Georgia" pitchFamily="34" charset="-122"/>
                <a:cs typeface="Georgia" pitchFamily="34" charset="-120"/>
              </a:rPr>
              <a:t>i</a:t>
            </a:r>
            <a:endParaRPr lang="en-US" sz="1800" dirty="0"/>
          </a:p>
        </p:txBody>
      </p:sp>
      <p:sp>
        <p:nvSpPr>
          <p:cNvPr id="17" name="Text 15"/>
          <p:cNvSpPr/>
          <p:nvPr/>
        </p:nvSpPr>
        <p:spPr>
          <a:xfrm>
            <a:off x="1714371" y="5628162"/>
            <a:ext cx="5134515" cy="402535"/>
          </a:xfrm>
          <a:prstGeom prst="rect">
            <a:avLst/>
          </a:prstGeom>
          <a:noFill/>
          <a:ln/>
        </p:spPr>
        <p:txBody>
          <a:bodyPr wrap="square" lIns="25400" tIns="25400" rIns="25400" bIns="25400" rtlCol="0" anchor="t">
            <a:normAutofit/>
          </a:bodyPr>
          <a:lstStyle/>
          <a:p>
            <a:pPr marL="0" indent="0" algn="l">
              <a:lnSpc>
                <a:spcPct val="160000"/>
              </a:lnSpc>
              <a:buNone/>
            </a:pPr>
            <a:r>
              <a:rPr lang="en-US" sz="1800" kern="0" spc="-12" dirty="0">
                <a:solidFill>
                  <a:srgbClr val="2A2C36"/>
                </a:solidFill>
                <a:latin typeface="Arial" pitchFamily="34" charset="0"/>
                <a:ea typeface="Arial" pitchFamily="34" charset="-122"/>
                <a:cs typeface="Arial" pitchFamily="34" charset="-120"/>
              </a:rPr>
              <a:t>Pipeline AI end-to-end — không thao tác thủ công</a:t>
            </a:r>
            <a:endParaRPr lang="en-US" sz="1800" dirty="0"/>
          </a:p>
        </p:txBody>
      </p:sp>
      <p:sp>
        <p:nvSpPr>
          <p:cNvPr id="18" name="Shape 16"/>
          <p:cNvSpPr/>
          <p:nvPr/>
        </p:nvSpPr>
        <p:spPr>
          <a:xfrm>
            <a:off x="1238250" y="6651064"/>
            <a:ext cx="7620000" cy="9525"/>
          </a:xfrm>
          <a:prstGeom prst="rect">
            <a:avLst/>
          </a:prstGeom>
          <a:solidFill>
            <a:srgbClr val="13141A">
              <a:alpha val="12000"/>
            </a:srgbClr>
          </a:solidFill>
          <a:ln/>
        </p:spPr>
        <p:txBody>
          <a:bodyPr/>
          <a:lstStyle/>
          <a:p>
            <a:endParaRPr lang="en-VN"/>
          </a:p>
        </p:txBody>
      </p:sp>
      <p:sp>
        <p:nvSpPr>
          <p:cNvPr id="19" name="Text 17"/>
          <p:cNvSpPr/>
          <p:nvPr/>
        </p:nvSpPr>
        <p:spPr>
          <a:xfrm>
            <a:off x="1238250" y="6191380"/>
            <a:ext cx="399998" cy="402535"/>
          </a:xfrm>
          <a:prstGeom prst="rect">
            <a:avLst/>
          </a:prstGeom>
          <a:noFill/>
          <a:ln/>
        </p:spPr>
        <p:txBody>
          <a:bodyPr wrap="square" lIns="25400" tIns="25400" rIns="25400" bIns="25400" rtlCol="0" anchor="t">
            <a:normAutofit/>
          </a:bodyPr>
          <a:lstStyle/>
          <a:p>
            <a:pPr marL="0" indent="0" algn="l">
              <a:lnSpc>
                <a:spcPct val="160000"/>
              </a:lnSpc>
              <a:buNone/>
            </a:pPr>
            <a:r>
              <a:rPr lang="en-US" sz="1800" i="1" kern="0" spc="-36" dirty="0">
                <a:solidFill>
                  <a:srgbClr val="294792"/>
                </a:solidFill>
                <a:latin typeface="Georgia" pitchFamily="34" charset="0"/>
                <a:ea typeface="Georgia" pitchFamily="34" charset="-122"/>
                <a:cs typeface="Georgia" pitchFamily="34" charset="-120"/>
              </a:rPr>
              <a:t>ii</a:t>
            </a:r>
            <a:endParaRPr lang="en-US" sz="1800" dirty="0"/>
          </a:p>
        </p:txBody>
      </p:sp>
      <p:sp>
        <p:nvSpPr>
          <p:cNvPr id="20" name="Text 18"/>
          <p:cNvSpPr/>
          <p:nvPr/>
        </p:nvSpPr>
        <p:spPr>
          <a:xfrm>
            <a:off x="1714371" y="6191380"/>
            <a:ext cx="5255417" cy="402535"/>
          </a:xfrm>
          <a:prstGeom prst="rect">
            <a:avLst/>
          </a:prstGeom>
          <a:noFill/>
          <a:ln/>
        </p:spPr>
        <p:txBody>
          <a:bodyPr wrap="square" lIns="25400" tIns="25400" rIns="25400" bIns="25400" rtlCol="0" anchor="t">
            <a:normAutofit/>
          </a:bodyPr>
          <a:lstStyle/>
          <a:p>
            <a:pPr marL="0" indent="0" algn="l">
              <a:lnSpc>
                <a:spcPct val="160000"/>
              </a:lnSpc>
              <a:buNone/>
            </a:pPr>
            <a:r>
              <a:rPr lang="en-US" sz="1800" kern="0" spc="-12" dirty="0">
                <a:solidFill>
                  <a:srgbClr val="2A2C36"/>
                </a:solidFill>
                <a:latin typeface="Arial" pitchFamily="34" charset="0"/>
                <a:ea typeface="Arial" pitchFamily="34" charset="-122"/>
                <a:cs typeface="Arial" pitchFamily="34" charset="-120"/>
              </a:rPr>
              <a:t>Vector search thực tế với HNSW (ef_search = 128)</a:t>
            </a:r>
            <a:endParaRPr lang="en-US" sz="1800" dirty="0"/>
          </a:p>
        </p:txBody>
      </p:sp>
      <p:sp>
        <p:nvSpPr>
          <p:cNvPr id="21" name="Shape 19"/>
          <p:cNvSpPr/>
          <p:nvPr/>
        </p:nvSpPr>
        <p:spPr>
          <a:xfrm>
            <a:off x="1238250" y="7214282"/>
            <a:ext cx="7620000" cy="9525"/>
          </a:xfrm>
          <a:prstGeom prst="rect">
            <a:avLst/>
          </a:prstGeom>
          <a:solidFill>
            <a:srgbClr val="13141A">
              <a:alpha val="12000"/>
            </a:srgbClr>
          </a:solidFill>
          <a:ln/>
        </p:spPr>
        <p:txBody>
          <a:bodyPr/>
          <a:lstStyle/>
          <a:p>
            <a:endParaRPr lang="en-VN"/>
          </a:p>
        </p:txBody>
      </p:sp>
      <p:sp>
        <p:nvSpPr>
          <p:cNvPr id="22" name="Text 20"/>
          <p:cNvSpPr/>
          <p:nvPr/>
        </p:nvSpPr>
        <p:spPr>
          <a:xfrm>
            <a:off x="1238250" y="6754597"/>
            <a:ext cx="399998" cy="402535"/>
          </a:xfrm>
          <a:prstGeom prst="rect">
            <a:avLst/>
          </a:prstGeom>
          <a:noFill/>
          <a:ln/>
        </p:spPr>
        <p:txBody>
          <a:bodyPr wrap="square" lIns="25400" tIns="25400" rIns="25400" bIns="25400" rtlCol="0" anchor="t">
            <a:normAutofit/>
          </a:bodyPr>
          <a:lstStyle/>
          <a:p>
            <a:pPr marL="0" indent="0" algn="l">
              <a:lnSpc>
                <a:spcPct val="160000"/>
              </a:lnSpc>
              <a:buNone/>
            </a:pPr>
            <a:r>
              <a:rPr lang="en-US" sz="1800" i="1" kern="0" spc="-36" dirty="0">
                <a:solidFill>
                  <a:srgbClr val="294792"/>
                </a:solidFill>
                <a:latin typeface="Georgia" pitchFamily="34" charset="0"/>
                <a:ea typeface="Georgia" pitchFamily="34" charset="-122"/>
                <a:cs typeface="Georgia" pitchFamily="34" charset="-120"/>
              </a:rPr>
              <a:t>iii</a:t>
            </a:r>
            <a:endParaRPr lang="en-US" sz="1800" dirty="0"/>
          </a:p>
        </p:txBody>
      </p:sp>
      <p:sp>
        <p:nvSpPr>
          <p:cNvPr id="23" name="Text 21"/>
          <p:cNvSpPr/>
          <p:nvPr/>
        </p:nvSpPr>
        <p:spPr>
          <a:xfrm>
            <a:off x="1714371" y="6754597"/>
            <a:ext cx="5918442" cy="402535"/>
          </a:xfrm>
          <a:prstGeom prst="rect">
            <a:avLst/>
          </a:prstGeom>
          <a:noFill/>
          <a:ln/>
        </p:spPr>
        <p:txBody>
          <a:bodyPr wrap="square" lIns="25400" tIns="25400" rIns="25400" bIns="25400" rtlCol="0" anchor="t">
            <a:normAutofit/>
          </a:bodyPr>
          <a:lstStyle/>
          <a:p>
            <a:pPr marL="0" indent="0" algn="l">
              <a:lnSpc>
                <a:spcPct val="160000"/>
              </a:lnSpc>
              <a:buNone/>
            </a:pPr>
            <a:r>
              <a:rPr lang="en-US" sz="1800" kern="0" spc="-12" dirty="0">
                <a:solidFill>
                  <a:srgbClr val="2A2C36"/>
                </a:solidFill>
                <a:latin typeface="Arial" pitchFamily="34" charset="0"/>
                <a:ea typeface="Arial" pitchFamily="34" charset="-122"/>
                <a:cs typeface="Arial" pitchFamily="34" charset="-120"/>
              </a:rPr>
              <a:t>Fault tolerant — REQUIRES_NEW · retry backoff · max 3</a:t>
            </a:r>
            <a:endParaRPr lang="en-US" sz="1800" dirty="0"/>
          </a:p>
        </p:txBody>
      </p:sp>
      <p:sp>
        <p:nvSpPr>
          <p:cNvPr id="24" name="Shape 22"/>
          <p:cNvSpPr/>
          <p:nvPr/>
        </p:nvSpPr>
        <p:spPr>
          <a:xfrm>
            <a:off x="1238250" y="7777499"/>
            <a:ext cx="7620000" cy="9525"/>
          </a:xfrm>
          <a:prstGeom prst="rect">
            <a:avLst/>
          </a:prstGeom>
          <a:solidFill>
            <a:srgbClr val="13141A">
              <a:alpha val="12000"/>
            </a:srgbClr>
          </a:solidFill>
          <a:ln/>
        </p:spPr>
        <p:txBody>
          <a:bodyPr/>
          <a:lstStyle/>
          <a:p>
            <a:endParaRPr lang="en-VN"/>
          </a:p>
        </p:txBody>
      </p:sp>
      <p:sp>
        <p:nvSpPr>
          <p:cNvPr id="25" name="Text 23"/>
          <p:cNvSpPr/>
          <p:nvPr/>
        </p:nvSpPr>
        <p:spPr>
          <a:xfrm>
            <a:off x="1238250" y="7317814"/>
            <a:ext cx="399998" cy="402535"/>
          </a:xfrm>
          <a:prstGeom prst="rect">
            <a:avLst/>
          </a:prstGeom>
          <a:noFill/>
          <a:ln/>
        </p:spPr>
        <p:txBody>
          <a:bodyPr wrap="square" lIns="25400" tIns="25400" rIns="25400" bIns="25400" rtlCol="0" anchor="t">
            <a:normAutofit/>
          </a:bodyPr>
          <a:lstStyle/>
          <a:p>
            <a:pPr marL="0" indent="0" algn="l">
              <a:lnSpc>
                <a:spcPct val="160000"/>
              </a:lnSpc>
              <a:buNone/>
            </a:pPr>
            <a:r>
              <a:rPr lang="en-US" sz="1800" i="1" kern="0" spc="-36" dirty="0">
                <a:solidFill>
                  <a:srgbClr val="294792"/>
                </a:solidFill>
                <a:latin typeface="Georgia" pitchFamily="34" charset="0"/>
                <a:ea typeface="Georgia" pitchFamily="34" charset="-122"/>
                <a:cs typeface="Georgia" pitchFamily="34" charset="-120"/>
              </a:rPr>
              <a:t>iv</a:t>
            </a:r>
            <a:endParaRPr lang="en-US" sz="1800" dirty="0"/>
          </a:p>
        </p:txBody>
      </p:sp>
      <p:sp>
        <p:nvSpPr>
          <p:cNvPr id="26" name="Text 24"/>
          <p:cNvSpPr/>
          <p:nvPr/>
        </p:nvSpPr>
        <p:spPr>
          <a:xfrm>
            <a:off x="1714371" y="7317814"/>
            <a:ext cx="6281813" cy="402535"/>
          </a:xfrm>
          <a:prstGeom prst="rect">
            <a:avLst/>
          </a:prstGeom>
          <a:noFill/>
          <a:ln/>
        </p:spPr>
        <p:txBody>
          <a:bodyPr wrap="square" lIns="25400" tIns="25400" rIns="25400" bIns="25400" rtlCol="0" anchor="t">
            <a:normAutofit/>
          </a:bodyPr>
          <a:lstStyle/>
          <a:p>
            <a:pPr marL="0" indent="0" algn="l">
              <a:lnSpc>
                <a:spcPct val="160000"/>
              </a:lnSpc>
              <a:buNone/>
            </a:pPr>
            <a:r>
              <a:rPr lang="en-US" sz="1800" kern="0" spc="-12" dirty="0">
                <a:solidFill>
                  <a:srgbClr val="2A2C36"/>
                </a:solidFill>
                <a:latin typeface="Arial" pitchFamily="34" charset="0"/>
                <a:ea typeface="Arial" pitchFamily="34" charset="-122"/>
                <a:cs typeface="Arial" pitchFamily="34" charset="-120"/>
              </a:rPr>
              <a:t>Production-ready — Docker multi-stage, Flyway auto-migrate</a:t>
            </a:r>
            <a:endParaRPr lang="en-US" sz="1800" dirty="0"/>
          </a:p>
        </p:txBody>
      </p:sp>
      <p:sp>
        <p:nvSpPr>
          <p:cNvPr id="27" name="Text 25"/>
          <p:cNvSpPr/>
          <p:nvPr/>
        </p:nvSpPr>
        <p:spPr>
          <a:xfrm>
            <a:off x="1238250" y="7881032"/>
            <a:ext cx="399998" cy="402535"/>
          </a:xfrm>
          <a:prstGeom prst="rect">
            <a:avLst/>
          </a:prstGeom>
          <a:noFill/>
          <a:ln/>
        </p:spPr>
        <p:txBody>
          <a:bodyPr wrap="square" lIns="25400" tIns="25400" rIns="25400" bIns="25400" rtlCol="0" anchor="t">
            <a:normAutofit/>
          </a:bodyPr>
          <a:lstStyle/>
          <a:p>
            <a:pPr marL="0" indent="0" algn="l">
              <a:lnSpc>
                <a:spcPct val="160000"/>
              </a:lnSpc>
              <a:buNone/>
            </a:pPr>
            <a:r>
              <a:rPr lang="en-US" sz="1800" i="1" kern="0" spc="-36" dirty="0">
                <a:solidFill>
                  <a:srgbClr val="294792"/>
                </a:solidFill>
                <a:latin typeface="Georgia" pitchFamily="34" charset="0"/>
                <a:ea typeface="Georgia" pitchFamily="34" charset="-122"/>
                <a:cs typeface="Georgia" pitchFamily="34" charset="-120"/>
              </a:rPr>
              <a:t>v</a:t>
            </a:r>
            <a:endParaRPr lang="en-US" sz="1800" dirty="0"/>
          </a:p>
        </p:txBody>
      </p:sp>
      <p:sp>
        <p:nvSpPr>
          <p:cNvPr id="28" name="Text 26"/>
          <p:cNvSpPr/>
          <p:nvPr/>
        </p:nvSpPr>
        <p:spPr>
          <a:xfrm>
            <a:off x="1714371" y="7881032"/>
            <a:ext cx="5466427" cy="402535"/>
          </a:xfrm>
          <a:prstGeom prst="rect">
            <a:avLst/>
          </a:prstGeom>
          <a:noFill/>
          <a:ln/>
        </p:spPr>
        <p:txBody>
          <a:bodyPr wrap="square" lIns="25400" tIns="25400" rIns="25400" bIns="25400" rtlCol="0" anchor="t">
            <a:normAutofit/>
          </a:bodyPr>
          <a:lstStyle/>
          <a:p>
            <a:pPr marL="0" indent="0" algn="l">
              <a:lnSpc>
                <a:spcPct val="160000"/>
              </a:lnSpc>
              <a:buNone/>
            </a:pPr>
            <a:r>
              <a:rPr lang="en-US" sz="1800" kern="0" spc="-12" dirty="0">
                <a:solidFill>
                  <a:srgbClr val="2A2C36"/>
                </a:solidFill>
                <a:latin typeface="Arial" pitchFamily="34" charset="0"/>
                <a:ea typeface="Arial" pitchFamily="34" charset="-122"/>
                <a:cs typeface="Arial" pitchFamily="34" charset="-120"/>
              </a:rPr>
              <a:t>Responsive UI — desktop, tablet, iPhone 11 Pro Max</a:t>
            </a:r>
            <a:endParaRPr lang="en-US" sz="1800" dirty="0"/>
          </a:p>
        </p:txBody>
      </p:sp>
      <p:sp>
        <p:nvSpPr>
          <p:cNvPr id="29" name="Text 27"/>
          <p:cNvSpPr/>
          <p:nvPr/>
        </p:nvSpPr>
        <p:spPr>
          <a:xfrm>
            <a:off x="9429751" y="5085651"/>
            <a:ext cx="7848600" cy="294861"/>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6B6A65"/>
                </a:solidFill>
                <a:latin typeface="Courier New" pitchFamily="34" charset="0"/>
                <a:ea typeface="Courier New" pitchFamily="34" charset="-122"/>
                <a:cs typeface="Courier New" pitchFamily="34" charset="-120"/>
              </a:rPr>
              <a:t>KIỂM THỬ &amp; QUALITY GATES</a:t>
            </a:r>
            <a:endParaRPr lang="en-US" sz="1800" dirty="0"/>
          </a:p>
        </p:txBody>
      </p:sp>
      <p:sp>
        <p:nvSpPr>
          <p:cNvPr id="30" name="Shape 28"/>
          <p:cNvSpPr/>
          <p:nvPr/>
        </p:nvSpPr>
        <p:spPr>
          <a:xfrm>
            <a:off x="9429751" y="5532912"/>
            <a:ext cx="7620000" cy="654067"/>
          </a:xfrm>
          <a:prstGeom prst="roundRect">
            <a:avLst>
              <a:gd name="adj" fmla="val 17475"/>
            </a:avLst>
          </a:prstGeom>
          <a:solidFill>
            <a:srgbClr val="FBF8F0"/>
          </a:solidFill>
          <a:ln w="8283">
            <a:solidFill>
              <a:srgbClr val="13141A">
                <a:alpha val="12000"/>
              </a:srgbClr>
            </a:solidFill>
            <a:prstDash val="solid"/>
          </a:ln>
        </p:spPr>
        <p:txBody>
          <a:bodyPr/>
          <a:lstStyle/>
          <a:p>
            <a:endParaRPr lang="en-VN"/>
          </a:p>
        </p:txBody>
      </p:sp>
      <p:sp>
        <p:nvSpPr>
          <p:cNvPr id="31" name="Text 29"/>
          <p:cNvSpPr/>
          <p:nvPr/>
        </p:nvSpPr>
        <p:spPr>
          <a:xfrm>
            <a:off x="9647557" y="5655469"/>
            <a:ext cx="2668231" cy="447054"/>
          </a:xfrm>
          <a:prstGeom prst="rect">
            <a:avLst/>
          </a:prstGeom>
          <a:noFill/>
          <a:ln/>
        </p:spPr>
        <p:txBody>
          <a:bodyPr wrap="square" lIns="25400" tIns="25400" rIns="25400" bIns="25400" rtlCol="0" anchor="t">
            <a:normAutofit/>
          </a:bodyPr>
          <a:lstStyle/>
          <a:p>
            <a:pPr marL="0" indent="0" algn="l">
              <a:buNone/>
            </a:pPr>
            <a:r>
              <a:rPr lang="en-US" sz="1800" kern="0" spc="-12" dirty="0">
                <a:solidFill>
                  <a:srgbClr val="13141A"/>
                </a:solidFill>
                <a:latin typeface="Arial" pitchFamily="34" charset="0"/>
                <a:ea typeface="Arial" pitchFamily="34" charset="-122"/>
                <a:cs typeface="Arial" pitchFamily="34" charset="-120"/>
              </a:rPr>
              <a:t>Integration test (Postman)</a:t>
            </a:r>
            <a:endParaRPr lang="en-US" sz="1800" dirty="0"/>
          </a:p>
        </p:txBody>
      </p:sp>
      <p:sp>
        <p:nvSpPr>
          <p:cNvPr id="32" name="Text 30"/>
          <p:cNvSpPr/>
          <p:nvPr/>
        </p:nvSpPr>
        <p:spPr>
          <a:xfrm>
            <a:off x="16094351" y="5731669"/>
            <a:ext cx="661392" cy="294654"/>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41815A"/>
                </a:solidFill>
                <a:latin typeface="Courier New" pitchFamily="34" charset="0"/>
                <a:ea typeface="Courier New" pitchFamily="34" charset="-122"/>
                <a:cs typeface="Courier New" pitchFamily="34" charset="-120"/>
              </a:rPr>
              <a:t>PASS</a:t>
            </a:r>
            <a:endParaRPr lang="en-US" sz="1800" dirty="0"/>
          </a:p>
        </p:txBody>
      </p:sp>
      <p:sp>
        <p:nvSpPr>
          <p:cNvPr id="33" name="Shape 31"/>
          <p:cNvSpPr/>
          <p:nvPr/>
        </p:nvSpPr>
        <p:spPr>
          <a:xfrm>
            <a:off x="9429751" y="6282229"/>
            <a:ext cx="7620000" cy="654067"/>
          </a:xfrm>
          <a:prstGeom prst="roundRect">
            <a:avLst>
              <a:gd name="adj" fmla="val 17475"/>
            </a:avLst>
          </a:prstGeom>
          <a:solidFill>
            <a:srgbClr val="FBF8F0"/>
          </a:solidFill>
          <a:ln w="8283">
            <a:solidFill>
              <a:srgbClr val="13141A">
                <a:alpha val="12000"/>
              </a:srgbClr>
            </a:solidFill>
            <a:prstDash val="solid"/>
          </a:ln>
        </p:spPr>
        <p:txBody>
          <a:bodyPr/>
          <a:lstStyle/>
          <a:p>
            <a:endParaRPr lang="en-VN"/>
          </a:p>
        </p:txBody>
      </p:sp>
      <p:sp>
        <p:nvSpPr>
          <p:cNvPr id="34" name="Text 32"/>
          <p:cNvSpPr/>
          <p:nvPr/>
        </p:nvSpPr>
        <p:spPr>
          <a:xfrm>
            <a:off x="9647557" y="6404786"/>
            <a:ext cx="3070791" cy="447054"/>
          </a:xfrm>
          <a:prstGeom prst="rect">
            <a:avLst/>
          </a:prstGeom>
          <a:noFill/>
          <a:ln/>
        </p:spPr>
        <p:txBody>
          <a:bodyPr wrap="square" lIns="25400" tIns="25400" rIns="25400" bIns="25400" rtlCol="0" anchor="t">
            <a:normAutofit/>
          </a:bodyPr>
          <a:lstStyle/>
          <a:p>
            <a:pPr marL="0" indent="0" algn="l">
              <a:buNone/>
            </a:pPr>
            <a:r>
              <a:rPr lang="en-US" sz="1800" kern="0" spc="-12" dirty="0">
                <a:solidFill>
                  <a:srgbClr val="13141A"/>
                </a:solidFill>
                <a:latin typeface="Arial" pitchFamily="34" charset="0"/>
                <a:ea typeface="Arial" pitchFamily="34" charset="-122"/>
                <a:cs typeface="Arial" pitchFamily="34" charset="-120"/>
              </a:rPr>
              <a:t>End-to-end · Chrome &amp; Safari</a:t>
            </a:r>
            <a:endParaRPr lang="en-US" sz="1800" dirty="0"/>
          </a:p>
        </p:txBody>
      </p:sp>
      <p:sp>
        <p:nvSpPr>
          <p:cNvPr id="35" name="Text 33"/>
          <p:cNvSpPr/>
          <p:nvPr/>
        </p:nvSpPr>
        <p:spPr>
          <a:xfrm>
            <a:off x="16094351" y="6480986"/>
            <a:ext cx="661392" cy="294654"/>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41815A"/>
                </a:solidFill>
                <a:latin typeface="Courier New" pitchFamily="34" charset="0"/>
                <a:ea typeface="Courier New" pitchFamily="34" charset="-122"/>
                <a:cs typeface="Courier New" pitchFamily="34" charset="-120"/>
              </a:rPr>
              <a:t>PASS</a:t>
            </a:r>
            <a:endParaRPr lang="en-US" sz="1800" dirty="0"/>
          </a:p>
        </p:txBody>
      </p:sp>
      <p:sp>
        <p:nvSpPr>
          <p:cNvPr id="36" name="Shape 34"/>
          <p:cNvSpPr/>
          <p:nvPr/>
        </p:nvSpPr>
        <p:spPr>
          <a:xfrm>
            <a:off x="9429751" y="7031547"/>
            <a:ext cx="7620000" cy="654067"/>
          </a:xfrm>
          <a:prstGeom prst="roundRect">
            <a:avLst>
              <a:gd name="adj" fmla="val 17475"/>
            </a:avLst>
          </a:prstGeom>
          <a:solidFill>
            <a:srgbClr val="FBF8F0"/>
          </a:solidFill>
          <a:ln w="8283">
            <a:solidFill>
              <a:srgbClr val="13141A">
                <a:alpha val="12000"/>
              </a:srgbClr>
            </a:solidFill>
            <a:prstDash val="solid"/>
          </a:ln>
        </p:spPr>
        <p:txBody>
          <a:bodyPr/>
          <a:lstStyle/>
          <a:p>
            <a:endParaRPr lang="en-VN"/>
          </a:p>
        </p:txBody>
      </p:sp>
      <p:sp>
        <p:nvSpPr>
          <p:cNvPr id="37" name="Text 35"/>
          <p:cNvSpPr/>
          <p:nvPr/>
        </p:nvSpPr>
        <p:spPr>
          <a:xfrm>
            <a:off x="9647557" y="7154103"/>
            <a:ext cx="3377644" cy="447054"/>
          </a:xfrm>
          <a:prstGeom prst="rect">
            <a:avLst/>
          </a:prstGeom>
          <a:noFill/>
          <a:ln/>
        </p:spPr>
        <p:txBody>
          <a:bodyPr wrap="square" lIns="25400" tIns="25400" rIns="25400" bIns="25400" rtlCol="0" anchor="t">
            <a:normAutofit/>
          </a:bodyPr>
          <a:lstStyle/>
          <a:p>
            <a:pPr marL="0" indent="0" algn="l">
              <a:buNone/>
            </a:pPr>
            <a:r>
              <a:rPr lang="en-US" sz="1800" kern="0" spc="-12" dirty="0">
                <a:solidFill>
                  <a:srgbClr val="13141A"/>
                </a:solidFill>
                <a:latin typeface="Arial" pitchFamily="34" charset="0"/>
                <a:ea typeface="Arial" pitchFamily="34" charset="-122"/>
                <a:cs typeface="Arial" pitchFamily="34" charset="-120"/>
              </a:rPr>
              <a:t>Responsive · iPhone 11 Pro Max</a:t>
            </a:r>
            <a:endParaRPr lang="en-US" sz="1800" dirty="0"/>
          </a:p>
        </p:txBody>
      </p:sp>
      <p:sp>
        <p:nvSpPr>
          <p:cNvPr id="38" name="Text 36"/>
          <p:cNvSpPr/>
          <p:nvPr/>
        </p:nvSpPr>
        <p:spPr>
          <a:xfrm>
            <a:off x="16094351" y="7230303"/>
            <a:ext cx="661392" cy="294654"/>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41815A"/>
                </a:solidFill>
                <a:latin typeface="Courier New" pitchFamily="34" charset="0"/>
                <a:ea typeface="Courier New" pitchFamily="34" charset="-122"/>
                <a:cs typeface="Courier New" pitchFamily="34" charset="-120"/>
              </a:rPr>
              <a:t>PASS</a:t>
            </a:r>
            <a:endParaRPr lang="en-US" sz="1800" dirty="0"/>
          </a:p>
        </p:txBody>
      </p:sp>
      <p:sp>
        <p:nvSpPr>
          <p:cNvPr id="39" name="Shape 37"/>
          <p:cNvSpPr/>
          <p:nvPr/>
        </p:nvSpPr>
        <p:spPr>
          <a:xfrm>
            <a:off x="9429751" y="7780864"/>
            <a:ext cx="7620000" cy="654067"/>
          </a:xfrm>
          <a:prstGeom prst="roundRect">
            <a:avLst>
              <a:gd name="adj" fmla="val 17475"/>
            </a:avLst>
          </a:prstGeom>
          <a:solidFill>
            <a:srgbClr val="FBF8F0"/>
          </a:solidFill>
          <a:ln w="8283">
            <a:solidFill>
              <a:srgbClr val="13141A">
                <a:alpha val="12000"/>
              </a:srgbClr>
            </a:solidFill>
            <a:prstDash val="solid"/>
          </a:ln>
        </p:spPr>
        <p:txBody>
          <a:bodyPr/>
          <a:lstStyle/>
          <a:p>
            <a:endParaRPr lang="en-VN"/>
          </a:p>
        </p:txBody>
      </p:sp>
      <p:sp>
        <p:nvSpPr>
          <p:cNvPr id="40" name="Text 38"/>
          <p:cNvSpPr/>
          <p:nvPr/>
        </p:nvSpPr>
        <p:spPr>
          <a:xfrm>
            <a:off x="9647557" y="7903421"/>
            <a:ext cx="3312861" cy="447054"/>
          </a:xfrm>
          <a:prstGeom prst="rect">
            <a:avLst/>
          </a:prstGeom>
          <a:noFill/>
          <a:ln/>
        </p:spPr>
        <p:txBody>
          <a:bodyPr wrap="square" lIns="25400" tIns="25400" rIns="25400" bIns="25400" rtlCol="0" anchor="t">
            <a:normAutofit/>
          </a:bodyPr>
          <a:lstStyle/>
          <a:p>
            <a:pPr marL="0" indent="0" algn="l">
              <a:buNone/>
            </a:pPr>
            <a:r>
              <a:rPr lang="en-US" sz="1800" kern="0" spc="-12" dirty="0">
                <a:solidFill>
                  <a:srgbClr val="13141A"/>
                </a:solidFill>
                <a:latin typeface="Arial" pitchFamily="34" charset="0"/>
                <a:ea typeface="Arial" pitchFamily="34" charset="-122"/>
                <a:cs typeface="Arial" pitchFamily="34" charset="-120"/>
              </a:rPr>
              <a:t>Pipeline AI · paper thực từ arXiv</a:t>
            </a:r>
            <a:endParaRPr lang="en-US" sz="1800" dirty="0"/>
          </a:p>
        </p:txBody>
      </p:sp>
      <p:sp>
        <p:nvSpPr>
          <p:cNvPr id="41" name="Text 39"/>
          <p:cNvSpPr/>
          <p:nvPr/>
        </p:nvSpPr>
        <p:spPr>
          <a:xfrm>
            <a:off x="16094351" y="7979621"/>
            <a:ext cx="661392" cy="294654"/>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41815A"/>
                </a:solidFill>
                <a:latin typeface="Courier New" pitchFamily="34" charset="0"/>
                <a:ea typeface="Courier New" pitchFamily="34" charset="-122"/>
                <a:cs typeface="Courier New" pitchFamily="34" charset="-120"/>
              </a:rPr>
              <a:t>PASS</a:t>
            </a:r>
            <a:endParaRPr lang="en-US" sz="1800" dirty="0"/>
          </a:p>
        </p:txBody>
      </p:sp>
      <p:sp>
        <p:nvSpPr>
          <p:cNvPr id="42" name="Shape 40"/>
          <p:cNvSpPr/>
          <p:nvPr/>
        </p:nvSpPr>
        <p:spPr>
          <a:xfrm>
            <a:off x="9429751" y="8530181"/>
            <a:ext cx="7620000" cy="654067"/>
          </a:xfrm>
          <a:prstGeom prst="roundRect">
            <a:avLst>
              <a:gd name="adj" fmla="val 17475"/>
            </a:avLst>
          </a:prstGeom>
          <a:solidFill>
            <a:srgbClr val="FBF8F0"/>
          </a:solidFill>
          <a:ln w="8283">
            <a:solidFill>
              <a:srgbClr val="13141A">
                <a:alpha val="12000"/>
              </a:srgbClr>
            </a:solidFill>
            <a:prstDash val="solid"/>
          </a:ln>
        </p:spPr>
        <p:txBody>
          <a:bodyPr/>
          <a:lstStyle/>
          <a:p>
            <a:endParaRPr lang="en-VN"/>
          </a:p>
        </p:txBody>
      </p:sp>
      <p:sp>
        <p:nvSpPr>
          <p:cNvPr id="43" name="Text 41"/>
          <p:cNvSpPr/>
          <p:nvPr/>
        </p:nvSpPr>
        <p:spPr>
          <a:xfrm>
            <a:off x="9647557" y="8652738"/>
            <a:ext cx="3507477" cy="447054"/>
          </a:xfrm>
          <a:prstGeom prst="rect">
            <a:avLst/>
          </a:prstGeom>
          <a:noFill/>
          <a:ln/>
        </p:spPr>
        <p:txBody>
          <a:bodyPr wrap="square" lIns="25400" tIns="25400" rIns="25400" bIns="25400" rtlCol="0" anchor="t">
            <a:normAutofit/>
          </a:bodyPr>
          <a:lstStyle/>
          <a:p>
            <a:pPr marL="0" indent="0" algn="l">
              <a:buNone/>
            </a:pPr>
            <a:r>
              <a:rPr lang="en-US" sz="1800" kern="0" spc="-12" dirty="0">
                <a:solidFill>
                  <a:srgbClr val="13141A"/>
                </a:solidFill>
                <a:latin typeface="Arial" pitchFamily="34" charset="0"/>
                <a:ea typeface="Arial" pitchFamily="34" charset="-122"/>
                <a:cs typeface="Arial" pitchFamily="34" charset="-120"/>
              </a:rPr>
              <a:t>Flyway migration · Railway deploy</a:t>
            </a:r>
            <a:endParaRPr lang="en-US" sz="1800" dirty="0"/>
          </a:p>
        </p:txBody>
      </p:sp>
      <p:sp>
        <p:nvSpPr>
          <p:cNvPr id="44" name="Text 42"/>
          <p:cNvSpPr/>
          <p:nvPr/>
        </p:nvSpPr>
        <p:spPr>
          <a:xfrm>
            <a:off x="16094351" y="8728938"/>
            <a:ext cx="661392" cy="294654"/>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41815A"/>
                </a:solidFill>
                <a:latin typeface="Courier New" pitchFamily="34" charset="0"/>
                <a:ea typeface="Courier New" pitchFamily="34" charset="-122"/>
                <a:cs typeface="Courier New" pitchFamily="34" charset="-120"/>
              </a:rPr>
              <a:t>PASS</a:t>
            </a:r>
            <a:endParaRPr lang="en-US" sz="1800" dirty="0"/>
          </a:p>
        </p:txBody>
      </p:sp>
      <p:sp>
        <p:nvSpPr>
          <p:cNvPr id="45" name="Text 43"/>
          <p:cNvSpPr/>
          <p:nvPr/>
        </p:nvSpPr>
        <p:spPr>
          <a:xfrm>
            <a:off x="1238250" y="9458740"/>
            <a:ext cx="3767941"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6B6A65"/>
                </a:solidFill>
                <a:latin typeface="Courier New" pitchFamily="34" charset="0"/>
                <a:ea typeface="Courier New" pitchFamily="34" charset="-122"/>
                <a:cs typeface="Courier New" pitchFamily="34" charset="-120"/>
              </a:rPr>
              <a:t>12 — RESULTS &amp; EVALUATION</a:t>
            </a:r>
            <a:endParaRPr lang="en-US" sz="1800" dirty="0"/>
          </a:p>
        </p:txBody>
      </p:sp>
      <p:sp>
        <p:nvSpPr>
          <p:cNvPr id="46" name="Text 44"/>
          <p:cNvSpPr/>
          <p:nvPr/>
        </p:nvSpPr>
        <p:spPr>
          <a:xfrm>
            <a:off x="16025425" y="9458740"/>
            <a:ext cx="1100526"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6B6A65"/>
                </a:solidFill>
                <a:latin typeface="Courier New" pitchFamily="34" charset="0"/>
                <a:ea typeface="Courier New" pitchFamily="34" charset="-122"/>
                <a:cs typeface="Courier New" pitchFamily="34" charset="-120"/>
              </a:rPr>
              <a:t>12 / 15</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0E6"/>
        </a:solidFill>
        <a:effectLst/>
      </p:bgPr>
    </p:bg>
    <p:spTree>
      <p:nvGrpSpPr>
        <p:cNvPr id="1" name=""/>
        <p:cNvGrpSpPr/>
        <p:nvPr/>
      </p:nvGrpSpPr>
      <p:grpSpPr>
        <a:xfrm>
          <a:off x="0" y="0"/>
          <a:ext cx="0" cy="0"/>
          <a:chOff x="0" y="0"/>
          <a:chExt cx="0" cy="0"/>
        </a:xfrm>
      </p:grpSpPr>
      <p:sp>
        <p:nvSpPr>
          <p:cNvPr id="2" name="Text 0"/>
          <p:cNvSpPr/>
          <p:nvPr/>
        </p:nvSpPr>
        <p:spPr>
          <a:xfrm>
            <a:off x="1238250" y="1047750"/>
            <a:ext cx="3361248"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6B6A65"/>
                </a:solidFill>
                <a:latin typeface="Courier New" pitchFamily="34" charset="0"/>
                <a:ea typeface="Courier New" pitchFamily="34" charset="-122"/>
                <a:cs typeface="Courier New" pitchFamily="34" charset="-120"/>
              </a:rPr>
              <a:t>HẠN CHẾ · LIMITATIONS</a:t>
            </a:r>
            <a:endParaRPr lang="en-US" sz="1800" dirty="0"/>
          </a:p>
        </p:txBody>
      </p:sp>
      <p:sp>
        <p:nvSpPr>
          <p:cNvPr id="3" name="Text 1"/>
          <p:cNvSpPr/>
          <p:nvPr/>
        </p:nvSpPr>
        <p:spPr>
          <a:xfrm>
            <a:off x="16757012" y="1047750"/>
            <a:ext cx="368938"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6B6A65"/>
                </a:solidFill>
                <a:latin typeface="Courier New" pitchFamily="34" charset="0"/>
                <a:ea typeface="Courier New" pitchFamily="34" charset="-122"/>
                <a:cs typeface="Courier New" pitchFamily="34" charset="-120"/>
              </a:rPr>
              <a:t>13</a:t>
            </a:r>
            <a:endParaRPr lang="en-US" sz="1800" dirty="0"/>
          </a:p>
        </p:txBody>
      </p:sp>
      <p:sp>
        <p:nvSpPr>
          <p:cNvPr id="4" name="Text 2"/>
          <p:cNvSpPr/>
          <p:nvPr/>
        </p:nvSpPr>
        <p:spPr>
          <a:xfrm>
            <a:off x="1238250" y="2788780"/>
            <a:ext cx="6295143" cy="294861"/>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6B6A65"/>
                </a:solidFill>
                <a:latin typeface="Courier New" pitchFamily="34" charset="0"/>
                <a:ea typeface="Courier New" pitchFamily="34" charset="-122"/>
                <a:cs typeface="Courier New" pitchFamily="34" charset="-120"/>
              </a:rPr>
              <a:t>WHAT WE'D IMPROVE GIVEN MORE TIME</a:t>
            </a:r>
            <a:endParaRPr lang="en-US" sz="1800" dirty="0"/>
          </a:p>
        </p:txBody>
      </p:sp>
      <p:sp>
        <p:nvSpPr>
          <p:cNvPr id="5" name="Text 3"/>
          <p:cNvSpPr/>
          <p:nvPr/>
        </p:nvSpPr>
        <p:spPr>
          <a:xfrm>
            <a:off x="1238250" y="3274089"/>
            <a:ext cx="6295143" cy="3632752"/>
          </a:xfrm>
          <a:prstGeom prst="rect">
            <a:avLst/>
          </a:prstGeom>
          <a:noFill/>
          <a:ln/>
        </p:spPr>
        <p:txBody>
          <a:bodyPr wrap="square" lIns="25400" tIns="25400" rIns="25400" bIns="25400" rtlCol="0" anchor="t">
            <a:normAutofit/>
          </a:bodyPr>
          <a:lstStyle/>
          <a:p>
            <a:pPr marL="0" indent="0" algn="l">
              <a:lnSpc>
                <a:spcPct val="98000"/>
              </a:lnSpc>
              <a:buNone/>
            </a:pPr>
            <a:r>
              <a:rPr lang="en-US" sz="7200" kern="0" spc="-252" dirty="0">
                <a:solidFill>
                  <a:srgbClr val="13141A"/>
                </a:solidFill>
                <a:latin typeface="Arial" pitchFamily="34" charset="0"/>
                <a:ea typeface="Arial" pitchFamily="34" charset="-122"/>
                <a:cs typeface="Arial" pitchFamily="34" charset="-120"/>
              </a:rPr>
              <a:t>Trung thực </a:t>
            </a:r>
            <a:r>
              <a:rPr lang="en-US" sz="7200" i="1" kern="0" spc="-252" dirty="0">
                <a:solidFill>
                  <a:srgbClr val="13141A"/>
                </a:solidFill>
                <a:latin typeface="Georgia" pitchFamily="34" charset="0"/>
                <a:ea typeface="Georgia" pitchFamily="34" charset="-122"/>
                <a:cs typeface="Georgia" pitchFamily="34" charset="-120"/>
              </a:rPr>
              <a:t>về những gì </a:t>
            </a:r>
            <a:r>
              <a:rPr lang="en-US" sz="7200" kern="0" spc="-252" dirty="0">
                <a:solidFill>
                  <a:srgbClr val="13141A"/>
                </a:solidFill>
                <a:latin typeface="Arial" pitchFamily="34" charset="0"/>
                <a:ea typeface="Arial" pitchFamily="34" charset="-122"/>
                <a:cs typeface="Arial" pitchFamily="34" charset="-120"/>
              </a:rPr>
              <a:t>chưa hoàn thiện.</a:t>
            </a:r>
            <a:endParaRPr lang="en-US" sz="7200" dirty="0"/>
          </a:p>
        </p:txBody>
      </p:sp>
      <p:sp>
        <p:nvSpPr>
          <p:cNvPr id="6" name="Text 4"/>
          <p:cNvSpPr/>
          <p:nvPr/>
        </p:nvSpPr>
        <p:spPr>
          <a:xfrm>
            <a:off x="1238250" y="7211564"/>
            <a:ext cx="6295143" cy="352839"/>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12" dirty="0">
                <a:solidFill>
                  <a:srgbClr val="2A2C36"/>
                </a:solidFill>
                <a:latin typeface="Arial" pitchFamily="34" charset="0"/>
                <a:ea typeface="Arial" pitchFamily="34" charset="-122"/>
                <a:cs typeface="Arial" pitchFamily="34" charset="-120"/>
              </a:rPr>
              <a:t>5 ràng buộc đã được nhận diện rõ ràng và tài liệu hóa.</a:t>
            </a:r>
            <a:endParaRPr lang="en-US" sz="1800" dirty="0"/>
          </a:p>
        </p:txBody>
      </p:sp>
      <p:sp>
        <p:nvSpPr>
          <p:cNvPr id="7" name="Shape 5"/>
          <p:cNvSpPr/>
          <p:nvPr/>
        </p:nvSpPr>
        <p:spPr>
          <a:xfrm>
            <a:off x="8493039" y="2203562"/>
            <a:ext cx="8556711" cy="1074927"/>
          </a:xfrm>
          <a:prstGeom prst="roundRect">
            <a:avLst>
              <a:gd name="adj" fmla="val 12405"/>
            </a:avLst>
          </a:prstGeom>
          <a:solidFill>
            <a:srgbClr val="FBF8F0"/>
          </a:solidFill>
          <a:ln w="8283">
            <a:solidFill>
              <a:srgbClr val="13141A">
                <a:alpha val="12000"/>
              </a:srgbClr>
            </a:solidFill>
            <a:prstDash val="solid"/>
          </a:ln>
        </p:spPr>
        <p:txBody>
          <a:bodyPr/>
          <a:lstStyle/>
          <a:p>
            <a:endParaRPr lang="en-VN"/>
          </a:p>
        </p:txBody>
      </p:sp>
      <p:sp>
        <p:nvSpPr>
          <p:cNvPr id="8" name="Text 6"/>
          <p:cNvSpPr/>
          <p:nvPr/>
        </p:nvSpPr>
        <p:spPr>
          <a:xfrm>
            <a:off x="8767918" y="2480124"/>
            <a:ext cx="552450" cy="559904"/>
          </a:xfrm>
          <a:prstGeom prst="rect">
            <a:avLst/>
          </a:prstGeom>
          <a:noFill/>
          <a:ln/>
        </p:spPr>
        <p:txBody>
          <a:bodyPr wrap="square" lIns="25400" tIns="25400" rIns="25400" bIns="25400" rtlCol="0" anchor="t">
            <a:normAutofit/>
          </a:bodyPr>
          <a:lstStyle/>
          <a:p>
            <a:pPr marL="0" indent="0" algn="l">
              <a:buNone/>
            </a:pPr>
            <a:r>
              <a:rPr lang="en-US" sz="3150" i="1" kern="0" spc="-63" dirty="0">
                <a:solidFill>
                  <a:srgbClr val="294792"/>
                </a:solidFill>
                <a:latin typeface="Georgia" pitchFamily="34" charset="0"/>
                <a:ea typeface="Georgia" pitchFamily="34" charset="-122"/>
                <a:cs typeface="Georgia" pitchFamily="34" charset="-120"/>
              </a:rPr>
              <a:t>01</a:t>
            </a:r>
            <a:endParaRPr lang="en-US" sz="3150" dirty="0"/>
          </a:p>
        </p:txBody>
      </p:sp>
      <p:sp>
        <p:nvSpPr>
          <p:cNvPr id="9" name="Text 7"/>
          <p:cNvSpPr/>
          <p:nvPr/>
        </p:nvSpPr>
        <p:spPr>
          <a:xfrm>
            <a:off x="9472717" y="2440393"/>
            <a:ext cx="3207022" cy="336274"/>
          </a:xfrm>
          <a:prstGeom prst="rect">
            <a:avLst/>
          </a:prstGeom>
          <a:noFill/>
          <a:ln/>
        </p:spPr>
        <p:txBody>
          <a:bodyPr wrap="square" lIns="25400" tIns="25400" rIns="25400" bIns="25400" rtlCol="0" anchor="t">
            <a:normAutofit/>
          </a:bodyPr>
          <a:lstStyle/>
          <a:p>
            <a:pPr marL="0" indent="0" algn="l">
              <a:buNone/>
            </a:pPr>
            <a:r>
              <a:rPr lang="en-US" sz="1800" kern="0" spc="-12" dirty="0">
                <a:solidFill>
                  <a:srgbClr val="13141A"/>
                </a:solidFill>
                <a:latin typeface="Arial" pitchFamily="34" charset="0"/>
                <a:ea typeface="Arial" pitchFamily="34" charset="-122"/>
                <a:cs typeface="Arial" pitchFamily="34" charset="-120"/>
              </a:rPr>
              <a:t>Chưa hỗ trợ upload PDF tùy ý</a:t>
            </a:r>
            <a:endParaRPr lang="en-US" sz="1800" dirty="0"/>
          </a:p>
        </p:txBody>
      </p:sp>
      <p:sp>
        <p:nvSpPr>
          <p:cNvPr id="10" name="Text 8"/>
          <p:cNvSpPr/>
          <p:nvPr/>
        </p:nvSpPr>
        <p:spPr>
          <a:xfrm>
            <a:off x="9472717" y="2776615"/>
            <a:ext cx="3207022" cy="303143"/>
          </a:xfrm>
          <a:prstGeom prst="rect">
            <a:avLst/>
          </a:prstGeom>
          <a:noFill/>
          <a:ln/>
        </p:spPr>
        <p:txBody>
          <a:bodyPr wrap="square" lIns="25400" tIns="25400" rIns="25400" bIns="25400" rtlCol="0" anchor="t">
            <a:normAutofit/>
          </a:bodyPr>
          <a:lstStyle/>
          <a:p>
            <a:pPr marL="0" indent="0" algn="l">
              <a:buNone/>
            </a:pPr>
            <a:r>
              <a:rPr lang="en-US" sz="1800" kern="0" spc="-12" dirty="0">
                <a:solidFill>
                  <a:srgbClr val="6B6A65"/>
                </a:solidFill>
                <a:latin typeface="Arial" pitchFamily="34" charset="0"/>
                <a:ea typeface="Arial" pitchFamily="34" charset="-122"/>
                <a:cs typeface="Arial" pitchFamily="34" charset="-120"/>
              </a:rPr>
              <a:t>Chỉ xử lý paper từ nguồn arXiv.</a:t>
            </a:r>
            <a:endParaRPr lang="en-US" sz="1800" dirty="0"/>
          </a:p>
        </p:txBody>
      </p:sp>
      <p:sp>
        <p:nvSpPr>
          <p:cNvPr id="11" name="Shape 9"/>
          <p:cNvSpPr/>
          <p:nvPr/>
        </p:nvSpPr>
        <p:spPr>
          <a:xfrm>
            <a:off x="8493039" y="3468990"/>
            <a:ext cx="8556711" cy="1074927"/>
          </a:xfrm>
          <a:prstGeom prst="roundRect">
            <a:avLst>
              <a:gd name="adj" fmla="val 12405"/>
            </a:avLst>
          </a:prstGeom>
          <a:solidFill>
            <a:srgbClr val="FBF8F0"/>
          </a:solidFill>
          <a:ln w="8283">
            <a:solidFill>
              <a:srgbClr val="13141A">
                <a:alpha val="12000"/>
              </a:srgbClr>
            </a:solidFill>
            <a:prstDash val="solid"/>
          </a:ln>
        </p:spPr>
        <p:txBody>
          <a:bodyPr/>
          <a:lstStyle/>
          <a:p>
            <a:endParaRPr lang="en-VN"/>
          </a:p>
        </p:txBody>
      </p:sp>
      <p:sp>
        <p:nvSpPr>
          <p:cNvPr id="12" name="Text 10"/>
          <p:cNvSpPr/>
          <p:nvPr/>
        </p:nvSpPr>
        <p:spPr>
          <a:xfrm>
            <a:off x="8767918" y="3745551"/>
            <a:ext cx="552450" cy="559904"/>
          </a:xfrm>
          <a:prstGeom prst="rect">
            <a:avLst/>
          </a:prstGeom>
          <a:noFill/>
          <a:ln/>
        </p:spPr>
        <p:txBody>
          <a:bodyPr wrap="square" lIns="25400" tIns="25400" rIns="25400" bIns="25400" rtlCol="0" anchor="t">
            <a:normAutofit/>
          </a:bodyPr>
          <a:lstStyle/>
          <a:p>
            <a:pPr marL="0" indent="0" algn="l">
              <a:buNone/>
            </a:pPr>
            <a:r>
              <a:rPr lang="en-US" sz="3150" i="1" kern="0" spc="-63" dirty="0">
                <a:solidFill>
                  <a:srgbClr val="294792"/>
                </a:solidFill>
                <a:latin typeface="Georgia" pitchFamily="34" charset="0"/>
                <a:ea typeface="Georgia" pitchFamily="34" charset="-122"/>
                <a:cs typeface="Georgia" pitchFamily="34" charset="-120"/>
              </a:rPr>
              <a:t>02</a:t>
            </a:r>
            <a:endParaRPr lang="en-US" sz="3150" dirty="0"/>
          </a:p>
        </p:txBody>
      </p:sp>
      <p:sp>
        <p:nvSpPr>
          <p:cNvPr id="13" name="Text 11"/>
          <p:cNvSpPr/>
          <p:nvPr/>
        </p:nvSpPr>
        <p:spPr>
          <a:xfrm>
            <a:off x="9472717" y="3705820"/>
            <a:ext cx="5840996" cy="336274"/>
          </a:xfrm>
          <a:prstGeom prst="rect">
            <a:avLst/>
          </a:prstGeom>
          <a:noFill/>
          <a:ln/>
        </p:spPr>
        <p:txBody>
          <a:bodyPr wrap="square" lIns="25400" tIns="25400" rIns="25400" bIns="25400" rtlCol="0" anchor="t">
            <a:normAutofit/>
          </a:bodyPr>
          <a:lstStyle/>
          <a:p>
            <a:pPr marL="0" indent="0" algn="l">
              <a:buNone/>
            </a:pPr>
            <a:r>
              <a:rPr lang="en-US" sz="1800" kern="0" spc="-12" dirty="0">
                <a:solidFill>
                  <a:srgbClr val="13141A"/>
                </a:solidFill>
                <a:latin typeface="Arial" pitchFamily="34" charset="0"/>
                <a:ea typeface="Arial" pitchFamily="34" charset="-122"/>
                <a:cs typeface="Arial" pitchFamily="34" charset="-120"/>
              </a:rPr>
              <a:t>Auth chưa đầy đủ</a:t>
            </a:r>
            <a:endParaRPr lang="en-US" sz="1800" dirty="0"/>
          </a:p>
        </p:txBody>
      </p:sp>
      <p:sp>
        <p:nvSpPr>
          <p:cNvPr id="14" name="Text 12"/>
          <p:cNvSpPr/>
          <p:nvPr/>
        </p:nvSpPr>
        <p:spPr>
          <a:xfrm>
            <a:off x="9472717" y="4042043"/>
            <a:ext cx="5840996" cy="303143"/>
          </a:xfrm>
          <a:prstGeom prst="rect">
            <a:avLst/>
          </a:prstGeom>
          <a:noFill/>
          <a:ln/>
        </p:spPr>
        <p:txBody>
          <a:bodyPr wrap="square" lIns="25400" tIns="25400" rIns="25400" bIns="25400" rtlCol="0" anchor="t">
            <a:normAutofit/>
          </a:bodyPr>
          <a:lstStyle/>
          <a:p>
            <a:pPr marL="0" indent="0" algn="l">
              <a:buNone/>
            </a:pPr>
            <a:r>
              <a:rPr lang="en-US" sz="1800" kern="0" spc="-12" dirty="0">
                <a:solidFill>
                  <a:srgbClr val="6B6A65"/>
                </a:solidFill>
                <a:latin typeface="Arial" pitchFamily="34" charset="0"/>
                <a:ea typeface="Arial" pitchFamily="34" charset="-122"/>
                <a:cs typeface="Arial" pitchFamily="34" charset="-120"/>
              </a:rPr>
              <a:t>Không có forgot password, đổi email, 2FA, refresh token.</a:t>
            </a:r>
            <a:endParaRPr lang="en-US" sz="1800" dirty="0"/>
          </a:p>
        </p:txBody>
      </p:sp>
      <p:sp>
        <p:nvSpPr>
          <p:cNvPr id="15" name="Shape 13"/>
          <p:cNvSpPr/>
          <p:nvPr/>
        </p:nvSpPr>
        <p:spPr>
          <a:xfrm>
            <a:off x="8493039" y="4734417"/>
            <a:ext cx="8556711" cy="1074927"/>
          </a:xfrm>
          <a:prstGeom prst="roundRect">
            <a:avLst>
              <a:gd name="adj" fmla="val 12405"/>
            </a:avLst>
          </a:prstGeom>
          <a:solidFill>
            <a:srgbClr val="FBF8F0"/>
          </a:solidFill>
          <a:ln w="8283">
            <a:solidFill>
              <a:srgbClr val="13141A">
                <a:alpha val="12000"/>
              </a:srgbClr>
            </a:solidFill>
            <a:prstDash val="solid"/>
          </a:ln>
        </p:spPr>
        <p:txBody>
          <a:bodyPr/>
          <a:lstStyle/>
          <a:p>
            <a:endParaRPr lang="en-VN"/>
          </a:p>
        </p:txBody>
      </p:sp>
      <p:sp>
        <p:nvSpPr>
          <p:cNvPr id="16" name="Text 14"/>
          <p:cNvSpPr/>
          <p:nvPr/>
        </p:nvSpPr>
        <p:spPr>
          <a:xfrm>
            <a:off x="8767918" y="5010978"/>
            <a:ext cx="552450" cy="559904"/>
          </a:xfrm>
          <a:prstGeom prst="rect">
            <a:avLst/>
          </a:prstGeom>
          <a:noFill/>
          <a:ln/>
        </p:spPr>
        <p:txBody>
          <a:bodyPr wrap="square" lIns="25400" tIns="25400" rIns="25400" bIns="25400" rtlCol="0" anchor="t">
            <a:normAutofit/>
          </a:bodyPr>
          <a:lstStyle/>
          <a:p>
            <a:pPr marL="0" indent="0" algn="l">
              <a:buNone/>
            </a:pPr>
            <a:r>
              <a:rPr lang="en-US" sz="3150" i="1" kern="0" spc="-63" dirty="0">
                <a:solidFill>
                  <a:srgbClr val="294792"/>
                </a:solidFill>
                <a:latin typeface="Georgia" pitchFamily="34" charset="0"/>
                <a:ea typeface="Georgia" pitchFamily="34" charset="-122"/>
                <a:cs typeface="Georgia" pitchFamily="34" charset="-120"/>
              </a:rPr>
              <a:t>03</a:t>
            </a:r>
            <a:endParaRPr lang="en-US" sz="3150" dirty="0"/>
          </a:p>
        </p:txBody>
      </p:sp>
      <p:sp>
        <p:nvSpPr>
          <p:cNvPr id="17" name="Text 15"/>
          <p:cNvSpPr/>
          <p:nvPr/>
        </p:nvSpPr>
        <p:spPr>
          <a:xfrm>
            <a:off x="9472717" y="4971248"/>
            <a:ext cx="4513079" cy="336274"/>
          </a:xfrm>
          <a:prstGeom prst="rect">
            <a:avLst/>
          </a:prstGeom>
          <a:noFill/>
          <a:ln/>
        </p:spPr>
        <p:txBody>
          <a:bodyPr wrap="square" lIns="25400" tIns="25400" rIns="25400" bIns="25400" rtlCol="0" anchor="t">
            <a:normAutofit/>
          </a:bodyPr>
          <a:lstStyle/>
          <a:p>
            <a:pPr marL="0" indent="0" algn="l">
              <a:buNone/>
            </a:pPr>
            <a:r>
              <a:rPr lang="en-US" sz="1800" kern="0" spc="-12" dirty="0">
                <a:solidFill>
                  <a:srgbClr val="13141A"/>
                </a:solidFill>
                <a:latin typeface="Arial" pitchFamily="34" charset="0"/>
                <a:ea typeface="Arial" pitchFamily="34" charset="-122"/>
                <a:cs typeface="Arial" pitchFamily="34" charset="-120"/>
              </a:rPr>
              <a:t>Scheduler cố định 06:00</a:t>
            </a:r>
            <a:endParaRPr lang="en-US" sz="1800" dirty="0"/>
          </a:p>
        </p:txBody>
      </p:sp>
      <p:sp>
        <p:nvSpPr>
          <p:cNvPr id="18" name="Text 16"/>
          <p:cNvSpPr/>
          <p:nvPr/>
        </p:nvSpPr>
        <p:spPr>
          <a:xfrm>
            <a:off x="9472717" y="5307470"/>
            <a:ext cx="4513079" cy="303143"/>
          </a:xfrm>
          <a:prstGeom prst="rect">
            <a:avLst/>
          </a:prstGeom>
          <a:noFill/>
          <a:ln/>
        </p:spPr>
        <p:txBody>
          <a:bodyPr wrap="square" lIns="25400" tIns="25400" rIns="25400" bIns="25400" rtlCol="0" anchor="t">
            <a:normAutofit/>
          </a:bodyPr>
          <a:lstStyle/>
          <a:p>
            <a:pPr marL="0" indent="0" algn="l">
              <a:buNone/>
            </a:pPr>
            <a:r>
              <a:rPr lang="en-US" sz="1800" kern="0" spc="-12" dirty="0">
                <a:solidFill>
                  <a:srgbClr val="6B6A65"/>
                </a:solidFill>
                <a:latin typeface="Arial" pitchFamily="34" charset="0"/>
                <a:ea typeface="Arial" pitchFamily="34" charset="-122"/>
                <a:cs typeface="Arial" pitchFamily="34" charset="-120"/>
              </a:rPr>
              <a:t>User chưa thể tự trigger fetch theo nhu cầu.</a:t>
            </a:r>
            <a:endParaRPr lang="en-US" sz="1800" dirty="0"/>
          </a:p>
        </p:txBody>
      </p:sp>
      <p:sp>
        <p:nvSpPr>
          <p:cNvPr id="19" name="Shape 17"/>
          <p:cNvSpPr/>
          <p:nvPr/>
        </p:nvSpPr>
        <p:spPr>
          <a:xfrm>
            <a:off x="8493039" y="5999844"/>
            <a:ext cx="8556711" cy="1074927"/>
          </a:xfrm>
          <a:prstGeom prst="roundRect">
            <a:avLst>
              <a:gd name="adj" fmla="val 12405"/>
            </a:avLst>
          </a:prstGeom>
          <a:solidFill>
            <a:srgbClr val="FBF8F0"/>
          </a:solidFill>
          <a:ln w="8283">
            <a:solidFill>
              <a:srgbClr val="13141A">
                <a:alpha val="12000"/>
              </a:srgbClr>
            </a:solidFill>
            <a:prstDash val="solid"/>
          </a:ln>
        </p:spPr>
        <p:txBody>
          <a:bodyPr/>
          <a:lstStyle/>
          <a:p>
            <a:endParaRPr lang="en-VN"/>
          </a:p>
        </p:txBody>
      </p:sp>
      <p:sp>
        <p:nvSpPr>
          <p:cNvPr id="20" name="Text 18"/>
          <p:cNvSpPr/>
          <p:nvPr/>
        </p:nvSpPr>
        <p:spPr>
          <a:xfrm>
            <a:off x="8767918" y="6276406"/>
            <a:ext cx="552450" cy="559904"/>
          </a:xfrm>
          <a:prstGeom prst="rect">
            <a:avLst/>
          </a:prstGeom>
          <a:noFill/>
          <a:ln/>
        </p:spPr>
        <p:txBody>
          <a:bodyPr wrap="square" lIns="25400" tIns="25400" rIns="25400" bIns="25400" rtlCol="0" anchor="t">
            <a:normAutofit/>
          </a:bodyPr>
          <a:lstStyle/>
          <a:p>
            <a:pPr marL="0" indent="0" algn="l">
              <a:buNone/>
            </a:pPr>
            <a:r>
              <a:rPr lang="en-US" sz="3150" i="1" kern="0" spc="-63" dirty="0">
                <a:solidFill>
                  <a:srgbClr val="294792"/>
                </a:solidFill>
                <a:latin typeface="Georgia" pitchFamily="34" charset="0"/>
                <a:ea typeface="Georgia" pitchFamily="34" charset="-122"/>
                <a:cs typeface="Georgia" pitchFamily="34" charset="-120"/>
              </a:rPr>
              <a:t>04</a:t>
            </a:r>
            <a:endParaRPr lang="en-US" sz="3150" dirty="0"/>
          </a:p>
        </p:txBody>
      </p:sp>
      <p:sp>
        <p:nvSpPr>
          <p:cNvPr id="21" name="Text 19"/>
          <p:cNvSpPr/>
          <p:nvPr/>
        </p:nvSpPr>
        <p:spPr>
          <a:xfrm>
            <a:off x="9472717" y="6236675"/>
            <a:ext cx="4567064" cy="336274"/>
          </a:xfrm>
          <a:prstGeom prst="rect">
            <a:avLst/>
          </a:prstGeom>
          <a:noFill/>
          <a:ln/>
        </p:spPr>
        <p:txBody>
          <a:bodyPr wrap="square" lIns="25400" tIns="25400" rIns="25400" bIns="25400" rtlCol="0" anchor="t">
            <a:normAutofit/>
          </a:bodyPr>
          <a:lstStyle/>
          <a:p>
            <a:pPr marL="0" indent="0" algn="l">
              <a:buNone/>
            </a:pPr>
            <a:r>
              <a:rPr lang="en-US" sz="1800" kern="0" spc="-12" dirty="0">
                <a:solidFill>
                  <a:srgbClr val="13141A"/>
                </a:solidFill>
                <a:latin typeface="Arial" pitchFamily="34" charset="0"/>
                <a:ea typeface="Arial" pitchFamily="34" charset="-122"/>
                <a:cs typeface="Arial" pitchFamily="34" charset="-120"/>
              </a:rPr>
              <a:t>Trend chart đơn topic</a:t>
            </a:r>
            <a:endParaRPr lang="en-US" sz="1800" dirty="0"/>
          </a:p>
        </p:txBody>
      </p:sp>
      <p:sp>
        <p:nvSpPr>
          <p:cNvPr id="22" name="Text 20"/>
          <p:cNvSpPr/>
          <p:nvPr/>
        </p:nvSpPr>
        <p:spPr>
          <a:xfrm>
            <a:off x="9472717" y="6572897"/>
            <a:ext cx="4567064" cy="303143"/>
          </a:xfrm>
          <a:prstGeom prst="rect">
            <a:avLst/>
          </a:prstGeom>
          <a:noFill/>
          <a:ln/>
        </p:spPr>
        <p:txBody>
          <a:bodyPr wrap="square" lIns="25400" tIns="25400" rIns="25400" bIns="25400" rtlCol="0" anchor="t">
            <a:normAutofit/>
          </a:bodyPr>
          <a:lstStyle/>
          <a:p>
            <a:pPr marL="0" indent="0" algn="l">
              <a:buNone/>
            </a:pPr>
            <a:r>
              <a:rPr lang="en-US" sz="1800" kern="0" spc="-12" dirty="0">
                <a:solidFill>
                  <a:srgbClr val="6B6A65"/>
                </a:solidFill>
                <a:latin typeface="Arial" pitchFamily="34" charset="0"/>
                <a:ea typeface="Arial" pitchFamily="34" charset="-122"/>
                <a:cs typeface="Arial" pitchFamily="34" charset="-120"/>
              </a:rPr>
              <a:t>Chưa so sánh nhiều topic trên cùng biểu đồ.</a:t>
            </a:r>
            <a:endParaRPr lang="en-US" sz="1800" dirty="0"/>
          </a:p>
        </p:txBody>
      </p:sp>
      <p:sp>
        <p:nvSpPr>
          <p:cNvPr id="23" name="Shape 21"/>
          <p:cNvSpPr/>
          <p:nvPr/>
        </p:nvSpPr>
        <p:spPr>
          <a:xfrm>
            <a:off x="8493039" y="7265272"/>
            <a:ext cx="8556711" cy="1074927"/>
          </a:xfrm>
          <a:prstGeom prst="roundRect">
            <a:avLst>
              <a:gd name="adj" fmla="val 12405"/>
            </a:avLst>
          </a:prstGeom>
          <a:solidFill>
            <a:srgbClr val="FBF8F0"/>
          </a:solidFill>
          <a:ln w="8283">
            <a:solidFill>
              <a:srgbClr val="13141A">
                <a:alpha val="12000"/>
              </a:srgbClr>
            </a:solidFill>
            <a:prstDash val="solid"/>
          </a:ln>
        </p:spPr>
        <p:txBody>
          <a:bodyPr/>
          <a:lstStyle/>
          <a:p>
            <a:endParaRPr lang="en-VN"/>
          </a:p>
        </p:txBody>
      </p:sp>
      <p:sp>
        <p:nvSpPr>
          <p:cNvPr id="24" name="Text 22"/>
          <p:cNvSpPr/>
          <p:nvPr/>
        </p:nvSpPr>
        <p:spPr>
          <a:xfrm>
            <a:off x="8767918" y="7541833"/>
            <a:ext cx="552450" cy="559904"/>
          </a:xfrm>
          <a:prstGeom prst="rect">
            <a:avLst/>
          </a:prstGeom>
          <a:noFill/>
          <a:ln/>
        </p:spPr>
        <p:txBody>
          <a:bodyPr wrap="square" lIns="25400" tIns="25400" rIns="25400" bIns="25400" rtlCol="0" anchor="t">
            <a:normAutofit/>
          </a:bodyPr>
          <a:lstStyle/>
          <a:p>
            <a:pPr marL="0" indent="0" algn="l">
              <a:buNone/>
            </a:pPr>
            <a:r>
              <a:rPr lang="en-US" sz="3150" i="1" kern="0" spc="-63" dirty="0">
                <a:solidFill>
                  <a:srgbClr val="294792"/>
                </a:solidFill>
                <a:latin typeface="Georgia" pitchFamily="34" charset="0"/>
                <a:ea typeface="Georgia" pitchFamily="34" charset="-122"/>
                <a:cs typeface="Georgia" pitchFamily="34" charset="-120"/>
              </a:rPr>
              <a:t>05</a:t>
            </a:r>
            <a:endParaRPr lang="en-US" sz="3150" dirty="0"/>
          </a:p>
        </p:txBody>
      </p:sp>
      <p:sp>
        <p:nvSpPr>
          <p:cNvPr id="25" name="Text 23"/>
          <p:cNvSpPr/>
          <p:nvPr/>
        </p:nvSpPr>
        <p:spPr>
          <a:xfrm>
            <a:off x="9472717" y="7502103"/>
            <a:ext cx="4450562" cy="336274"/>
          </a:xfrm>
          <a:prstGeom prst="rect">
            <a:avLst/>
          </a:prstGeom>
          <a:noFill/>
          <a:ln/>
        </p:spPr>
        <p:txBody>
          <a:bodyPr wrap="square" lIns="25400" tIns="25400" rIns="25400" bIns="25400" rtlCol="0" anchor="t">
            <a:normAutofit/>
          </a:bodyPr>
          <a:lstStyle/>
          <a:p>
            <a:pPr marL="0" indent="0" algn="l">
              <a:buNone/>
            </a:pPr>
            <a:r>
              <a:rPr lang="en-US" sz="1800" kern="0" spc="-12" dirty="0">
                <a:solidFill>
                  <a:srgbClr val="13141A"/>
                </a:solidFill>
                <a:latin typeface="Arial" pitchFamily="34" charset="0"/>
                <a:ea typeface="Arial" pitchFamily="34" charset="-122"/>
                <a:cs typeface="Arial" pitchFamily="34" charset="-120"/>
              </a:rPr>
              <a:t>Phân quyền nhị phân</a:t>
            </a:r>
            <a:endParaRPr lang="en-US" sz="1800" dirty="0"/>
          </a:p>
        </p:txBody>
      </p:sp>
      <p:sp>
        <p:nvSpPr>
          <p:cNvPr id="26" name="Text 24"/>
          <p:cNvSpPr/>
          <p:nvPr/>
        </p:nvSpPr>
        <p:spPr>
          <a:xfrm>
            <a:off x="9472717" y="7838324"/>
            <a:ext cx="4450562" cy="303143"/>
          </a:xfrm>
          <a:prstGeom prst="rect">
            <a:avLst/>
          </a:prstGeom>
          <a:noFill/>
          <a:ln/>
        </p:spPr>
        <p:txBody>
          <a:bodyPr wrap="square" lIns="25400" tIns="25400" rIns="25400" bIns="25400" rtlCol="0" anchor="t">
            <a:normAutofit/>
          </a:bodyPr>
          <a:lstStyle/>
          <a:p>
            <a:pPr marL="0" indent="0" algn="l">
              <a:buNone/>
            </a:pPr>
            <a:r>
              <a:rPr lang="en-US" sz="1800" kern="0" spc="-12" dirty="0">
                <a:solidFill>
                  <a:srgbClr val="6B6A65"/>
                </a:solidFill>
                <a:latin typeface="Arial" pitchFamily="34" charset="0"/>
                <a:ea typeface="Arial" pitchFamily="34" charset="-122"/>
                <a:cs typeface="Arial" pitchFamily="34" charset="-120"/>
              </a:rPr>
              <a:t>Chỉ USER / ADMIN — chưa có role chi tiết.</a:t>
            </a:r>
            <a:endParaRPr lang="en-US" sz="1800" dirty="0"/>
          </a:p>
        </p:txBody>
      </p:sp>
      <p:sp>
        <p:nvSpPr>
          <p:cNvPr id="27" name="Text 25"/>
          <p:cNvSpPr/>
          <p:nvPr/>
        </p:nvSpPr>
        <p:spPr>
          <a:xfrm>
            <a:off x="1238250" y="9458740"/>
            <a:ext cx="2417461"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6B6A65"/>
                </a:solidFill>
                <a:latin typeface="Courier New" pitchFamily="34" charset="0"/>
                <a:ea typeface="Courier New" pitchFamily="34" charset="-122"/>
                <a:cs typeface="Courier New" pitchFamily="34" charset="-120"/>
              </a:rPr>
              <a:t>13 — LIMITATIONS</a:t>
            </a:r>
            <a:endParaRPr lang="en-US" sz="1800" dirty="0"/>
          </a:p>
        </p:txBody>
      </p:sp>
      <p:sp>
        <p:nvSpPr>
          <p:cNvPr id="28" name="Text 26"/>
          <p:cNvSpPr/>
          <p:nvPr/>
        </p:nvSpPr>
        <p:spPr>
          <a:xfrm>
            <a:off x="16025425" y="9458740"/>
            <a:ext cx="1100526"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6B6A65"/>
                </a:solidFill>
                <a:latin typeface="Courier New" pitchFamily="34" charset="0"/>
                <a:ea typeface="Courier New" pitchFamily="34" charset="-122"/>
                <a:cs typeface="Courier New" pitchFamily="34" charset="-120"/>
              </a:rPr>
              <a:t>13 / 15</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0E6"/>
        </a:solidFill>
        <a:effectLst/>
      </p:bgPr>
    </p:bg>
    <p:spTree>
      <p:nvGrpSpPr>
        <p:cNvPr id="1" name=""/>
        <p:cNvGrpSpPr/>
        <p:nvPr/>
      </p:nvGrpSpPr>
      <p:grpSpPr>
        <a:xfrm>
          <a:off x="0" y="0"/>
          <a:ext cx="0" cy="0"/>
          <a:chOff x="0" y="0"/>
          <a:chExt cx="0" cy="0"/>
        </a:xfrm>
      </p:grpSpPr>
      <p:sp>
        <p:nvSpPr>
          <p:cNvPr id="2" name="Text 0"/>
          <p:cNvSpPr/>
          <p:nvPr/>
        </p:nvSpPr>
        <p:spPr>
          <a:xfrm>
            <a:off x="1238250" y="1047750"/>
            <a:ext cx="4416171"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6B6A65"/>
                </a:solidFill>
                <a:latin typeface="Courier New" pitchFamily="34" charset="0"/>
                <a:ea typeface="Courier New" pitchFamily="34" charset="-122"/>
                <a:cs typeface="Courier New" pitchFamily="34" charset="-120"/>
              </a:rPr>
              <a:t>FUTURE DEVELOPMENT · ROADMAP</a:t>
            </a:r>
            <a:endParaRPr lang="en-US" sz="1800" dirty="0"/>
          </a:p>
        </p:txBody>
      </p:sp>
      <p:sp>
        <p:nvSpPr>
          <p:cNvPr id="3" name="Text 1"/>
          <p:cNvSpPr/>
          <p:nvPr/>
        </p:nvSpPr>
        <p:spPr>
          <a:xfrm>
            <a:off x="16757012" y="1047750"/>
            <a:ext cx="368938"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6B6A65"/>
                </a:solidFill>
                <a:latin typeface="Courier New" pitchFamily="34" charset="0"/>
                <a:ea typeface="Courier New" pitchFamily="34" charset="-122"/>
                <a:cs typeface="Courier New" pitchFamily="34" charset="-120"/>
              </a:rPr>
              <a:t>14</a:t>
            </a:r>
            <a:endParaRPr lang="en-US" sz="1800" dirty="0"/>
          </a:p>
        </p:txBody>
      </p:sp>
      <p:sp>
        <p:nvSpPr>
          <p:cNvPr id="4" name="Text 2"/>
          <p:cNvSpPr/>
          <p:nvPr/>
        </p:nvSpPr>
        <p:spPr>
          <a:xfrm>
            <a:off x="1238250" y="1304511"/>
            <a:ext cx="16285845" cy="949187"/>
          </a:xfrm>
          <a:prstGeom prst="rect">
            <a:avLst/>
          </a:prstGeom>
          <a:noFill/>
          <a:ln/>
        </p:spPr>
        <p:txBody>
          <a:bodyPr wrap="square" lIns="25400" tIns="25400" rIns="25400" bIns="25400" rtlCol="0" anchor="t">
            <a:normAutofit/>
          </a:bodyPr>
          <a:lstStyle/>
          <a:p>
            <a:pPr marL="0" indent="0" algn="l">
              <a:lnSpc>
                <a:spcPct val="98000"/>
              </a:lnSpc>
              <a:buNone/>
            </a:pPr>
            <a:r>
              <a:rPr lang="en-US" sz="7200" kern="0" spc="-252" dirty="0">
                <a:solidFill>
                  <a:srgbClr val="13141A"/>
                </a:solidFill>
                <a:latin typeface="Arial" pitchFamily="34" charset="0"/>
                <a:ea typeface="Arial" pitchFamily="34" charset="-122"/>
                <a:cs typeface="Arial" pitchFamily="34" charset="-120"/>
              </a:rPr>
              <a:t>Bốn hướng </a:t>
            </a:r>
            <a:r>
              <a:rPr lang="en-US" sz="7200" i="1" kern="0" spc="-252" dirty="0">
                <a:solidFill>
                  <a:srgbClr val="13141A"/>
                </a:solidFill>
                <a:latin typeface="Georgia" pitchFamily="34" charset="0"/>
                <a:ea typeface="Georgia" pitchFamily="34" charset="-122"/>
                <a:cs typeface="Georgia" pitchFamily="34" charset="-120"/>
              </a:rPr>
              <a:t>tiếp theo.</a:t>
            </a:r>
            <a:endParaRPr lang="en-US" sz="7200" dirty="0"/>
          </a:p>
        </p:txBody>
      </p:sp>
      <p:sp>
        <p:nvSpPr>
          <p:cNvPr id="5" name="Text 3"/>
          <p:cNvSpPr/>
          <p:nvPr/>
        </p:nvSpPr>
        <p:spPr>
          <a:xfrm>
            <a:off x="1238250" y="2882348"/>
            <a:ext cx="3835923" cy="858078"/>
          </a:xfrm>
          <a:prstGeom prst="rect">
            <a:avLst/>
          </a:prstGeom>
          <a:noFill/>
          <a:ln/>
        </p:spPr>
        <p:txBody>
          <a:bodyPr wrap="square" lIns="25400" tIns="25400" rIns="25400" bIns="25400" rtlCol="0" anchor="t">
            <a:normAutofit/>
          </a:bodyPr>
          <a:lstStyle/>
          <a:p>
            <a:pPr marL="0" indent="0" algn="l">
              <a:lnSpc>
                <a:spcPct val="90000"/>
              </a:lnSpc>
              <a:buNone/>
            </a:pPr>
            <a:r>
              <a:rPr lang="en-US" sz="7200" i="1" kern="0" spc="-144" dirty="0">
                <a:solidFill>
                  <a:srgbClr val="294792"/>
                </a:solidFill>
                <a:latin typeface="Georgia" pitchFamily="34" charset="0"/>
                <a:ea typeface="Georgia" pitchFamily="34" charset="-122"/>
                <a:cs typeface="Georgia" pitchFamily="34" charset="-120"/>
              </a:rPr>
              <a:t>01</a:t>
            </a:r>
            <a:endParaRPr lang="en-US" sz="7200" dirty="0"/>
          </a:p>
        </p:txBody>
      </p:sp>
      <p:sp>
        <p:nvSpPr>
          <p:cNvPr id="6" name="Text 4"/>
          <p:cNvSpPr/>
          <p:nvPr/>
        </p:nvSpPr>
        <p:spPr>
          <a:xfrm>
            <a:off x="1238250" y="3835625"/>
            <a:ext cx="3835923" cy="294861"/>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6B6A65"/>
                </a:solidFill>
                <a:latin typeface="Courier New" pitchFamily="34" charset="0"/>
                <a:ea typeface="Courier New" pitchFamily="34" charset="-122"/>
                <a:cs typeface="Courier New" pitchFamily="34" charset="-120"/>
              </a:rPr>
              <a:t>AI CAPABILITY</a:t>
            </a:r>
            <a:endParaRPr lang="en-US" sz="1800" dirty="0"/>
          </a:p>
        </p:txBody>
      </p:sp>
      <p:sp>
        <p:nvSpPr>
          <p:cNvPr id="7" name="Text 5"/>
          <p:cNvSpPr/>
          <p:nvPr/>
        </p:nvSpPr>
        <p:spPr>
          <a:xfrm>
            <a:off x="1238250" y="4225684"/>
            <a:ext cx="3835923" cy="361122"/>
          </a:xfrm>
          <a:prstGeom prst="rect">
            <a:avLst/>
          </a:prstGeom>
          <a:noFill/>
          <a:ln/>
        </p:spPr>
        <p:txBody>
          <a:bodyPr wrap="square" lIns="25400" tIns="25400" rIns="25400" bIns="25400" rtlCol="0" anchor="t">
            <a:normAutofit/>
          </a:bodyPr>
          <a:lstStyle/>
          <a:p>
            <a:pPr marL="0" indent="0" algn="l">
              <a:lnSpc>
                <a:spcPct val="115000"/>
              </a:lnSpc>
              <a:buNone/>
            </a:pPr>
            <a:r>
              <a:rPr lang="en-US" sz="2250" kern="0" spc="-12" dirty="0">
                <a:solidFill>
                  <a:srgbClr val="13141A"/>
                </a:solidFill>
                <a:latin typeface="Arial" pitchFamily="34" charset="0"/>
                <a:ea typeface="Arial" pitchFamily="34" charset="-122"/>
                <a:cs typeface="Arial" pitchFamily="34" charset="-120"/>
              </a:rPr>
              <a:t>Nâng cao chiều sâu AI</a:t>
            </a:r>
            <a:endParaRPr lang="en-US" sz="2250" dirty="0"/>
          </a:p>
        </p:txBody>
      </p:sp>
      <p:sp>
        <p:nvSpPr>
          <p:cNvPr id="8" name="Text 6"/>
          <p:cNvSpPr/>
          <p:nvPr/>
        </p:nvSpPr>
        <p:spPr>
          <a:xfrm>
            <a:off x="1078230" y="4739205"/>
            <a:ext cx="3960417" cy="1943100"/>
          </a:xfrm>
          <a:prstGeom prst="rect">
            <a:avLst/>
          </a:prstGeom>
          <a:noFill/>
          <a:ln/>
        </p:spPr>
        <p:txBody>
          <a:bodyPr wrap="square" lIns="25400" tIns="25400" rIns="25400" bIns="25400" rtlCol="0" anchor="t">
            <a:normAutofit/>
          </a:bodyPr>
          <a:lstStyle/>
          <a:p>
            <a:pPr marL="0" indent="0" algn="l">
              <a:lnSpc>
                <a:spcPct val="170000"/>
              </a:lnSpc>
              <a:buNone/>
            </a:pPr>
            <a:r>
              <a:rPr lang="en-US" sz="1800" kern="0" spc="-12" dirty="0">
                <a:solidFill>
                  <a:srgbClr val="2A2C36"/>
                </a:solidFill>
                <a:latin typeface="Arial" pitchFamily="34" charset="0"/>
                <a:ea typeface="Arial" pitchFamily="34" charset="-122"/>
                <a:cs typeface="Arial" pitchFamily="34" charset="-120"/>
              </a:rPr>
              <a:t>· Upgrade bge-small → bge-large (1024 dim)</a:t>
            </a:r>
            <a:endParaRPr lang="en-US" sz="1800" dirty="0"/>
          </a:p>
          <a:p>
            <a:pPr marL="0" indent="0" algn="l">
              <a:lnSpc>
                <a:spcPct val="170000"/>
              </a:lnSpc>
              <a:buNone/>
            </a:pPr>
            <a:r>
              <a:rPr lang="en-US" sz="1800" kern="0" spc="-12" dirty="0">
                <a:solidFill>
                  <a:srgbClr val="2A2C36"/>
                </a:solidFill>
                <a:latin typeface="Arial" pitchFamily="34" charset="0"/>
                <a:ea typeface="Arial" pitchFamily="34" charset="-122"/>
                <a:cs typeface="Arial" pitchFamily="34" charset="-120"/>
              </a:rPr>
              <a:t>· RAG Q&amp;A trên nội dung paper</a:t>
            </a:r>
            <a:endParaRPr lang="en-US" sz="1800" dirty="0"/>
          </a:p>
          <a:p>
            <a:pPr marL="0" indent="0" algn="l">
              <a:lnSpc>
                <a:spcPct val="170000"/>
              </a:lnSpc>
              <a:buNone/>
            </a:pPr>
            <a:r>
              <a:rPr lang="en-US" sz="1800" kern="0" spc="-12" dirty="0">
                <a:solidFill>
                  <a:srgbClr val="2A2C36"/>
                </a:solidFill>
                <a:latin typeface="Arial" pitchFamily="34" charset="0"/>
                <a:ea typeface="Arial" pitchFamily="34" charset="-122"/>
                <a:cs typeface="Arial" pitchFamily="34" charset="-120"/>
              </a:rPr>
              <a:t>· Phân tích PDF toàn văn</a:t>
            </a:r>
            <a:endParaRPr lang="en-US" sz="1800" dirty="0"/>
          </a:p>
          <a:p>
            <a:pPr marL="0" indent="0" algn="l">
              <a:lnSpc>
                <a:spcPct val="170000"/>
              </a:lnSpc>
              <a:buNone/>
            </a:pPr>
            <a:r>
              <a:rPr lang="en-US" sz="1800" kern="0" spc="-12" dirty="0">
                <a:solidFill>
                  <a:srgbClr val="2A2C36"/>
                </a:solidFill>
                <a:latin typeface="Arial" pitchFamily="34" charset="0"/>
                <a:ea typeface="Arial" pitchFamily="34" charset="-122"/>
                <a:cs typeface="Arial" pitchFamily="34" charset="-120"/>
              </a:rPr>
              <a:t>· Personalized recommendation</a:t>
            </a:r>
            <a:endParaRPr lang="en-US" sz="1800" dirty="0"/>
          </a:p>
        </p:txBody>
      </p:sp>
      <p:sp>
        <p:nvSpPr>
          <p:cNvPr id="9" name="Text 7"/>
          <p:cNvSpPr/>
          <p:nvPr/>
        </p:nvSpPr>
        <p:spPr>
          <a:xfrm>
            <a:off x="5267222" y="2882348"/>
            <a:ext cx="3836057" cy="858078"/>
          </a:xfrm>
          <a:prstGeom prst="rect">
            <a:avLst/>
          </a:prstGeom>
          <a:noFill/>
          <a:ln/>
        </p:spPr>
        <p:txBody>
          <a:bodyPr wrap="square" lIns="25400" tIns="25400" rIns="25400" bIns="25400" rtlCol="0" anchor="t">
            <a:normAutofit/>
          </a:bodyPr>
          <a:lstStyle/>
          <a:p>
            <a:pPr marL="0" indent="0" algn="l">
              <a:lnSpc>
                <a:spcPct val="90000"/>
              </a:lnSpc>
              <a:buNone/>
            </a:pPr>
            <a:r>
              <a:rPr lang="en-US" sz="7200" i="1" kern="0" spc="-144" dirty="0">
                <a:solidFill>
                  <a:srgbClr val="294792"/>
                </a:solidFill>
                <a:latin typeface="Georgia" pitchFamily="34" charset="0"/>
                <a:ea typeface="Georgia" pitchFamily="34" charset="-122"/>
                <a:cs typeface="Georgia" pitchFamily="34" charset="-120"/>
              </a:rPr>
              <a:t>02</a:t>
            </a:r>
            <a:endParaRPr lang="en-US" sz="7200" dirty="0"/>
          </a:p>
        </p:txBody>
      </p:sp>
      <p:sp>
        <p:nvSpPr>
          <p:cNvPr id="10" name="Text 8"/>
          <p:cNvSpPr/>
          <p:nvPr/>
        </p:nvSpPr>
        <p:spPr>
          <a:xfrm>
            <a:off x="5267222" y="3835625"/>
            <a:ext cx="3836057" cy="294861"/>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6B6A65"/>
                </a:solidFill>
                <a:latin typeface="Courier New" pitchFamily="34" charset="0"/>
                <a:ea typeface="Courier New" pitchFamily="34" charset="-122"/>
                <a:cs typeface="Courier New" pitchFamily="34" charset="-120"/>
              </a:rPr>
              <a:t>DATA SOURCES</a:t>
            </a:r>
            <a:endParaRPr lang="en-US" sz="1800" dirty="0"/>
          </a:p>
        </p:txBody>
      </p:sp>
      <p:sp>
        <p:nvSpPr>
          <p:cNvPr id="11" name="Text 9"/>
          <p:cNvSpPr/>
          <p:nvPr/>
        </p:nvSpPr>
        <p:spPr>
          <a:xfrm>
            <a:off x="5267222" y="4225684"/>
            <a:ext cx="3836057" cy="361122"/>
          </a:xfrm>
          <a:prstGeom prst="rect">
            <a:avLst/>
          </a:prstGeom>
          <a:noFill/>
          <a:ln/>
        </p:spPr>
        <p:txBody>
          <a:bodyPr wrap="square" lIns="25400" tIns="25400" rIns="25400" bIns="25400" rtlCol="0" anchor="t">
            <a:normAutofit/>
          </a:bodyPr>
          <a:lstStyle/>
          <a:p>
            <a:pPr marL="0" indent="0" algn="l">
              <a:lnSpc>
                <a:spcPct val="115000"/>
              </a:lnSpc>
              <a:buNone/>
            </a:pPr>
            <a:r>
              <a:rPr lang="en-US" sz="2250" kern="0" spc="-12" dirty="0">
                <a:solidFill>
                  <a:srgbClr val="13141A"/>
                </a:solidFill>
                <a:latin typeface="Arial" pitchFamily="34" charset="0"/>
                <a:ea typeface="Arial" pitchFamily="34" charset="-122"/>
                <a:cs typeface="Arial" pitchFamily="34" charset="-120"/>
              </a:rPr>
              <a:t>Mở rộng nguồn dữ liệu</a:t>
            </a:r>
            <a:endParaRPr lang="en-US" sz="2250" dirty="0"/>
          </a:p>
        </p:txBody>
      </p:sp>
      <p:sp>
        <p:nvSpPr>
          <p:cNvPr id="12" name="Text 10"/>
          <p:cNvSpPr/>
          <p:nvPr/>
        </p:nvSpPr>
        <p:spPr>
          <a:xfrm>
            <a:off x="5107202" y="4739205"/>
            <a:ext cx="3960547" cy="1562100"/>
          </a:xfrm>
          <a:prstGeom prst="rect">
            <a:avLst/>
          </a:prstGeom>
          <a:noFill/>
          <a:ln/>
        </p:spPr>
        <p:txBody>
          <a:bodyPr wrap="square" lIns="25400" tIns="25400" rIns="25400" bIns="25400" rtlCol="0" anchor="t">
            <a:normAutofit/>
          </a:bodyPr>
          <a:lstStyle/>
          <a:p>
            <a:pPr marL="0" indent="0" algn="l">
              <a:lnSpc>
                <a:spcPct val="170000"/>
              </a:lnSpc>
              <a:buNone/>
            </a:pPr>
            <a:r>
              <a:rPr lang="en-US" sz="1800" kern="0" spc="-12" dirty="0">
                <a:solidFill>
                  <a:srgbClr val="2A2C36"/>
                </a:solidFill>
                <a:latin typeface="Arial" pitchFamily="34" charset="0"/>
                <a:ea typeface="Arial" pitchFamily="34" charset="-122"/>
                <a:cs typeface="Arial" pitchFamily="34" charset="-120"/>
              </a:rPr>
              <a:t>· Semantic Scholar · PubMed</a:t>
            </a:r>
            <a:endParaRPr lang="en-US" sz="1800" dirty="0"/>
          </a:p>
          <a:p>
            <a:pPr marL="0" indent="0" algn="l">
              <a:lnSpc>
                <a:spcPct val="170000"/>
              </a:lnSpc>
              <a:buNone/>
            </a:pPr>
            <a:r>
              <a:rPr lang="en-US" sz="1800" kern="0" spc="-12" dirty="0">
                <a:solidFill>
                  <a:srgbClr val="2A2C36"/>
                </a:solidFill>
                <a:latin typeface="Arial" pitchFamily="34" charset="0"/>
                <a:ea typeface="Arial" pitchFamily="34" charset="-122"/>
                <a:cs typeface="Arial" pitchFamily="34" charset="-120"/>
              </a:rPr>
              <a:t>· IEEE Xplore · ACM</a:t>
            </a:r>
            <a:endParaRPr lang="en-US" sz="1800" dirty="0"/>
          </a:p>
          <a:p>
            <a:pPr marL="0" indent="0" algn="l">
              <a:lnSpc>
                <a:spcPct val="170000"/>
              </a:lnSpc>
              <a:buNone/>
            </a:pPr>
            <a:r>
              <a:rPr lang="en-US" sz="1800" kern="0" spc="-12" dirty="0">
                <a:solidFill>
                  <a:srgbClr val="2A2C36"/>
                </a:solidFill>
                <a:latin typeface="Arial" pitchFamily="34" charset="0"/>
                <a:ea typeface="Arial" pitchFamily="34" charset="-122"/>
                <a:cs typeface="Arial" pitchFamily="34" charset="-120"/>
              </a:rPr>
              <a:t>· Import PDF / DOI thủ công</a:t>
            </a:r>
            <a:endParaRPr lang="en-US" sz="1800" dirty="0"/>
          </a:p>
          <a:p>
            <a:pPr marL="0" indent="0" algn="l">
              <a:lnSpc>
                <a:spcPct val="170000"/>
              </a:lnSpc>
              <a:buNone/>
            </a:pPr>
            <a:r>
              <a:rPr lang="en-US" sz="1800" kern="0" spc="-12" dirty="0">
                <a:solidFill>
                  <a:srgbClr val="2A2C36"/>
                </a:solidFill>
                <a:latin typeface="Arial" pitchFamily="34" charset="0"/>
                <a:ea typeface="Arial" pitchFamily="34" charset="-122"/>
                <a:cs typeface="Arial" pitchFamily="34" charset="-120"/>
              </a:rPr>
              <a:t>· Sync Zotero · Mendeley</a:t>
            </a:r>
            <a:endParaRPr lang="en-US" sz="1800" dirty="0"/>
          </a:p>
        </p:txBody>
      </p:sp>
      <p:sp>
        <p:nvSpPr>
          <p:cNvPr id="13" name="Text 11"/>
          <p:cNvSpPr/>
          <p:nvPr/>
        </p:nvSpPr>
        <p:spPr>
          <a:xfrm>
            <a:off x="9296323" y="2882348"/>
            <a:ext cx="3836057" cy="858078"/>
          </a:xfrm>
          <a:prstGeom prst="rect">
            <a:avLst/>
          </a:prstGeom>
          <a:noFill/>
          <a:ln/>
        </p:spPr>
        <p:txBody>
          <a:bodyPr wrap="square" lIns="25400" tIns="25400" rIns="25400" bIns="25400" rtlCol="0" anchor="t">
            <a:normAutofit/>
          </a:bodyPr>
          <a:lstStyle/>
          <a:p>
            <a:pPr marL="0" indent="0" algn="l">
              <a:lnSpc>
                <a:spcPct val="90000"/>
              </a:lnSpc>
              <a:buNone/>
            </a:pPr>
            <a:r>
              <a:rPr lang="en-US" sz="7200" i="1" kern="0" spc="-144" dirty="0">
                <a:solidFill>
                  <a:srgbClr val="294792"/>
                </a:solidFill>
                <a:latin typeface="Georgia" pitchFamily="34" charset="0"/>
                <a:ea typeface="Georgia" pitchFamily="34" charset="-122"/>
                <a:cs typeface="Georgia" pitchFamily="34" charset="-120"/>
              </a:rPr>
              <a:t>03</a:t>
            </a:r>
            <a:endParaRPr lang="en-US" sz="7200" dirty="0"/>
          </a:p>
        </p:txBody>
      </p:sp>
      <p:sp>
        <p:nvSpPr>
          <p:cNvPr id="14" name="Text 12"/>
          <p:cNvSpPr/>
          <p:nvPr/>
        </p:nvSpPr>
        <p:spPr>
          <a:xfrm>
            <a:off x="9296323" y="3835625"/>
            <a:ext cx="3836057" cy="294861"/>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6B6A65"/>
                </a:solidFill>
                <a:latin typeface="Courier New" pitchFamily="34" charset="0"/>
                <a:ea typeface="Courier New" pitchFamily="34" charset="-122"/>
                <a:cs typeface="Courier New" pitchFamily="34" charset="-120"/>
              </a:rPr>
              <a:t>USER EXPERIENCE</a:t>
            </a:r>
            <a:endParaRPr lang="en-US" sz="1800" dirty="0"/>
          </a:p>
        </p:txBody>
      </p:sp>
      <p:sp>
        <p:nvSpPr>
          <p:cNvPr id="15" name="Text 13"/>
          <p:cNvSpPr/>
          <p:nvPr/>
        </p:nvSpPr>
        <p:spPr>
          <a:xfrm>
            <a:off x="9296323" y="4225684"/>
            <a:ext cx="3836057" cy="361122"/>
          </a:xfrm>
          <a:prstGeom prst="rect">
            <a:avLst/>
          </a:prstGeom>
          <a:noFill/>
          <a:ln/>
        </p:spPr>
        <p:txBody>
          <a:bodyPr wrap="square" lIns="25400" tIns="25400" rIns="25400" bIns="25400" rtlCol="0" anchor="t">
            <a:normAutofit/>
          </a:bodyPr>
          <a:lstStyle/>
          <a:p>
            <a:pPr marL="0" indent="0" algn="l">
              <a:lnSpc>
                <a:spcPct val="115000"/>
              </a:lnSpc>
              <a:buNone/>
            </a:pPr>
            <a:r>
              <a:rPr lang="en-US" sz="2250" kern="0" spc="-12" dirty="0">
                <a:solidFill>
                  <a:srgbClr val="13141A"/>
                </a:solidFill>
                <a:latin typeface="Arial" pitchFamily="34" charset="0"/>
                <a:ea typeface="Arial" pitchFamily="34" charset="-122"/>
                <a:cs typeface="Arial" pitchFamily="34" charset="-120"/>
              </a:rPr>
              <a:t>Trải nghiệm sâu hơn</a:t>
            </a:r>
            <a:endParaRPr lang="en-US" sz="2250" dirty="0"/>
          </a:p>
        </p:txBody>
      </p:sp>
      <p:sp>
        <p:nvSpPr>
          <p:cNvPr id="16" name="Text 14"/>
          <p:cNvSpPr/>
          <p:nvPr/>
        </p:nvSpPr>
        <p:spPr>
          <a:xfrm>
            <a:off x="9136303" y="4739205"/>
            <a:ext cx="3960547" cy="1562100"/>
          </a:xfrm>
          <a:prstGeom prst="rect">
            <a:avLst/>
          </a:prstGeom>
          <a:noFill/>
          <a:ln/>
        </p:spPr>
        <p:txBody>
          <a:bodyPr wrap="square" lIns="25400" tIns="25400" rIns="25400" bIns="25400" rtlCol="0" anchor="t">
            <a:normAutofit/>
          </a:bodyPr>
          <a:lstStyle/>
          <a:p>
            <a:pPr marL="0" indent="0" algn="l">
              <a:lnSpc>
                <a:spcPct val="170000"/>
              </a:lnSpc>
              <a:buNone/>
            </a:pPr>
            <a:r>
              <a:rPr lang="en-US" sz="1800" kern="0" spc="-12" dirty="0">
                <a:solidFill>
                  <a:srgbClr val="2A2C36"/>
                </a:solidFill>
                <a:latin typeface="Arial" pitchFamily="34" charset="0"/>
                <a:ea typeface="Arial" pitchFamily="34" charset="-122"/>
                <a:cs typeface="Arial" pitchFamily="34" charset="-120"/>
              </a:rPr>
              <a:t>· Reminder paper đã lưu</a:t>
            </a:r>
            <a:endParaRPr lang="en-US" sz="1800" dirty="0"/>
          </a:p>
          <a:p>
            <a:pPr marL="0" indent="0" algn="l">
              <a:lnSpc>
                <a:spcPct val="170000"/>
              </a:lnSpc>
              <a:buNone/>
            </a:pPr>
            <a:r>
              <a:rPr lang="en-US" sz="1800" kern="0" spc="-12" dirty="0">
                <a:solidFill>
                  <a:srgbClr val="2A2C36"/>
                </a:solidFill>
                <a:latin typeface="Arial" pitchFamily="34" charset="0"/>
                <a:ea typeface="Arial" pitchFamily="34" charset="-122"/>
                <a:cs typeface="Arial" pitchFamily="34" charset="-120"/>
              </a:rPr>
              <a:t>· Annotation &amp; highlight</a:t>
            </a:r>
            <a:endParaRPr lang="en-US" sz="1800" dirty="0"/>
          </a:p>
          <a:p>
            <a:pPr marL="0" indent="0" algn="l">
              <a:lnSpc>
                <a:spcPct val="170000"/>
              </a:lnSpc>
              <a:buNone/>
            </a:pPr>
            <a:r>
              <a:rPr lang="en-US" sz="1800" kern="0" spc="-12" dirty="0">
                <a:solidFill>
                  <a:srgbClr val="2A2C36"/>
                </a:solidFill>
                <a:latin typeface="Arial" pitchFamily="34" charset="0"/>
                <a:ea typeface="Arial" pitchFamily="34" charset="-122"/>
                <a:cs typeface="Arial" pitchFamily="34" charset="-120"/>
              </a:rPr>
              <a:t>· Dark mode + tùy chỉnh giao diện</a:t>
            </a:r>
            <a:endParaRPr lang="en-US" sz="1800" dirty="0"/>
          </a:p>
          <a:p>
            <a:pPr marL="0" indent="0" algn="l">
              <a:lnSpc>
                <a:spcPct val="170000"/>
              </a:lnSpc>
              <a:buNone/>
            </a:pPr>
            <a:r>
              <a:rPr lang="en-US" sz="1800" kern="0" spc="-12" dirty="0">
                <a:solidFill>
                  <a:srgbClr val="2A2C36"/>
                </a:solidFill>
                <a:latin typeface="Arial" pitchFamily="34" charset="0"/>
                <a:ea typeface="Arial" pitchFamily="34" charset="-122"/>
                <a:cs typeface="Arial" pitchFamily="34" charset="-120"/>
              </a:rPr>
              <a:t>· Mobile app (React Native)</a:t>
            </a:r>
            <a:endParaRPr lang="en-US" sz="1800" dirty="0"/>
          </a:p>
        </p:txBody>
      </p:sp>
      <p:sp>
        <p:nvSpPr>
          <p:cNvPr id="17" name="Text 15"/>
          <p:cNvSpPr/>
          <p:nvPr/>
        </p:nvSpPr>
        <p:spPr>
          <a:xfrm>
            <a:off x="13325424" y="2882348"/>
            <a:ext cx="3836057" cy="858078"/>
          </a:xfrm>
          <a:prstGeom prst="rect">
            <a:avLst/>
          </a:prstGeom>
          <a:noFill/>
          <a:ln/>
        </p:spPr>
        <p:txBody>
          <a:bodyPr wrap="square" lIns="25400" tIns="25400" rIns="25400" bIns="25400" rtlCol="0" anchor="t">
            <a:normAutofit/>
          </a:bodyPr>
          <a:lstStyle/>
          <a:p>
            <a:pPr marL="0" indent="0" algn="l">
              <a:lnSpc>
                <a:spcPct val="90000"/>
              </a:lnSpc>
              <a:buNone/>
            </a:pPr>
            <a:r>
              <a:rPr lang="en-US" sz="7200" i="1" kern="0" spc="-144" dirty="0">
                <a:solidFill>
                  <a:srgbClr val="294792"/>
                </a:solidFill>
                <a:latin typeface="Georgia" pitchFamily="34" charset="0"/>
                <a:ea typeface="Georgia" pitchFamily="34" charset="-122"/>
                <a:cs typeface="Georgia" pitchFamily="34" charset="-120"/>
              </a:rPr>
              <a:t>04</a:t>
            </a:r>
            <a:endParaRPr lang="en-US" sz="7200" dirty="0"/>
          </a:p>
        </p:txBody>
      </p:sp>
      <p:sp>
        <p:nvSpPr>
          <p:cNvPr id="18" name="Text 16"/>
          <p:cNvSpPr/>
          <p:nvPr/>
        </p:nvSpPr>
        <p:spPr>
          <a:xfrm>
            <a:off x="13325424" y="3835625"/>
            <a:ext cx="3836057" cy="294861"/>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6B6A65"/>
                </a:solidFill>
                <a:latin typeface="Courier New" pitchFamily="34" charset="0"/>
                <a:ea typeface="Courier New" pitchFamily="34" charset="-122"/>
                <a:cs typeface="Courier New" pitchFamily="34" charset="-120"/>
              </a:rPr>
              <a:t>ARCHITECTURE</a:t>
            </a:r>
            <a:endParaRPr lang="en-US" sz="1800" dirty="0"/>
          </a:p>
        </p:txBody>
      </p:sp>
      <p:sp>
        <p:nvSpPr>
          <p:cNvPr id="19" name="Text 17"/>
          <p:cNvSpPr/>
          <p:nvPr/>
        </p:nvSpPr>
        <p:spPr>
          <a:xfrm>
            <a:off x="13325424" y="4225684"/>
            <a:ext cx="3836057" cy="361122"/>
          </a:xfrm>
          <a:prstGeom prst="rect">
            <a:avLst/>
          </a:prstGeom>
          <a:noFill/>
          <a:ln/>
        </p:spPr>
        <p:txBody>
          <a:bodyPr wrap="square" lIns="25400" tIns="25400" rIns="25400" bIns="25400" rtlCol="0" anchor="t">
            <a:normAutofit/>
          </a:bodyPr>
          <a:lstStyle/>
          <a:p>
            <a:pPr marL="0" indent="0" algn="l">
              <a:lnSpc>
                <a:spcPct val="115000"/>
              </a:lnSpc>
              <a:buNone/>
            </a:pPr>
            <a:r>
              <a:rPr lang="en-US" sz="2250" kern="0" spc="-12" dirty="0">
                <a:solidFill>
                  <a:srgbClr val="13141A"/>
                </a:solidFill>
                <a:latin typeface="Arial" pitchFamily="34" charset="0"/>
                <a:ea typeface="Arial" pitchFamily="34" charset="-122"/>
                <a:cs typeface="Arial" pitchFamily="34" charset="-120"/>
              </a:rPr>
              <a:t>Nâng cấp kiến trúc</a:t>
            </a:r>
            <a:endParaRPr lang="en-US" sz="2250" dirty="0"/>
          </a:p>
        </p:txBody>
      </p:sp>
      <p:sp>
        <p:nvSpPr>
          <p:cNvPr id="20" name="Text 18"/>
          <p:cNvSpPr/>
          <p:nvPr/>
        </p:nvSpPr>
        <p:spPr>
          <a:xfrm>
            <a:off x="13165404" y="4739205"/>
            <a:ext cx="3960547" cy="1562100"/>
          </a:xfrm>
          <a:prstGeom prst="rect">
            <a:avLst/>
          </a:prstGeom>
          <a:noFill/>
          <a:ln/>
        </p:spPr>
        <p:txBody>
          <a:bodyPr wrap="square" lIns="25400" tIns="25400" rIns="25400" bIns="25400" rtlCol="0" anchor="t">
            <a:normAutofit/>
          </a:bodyPr>
          <a:lstStyle/>
          <a:p>
            <a:pPr marL="0" indent="0" algn="l">
              <a:lnSpc>
                <a:spcPct val="170000"/>
              </a:lnSpc>
              <a:buNone/>
            </a:pPr>
            <a:r>
              <a:rPr lang="en-US" sz="1800" kern="0" spc="-12" dirty="0">
                <a:solidFill>
                  <a:srgbClr val="2A2C36"/>
                </a:solidFill>
                <a:latin typeface="Arial" pitchFamily="34" charset="0"/>
                <a:ea typeface="Arial" pitchFamily="34" charset="-122"/>
                <a:cs typeface="Arial" pitchFamily="34" charset="-120"/>
              </a:rPr>
              <a:t>· Microservices · Kafka / RabbitMQ</a:t>
            </a:r>
            <a:endParaRPr lang="en-US" sz="1800" dirty="0"/>
          </a:p>
          <a:p>
            <a:pPr marL="0" indent="0" algn="l">
              <a:lnSpc>
                <a:spcPct val="170000"/>
              </a:lnSpc>
              <a:buNone/>
            </a:pPr>
            <a:r>
              <a:rPr lang="en-US" sz="1800" kern="0" spc="-12" dirty="0">
                <a:solidFill>
                  <a:srgbClr val="2A2C36"/>
                </a:solidFill>
                <a:latin typeface="Arial" pitchFamily="34" charset="0"/>
                <a:ea typeface="Arial" pitchFamily="34" charset="-122"/>
                <a:cs typeface="Arial" pitchFamily="34" charset="-120"/>
              </a:rPr>
              <a:t>· Refresh token + revoke</a:t>
            </a:r>
            <a:endParaRPr lang="en-US" sz="1800" dirty="0"/>
          </a:p>
          <a:p>
            <a:pPr marL="0" indent="0" algn="l">
              <a:lnSpc>
                <a:spcPct val="170000"/>
              </a:lnSpc>
              <a:buNone/>
            </a:pPr>
            <a:r>
              <a:rPr lang="en-US" sz="1800" kern="0" spc="-12" dirty="0">
                <a:solidFill>
                  <a:srgbClr val="2A2C36"/>
                </a:solidFill>
                <a:latin typeface="Arial" pitchFamily="34" charset="0"/>
                <a:ea typeface="Arial" pitchFamily="34" charset="-122"/>
                <a:cs typeface="Arial" pitchFamily="34" charset="-120"/>
              </a:rPr>
              <a:t>· Redis distributed cache</a:t>
            </a:r>
            <a:endParaRPr lang="en-US" sz="1800" dirty="0"/>
          </a:p>
          <a:p>
            <a:pPr marL="0" indent="0" algn="l">
              <a:lnSpc>
                <a:spcPct val="170000"/>
              </a:lnSpc>
              <a:buNone/>
            </a:pPr>
            <a:r>
              <a:rPr lang="en-US" sz="1800" kern="0" spc="-12" dirty="0">
                <a:solidFill>
                  <a:srgbClr val="2A2C36"/>
                </a:solidFill>
                <a:latin typeface="Arial" pitchFamily="34" charset="0"/>
                <a:ea typeface="Arial" pitchFamily="34" charset="-122"/>
                <a:cs typeface="Arial" pitchFamily="34" charset="-120"/>
              </a:rPr>
              <a:t>· OpenTelemetry · CI/CD scan</a:t>
            </a:r>
            <a:endParaRPr lang="en-US" sz="1800" dirty="0"/>
          </a:p>
        </p:txBody>
      </p:sp>
      <p:sp>
        <p:nvSpPr>
          <p:cNvPr id="21" name="Shape 19"/>
          <p:cNvSpPr/>
          <p:nvPr/>
        </p:nvSpPr>
        <p:spPr>
          <a:xfrm>
            <a:off x="1238250" y="8744494"/>
            <a:ext cx="15811500" cy="9525"/>
          </a:xfrm>
          <a:prstGeom prst="rect">
            <a:avLst/>
          </a:prstGeom>
          <a:solidFill>
            <a:srgbClr val="13141A">
              <a:alpha val="12000"/>
            </a:srgbClr>
          </a:solidFill>
          <a:ln/>
        </p:spPr>
        <p:txBody>
          <a:bodyPr/>
          <a:lstStyle/>
          <a:p>
            <a:endParaRPr lang="en-VN"/>
          </a:p>
        </p:txBody>
      </p:sp>
      <p:sp>
        <p:nvSpPr>
          <p:cNvPr id="22" name="Text 20"/>
          <p:cNvSpPr/>
          <p:nvPr/>
        </p:nvSpPr>
        <p:spPr>
          <a:xfrm>
            <a:off x="1238250" y="8982490"/>
            <a:ext cx="2934294" cy="294861"/>
          </a:xfrm>
          <a:prstGeom prst="rect">
            <a:avLst/>
          </a:prstGeom>
          <a:noFill/>
          <a:ln/>
        </p:spPr>
        <p:txBody>
          <a:bodyPr wrap="square" lIns="25400" tIns="25400" rIns="25400" bIns="25400" rtlCol="0" anchor="t">
            <a:normAutofit/>
          </a:bodyPr>
          <a:lstStyle/>
          <a:p>
            <a:pPr marL="0" indent="0" algn="l">
              <a:buNone/>
            </a:pPr>
            <a:r>
              <a:rPr lang="en-US" sz="1800" kern="0" spc="-12" dirty="0">
                <a:solidFill>
                  <a:srgbClr val="6B6A65"/>
                </a:solidFill>
                <a:latin typeface="Courier New" pitchFamily="34" charset="0"/>
                <a:ea typeface="Courier New" pitchFamily="34" charset="-122"/>
                <a:cs typeface="Courier New" pitchFamily="34" charset="-120"/>
              </a:rPr>
              <a:t>SHORT-TERM · 3 months</a:t>
            </a:r>
            <a:endParaRPr lang="en-US" sz="1800" dirty="0"/>
          </a:p>
        </p:txBody>
      </p:sp>
      <p:sp>
        <p:nvSpPr>
          <p:cNvPr id="23" name="Text 21"/>
          <p:cNvSpPr/>
          <p:nvPr/>
        </p:nvSpPr>
        <p:spPr>
          <a:xfrm>
            <a:off x="5694682" y="8982490"/>
            <a:ext cx="2654901" cy="294861"/>
          </a:xfrm>
          <a:prstGeom prst="rect">
            <a:avLst/>
          </a:prstGeom>
          <a:noFill/>
          <a:ln/>
        </p:spPr>
        <p:txBody>
          <a:bodyPr wrap="square" lIns="25400" tIns="25400" rIns="25400" bIns="25400" rtlCol="0" anchor="t">
            <a:normAutofit/>
          </a:bodyPr>
          <a:lstStyle/>
          <a:p>
            <a:pPr marL="0" indent="0" algn="l">
              <a:buNone/>
            </a:pPr>
            <a:r>
              <a:rPr lang="en-US" sz="1800" kern="0" spc="-12" dirty="0">
                <a:solidFill>
                  <a:srgbClr val="6B6A65"/>
                </a:solidFill>
                <a:latin typeface="Courier New" pitchFamily="34" charset="0"/>
                <a:ea typeface="Courier New" pitchFamily="34" charset="-122"/>
                <a:cs typeface="Courier New" pitchFamily="34" charset="-120"/>
              </a:rPr>
              <a:t>MID-TERM · 6 months</a:t>
            </a:r>
            <a:endParaRPr lang="en-US" sz="1800" dirty="0"/>
          </a:p>
        </p:txBody>
      </p:sp>
      <p:sp>
        <p:nvSpPr>
          <p:cNvPr id="24" name="Text 22"/>
          <p:cNvSpPr/>
          <p:nvPr/>
        </p:nvSpPr>
        <p:spPr>
          <a:xfrm>
            <a:off x="9879859" y="8982490"/>
            <a:ext cx="2654901" cy="294861"/>
          </a:xfrm>
          <a:prstGeom prst="rect">
            <a:avLst/>
          </a:prstGeom>
          <a:noFill/>
          <a:ln/>
        </p:spPr>
        <p:txBody>
          <a:bodyPr wrap="square" lIns="25400" tIns="25400" rIns="25400" bIns="25400" rtlCol="0" anchor="t">
            <a:normAutofit/>
          </a:bodyPr>
          <a:lstStyle/>
          <a:p>
            <a:pPr marL="0" indent="0" algn="l">
              <a:buNone/>
            </a:pPr>
            <a:r>
              <a:rPr lang="en-US" sz="1800" kern="0" spc="-12" dirty="0">
                <a:solidFill>
                  <a:srgbClr val="6B6A65"/>
                </a:solidFill>
                <a:latin typeface="Courier New" pitchFamily="34" charset="0"/>
                <a:ea typeface="Courier New" pitchFamily="34" charset="-122"/>
                <a:cs typeface="Courier New" pitchFamily="34" charset="-120"/>
              </a:rPr>
              <a:t>MID-TERM · 6 months</a:t>
            </a:r>
            <a:endParaRPr lang="en-US" sz="1800" dirty="0"/>
          </a:p>
        </p:txBody>
      </p:sp>
      <p:sp>
        <p:nvSpPr>
          <p:cNvPr id="25" name="Text 23"/>
          <p:cNvSpPr/>
          <p:nvPr/>
        </p:nvSpPr>
        <p:spPr>
          <a:xfrm>
            <a:off x="14065035" y="8982490"/>
            <a:ext cx="3074124" cy="294861"/>
          </a:xfrm>
          <a:prstGeom prst="rect">
            <a:avLst/>
          </a:prstGeom>
          <a:noFill/>
          <a:ln/>
        </p:spPr>
        <p:txBody>
          <a:bodyPr wrap="square" lIns="25400" tIns="25400" rIns="25400" bIns="25400" rtlCol="0" anchor="t">
            <a:normAutofit/>
          </a:bodyPr>
          <a:lstStyle/>
          <a:p>
            <a:pPr marL="0" indent="0" algn="l">
              <a:buNone/>
            </a:pPr>
            <a:r>
              <a:rPr lang="en-US" sz="1800" kern="0" spc="-12" dirty="0">
                <a:solidFill>
                  <a:srgbClr val="6B6A65"/>
                </a:solidFill>
                <a:latin typeface="Courier New" pitchFamily="34" charset="0"/>
                <a:ea typeface="Courier New" pitchFamily="34" charset="-122"/>
                <a:cs typeface="Courier New" pitchFamily="34" charset="-120"/>
              </a:rPr>
              <a:t>LONG-TERM · 12+ months</a:t>
            </a:r>
            <a:endParaRPr lang="en-US" sz="1800" dirty="0"/>
          </a:p>
        </p:txBody>
      </p:sp>
      <p:sp>
        <p:nvSpPr>
          <p:cNvPr id="26" name="Text 24"/>
          <p:cNvSpPr/>
          <p:nvPr/>
        </p:nvSpPr>
        <p:spPr>
          <a:xfrm>
            <a:off x="1238250" y="9458740"/>
            <a:ext cx="3466554"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6B6A65"/>
                </a:solidFill>
                <a:latin typeface="Courier New" pitchFamily="34" charset="0"/>
                <a:ea typeface="Courier New" pitchFamily="34" charset="-122"/>
                <a:cs typeface="Courier New" pitchFamily="34" charset="-120"/>
              </a:rPr>
              <a:t>14 — FUTURE DEVELOPMENT</a:t>
            </a:r>
            <a:endParaRPr lang="en-US" sz="1800" dirty="0"/>
          </a:p>
        </p:txBody>
      </p:sp>
      <p:sp>
        <p:nvSpPr>
          <p:cNvPr id="27" name="Text 25"/>
          <p:cNvSpPr/>
          <p:nvPr/>
        </p:nvSpPr>
        <p:spPr>
          <a:xfrm>
            <a:off x="16025425" y="9458740"/>
            <a:ext cx="1100526"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6B6A65"/>
                </a:solidFill>
                <a:latin typeface="Courier New" pitchFamily="34" charset="0"/>
                <a:ea typeface="Courier New" pitchFamily="34" charset="-122"/>
                <a:cs typeface="Courier New" pitchFamily="34" charset="-120"/>
              </a:rPr>
              <a:t>14 / 15</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3141A"/>
        </a:solidFill>
        <a:effectLst/>
      </p:bgPr>
    </p:bg>
    <p:spTree>
      <p:nvGrpSpPr>
        <p:cNvPr id="1" name=""/>
        <p:cNvGrpSpPr/>
        <p:nvPr/>
      </p:nvGrpSpPr>
      <p:grpSpPr>
        <a:xfrm>
          <a:off x="0" y="0"/>
          <a:ext cx="0" cy="0"/>
          <a:chOff x="0" y="0"/>
          <a:chExt cx="0" cy="0"/>
        </a:xfrm>
      </p:grpSpPr>
      <p:sp>
        <p:nvSpPr>
          <p:cNvPr id="2" name="Text 0"/>
          <p:cNvSpPr/>
          <p:nvPr/>
        </p:nvSpPr>
        <p:spPr>
          <a:xfrm>
            <a:off x="1238250" y="857250"/>
            <a:ext cx="1729875"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F4F0E6">
                    <a:alpha val="50000"/>
                  </a:srgbClr>
                </a:solidFill>
                <a:latin typeface="Courier New" pitchFamily="34" charset="0"/>
                <a:ea typeface="Courier New" pitchFamily="34" charset="-122"/>
                <a:cs typeface="Courier New" pitchFamily="34" charset="-120"/>
              </a:rPr>
              <a:t>CONCLUSION</a:t>
            </a:r>
            <a:endParaRPr lang="en-US" sz="1800" dirty="0"/>
          </a:p>
        </p:txBody>
      </p:sp>
      <p:sp>
        <p:nvSpPr>
          <p:cNvPr id="3" name="Text 1"/>
          <p:cNvSpPr/>
          <p:nvPr/>
        </p:nvSpPr>
        <p:spPr>
          <a:xfrm>
            <a:off x="16757012" y="857250"/>
            <a:ext cx="368938" cy="294861"/>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F4F0E6">
                    <a:alpha val="50000"/>
                  </a:srgbClr>
                </a:solidFill>
                <a:latin typeface="Courier New" pitchFamily="34" charset="0"/>
                <a:ea typeface="Courier New" pitchFamily="34" charset="-122"/>
                <a:cs typeface="Courier New" pitchFamily="34" charset="-120"/>
              </a:rPr>
              <a:t>15</a:t>
            </a:r>
            <a:endParaRPr lang="en-US" sz="1800" dirty="0"/>
          </a:p>
        </p:txBody>
      </p:sp>
      <p:sp>
        <p:nvSpPr>
          <p:cNvPr id="4" name="Text 2"/>
          <p:cNvSpPr/>
          <p:nvPr/>
        </p:nvSpPr>
        <p:spPr>
          <a:xfrm>
            <a:off x="1238250" y="1114011"/>
            <a:ext cx="16285845" cy="294861"/>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F4F0E6"/>
                </a:solidFill>
                <a:latin typeface="Courier New" pitchFamily="34" charset="0"/>
                <a:ea typeface="Courier New" pitchFamily="34" charset="-122"/>
                <a:cs typeface="Courier New" pitchFamily="34" charset="-120"/>
              </a:rPr>
              <a:t>SCHOLARSLATE · CAPSTONE DEFENSE · 2026</a:t>
            </a:r>
            <a:endParaRPr lang="en-US" sz="1800" dirty="0"/>
          </a:p>
        </p:txBody>
      </p:sp>
      <p:sp>
        <p:nvSpPr>
          <p:cNvPr id="5" name="Text 3"/>
          <p:cNvSpPr/>
          <p:nvPr/>
        </p:nvSpPr>
        <p:spPr>
          <a:xfrm>
            <a:off x="1238250" y="1675546"/>
            <a:ext cx="14716125" cy="3839818"/>
          </a:xfrm>
          <a:prstGeom prst="rect">
            <a:avLst/>
          </a:prstGeom>
          <a:noFill/>
          <a:ln/>
        </p:spPr>
        <p:txBody>
          <a:bodyPr wrap="square" lIns="25400" tIns="25400" rIns="25400" bIns="25400" rtlCol="0" anchor="t">
            <a:normAutofit/>
          </a:bodyPr>
          <a:lstStyle/>
          <a:p>
            <a:pPr marL="0" indent="0" algn="l">
              <a:lnSpc>
                <a:spcPct val="95000"/>
              </a:lnSpc>
              <a:buNone/>
            </a:pPr>
            <a:r>
              <a:rPr lang="en-US" sz="10500" kern="0" spc="-420" dirty="0">
                <a:solidFill>
                  <a:srgbClr val="F4F0E6"/>
                </a:solidFill>
                <a:latin typeface="Arial" pitchFamily="34" charset="0"/>
                <a:ea typeface="Arial" pitchFamily="34" charset="-122"/>
                <a:cs typeface="Arial" pitchFamily="34" charset="-120"/>
              </a:rPr>
              <a:t>Khoa học mỗi ngày </a:t>
            </a:r>
            <a:r>
              <a:rPr lang="en-US" sz="10500" i="1" kern="0" spc="-420" dirty="0">
                <a:solidFill>
                  <a:srgbClr val="F4F0E6"/>
                </a:solidFill>
                <a:latin typeface="Georgia" pitchFamily="34" charset="0"/>
                <a:ea typeface="Georgia" pitchFamily="34" charset="-122"/>
                <a:cs typeface="Georgia" pitchFamily="34" charset="-120"/>
              </a:rPr>
              <a:t>đáng được </a:t>
            </a:r>
            <a:r>
              <a:rPr lang="en-US" sz="10500" kern="0" spc="-420" dirty="0">
                <a:solidFill>
                  <a:srgbClr val="F4F0E6"/>
                </a:solidFill>
                <a:latin typeface="Arial" pitchFamily="34" charset="0"/>
                <a:ea typeface="Arial" pitchFamily="34" charset="-122"/>
                <a:cs typeface="Arial" pitchFamily="34" charset="-120"/>
              </a:rPr>
              <a:t>một dòng tóm tắt.</a:t>
            </a:r>
            <a:endParaRPr lang="en-US" sz="10500" dirty="0"/>
          </a:p>
        </p:txBody>
      </p:sp>
      <p:sp>
        <p:nvSpPr>
          <p:cNvPr id="6" name="Text 4"/>
          <p:cNvSpPr/>
          <p:nvPr/>
        </p:nvSpPr>
        <p:spPr>
          <a:xfrm>
            <a:off x="1238250" y="6429763"/>
            <a:ext cx="4591458" cy="1023730"/>
          </a:xfrm>
          <a:prstGeom prst="rect">
            <a:avLst/>
          </a:prstGeom>
          <a:noFill/>
          <a:ln/>
        </p:spPr>
        <p:txBody>
          <a:bodyPr wrap="square" lIns="25400" tIns="25400" rIns="25400" bIns="25400" rtlCol="0" anchor="t">
            <a:normAutofit/>
          </a:bodyPr>
          <a:lstStyle/>
          <a:p>
            <a:pPr marL="0" indent="0" algn="l">
              <a:lnSpc>
                <a:spcPct val="100000"/>
              </a:lnSpc>
              <a:buNone/>
            </a:pPr>
            <a:r>
              <a:rPr lang="en-US" sz="7800" kern="0" spc="-312" dirty="0">
                <a:solidFill>
                  <a:srgbClr val="F4F0E6"/>
                </a:solidFill>
                <a:latin typeface="Arial" pitchFamily="34" charset="0"/>
                <a:ea typeface="Arial" pitchFamily="34" charset="-122"/>
                <a:cs typeface="Arial" pitchFamily="34" charset="-120"/>
              </a:rPr>
              <a:t>17</a:t>
            </a:r>
            <a:endParaRPr lang="en-US" sz="7800" dirty="0"/>
          </a:p>
        </p:txBody>
      </p:sp>
      <p:sp>
        <p:nvSpPr>
          <p:cNvPr id="7" name="Text 5"/>
          <p:cNvSpPr/>
          <p:nvPr/>
        </p:nvSpPr>
        <p:spPr>
          <a:xfrm>
            <a:off x="1238250" y="7586740"/>
            <a:ext cx="4591458" cy="327991"/>
          </a:xfrm>
          <a:prstGeom prst="rect">
            <a:avLst/>
          </a:prstGeom>
          <a:noFill/>
          <a:ln/>
        </p:spPr>
        <p:txBody>
          <a:bodyPr wrap="square" lIns="25400" tIns="25400" rIns="25400" bIns="25400" rtlCol="0" anchor="t">
            <a:normAutofit/>
          </a:bodyPr>
          <a:lstStyle/>
          <a:p>
            <a:pPr marL="0" indent="0" algn="l">
              <a:lnSpc>
                <a:spcPct val="130000"/>
              </a:lnSpc>
              <a:buNone/>
            </a:pPr>
            <a:r>
              <a:rPr lang="en-US" sz="1800" kern="0" spc="108" dirty="0">
                <a:solidFill>
                  <a:srgbClr val="F4F0E6">
                    <a:alpha val="50000"/>
                  </a:srgbClr>
                </a:solidFill>
                <a:latin typeface="Courier New" pitchFamily="34" charset="0"/>
                <a:ea typeface="Courier New" pitchFamily="34" charset="-122"/>
                <a:cs typeface="Courier New" pitchFamily="34" charset="-120"/>
              </a:rPr>
              <a:t>USE CASE SHIPPED</a:t>
            </a:r>
            <a:endParaRPr lang="en-US" sz="1800" dirty="0"/>
          </a:p>
        </p:txBody>
      </p:sp>
      <p:sp>
        <p:nvSpPr>
          <p:cNvPr id="8" name="Text 6"/>
          <p:cNvSpPr/>
          <p:nvPr/>
        </p:nvSpPr>
        <p:spPr>
          <a:xfrm>
            <a:off x="6153073" y="6429763"/>
            <a:ext cx="4591458" cy="1023730"/>
          </a:xfrm>
          <a:prstGeom prst="rect">
            <a:avLst/>
          </a:prstGeom>
          <a:noFill/>
          <a:ln/>
        </p:spPr>
        <p:txBody>
          <a:bodyPr wrap="square" lIns="25400" tIns="25400" rIns="25400" bIns="25400" rtlCol="0" anchor="t">
            <a:normAutofit/>
          </a:bodyPr>
          <a:lstStyle/>
          <a:p>
            <a:pPr marL="0" indent="0" algn="l">
              <a:lnSpc>
                <a:spcPct val="100000"/>
              </a:lnSpc>
              <a:buNone/>
            </a:pPr>
            <a:r>
              <a:rPr lang="en-US" sz="7800" kern="0" spc="-312" dirty="0">
                <a:solidFill>
                  <a:srgbClr val="F4F0E6"/>
                </a:solidFill>
                <a:latin typeface="Arial" pitchFamily="34" charset="0"/>
                <a:ea typeface="Arial" pitchFamily="34" charset="-122"/>
                <a:cs typeface="Arial" pitchFamily="34" charset="-120"/>
              </a:rPr>
              <a:t>3</a:t>
            </a:r>
            <a:endParaRPr lang="en-US" sz="7800" dirty="0"/>
          </a:p>
        </p:txBody>
      </p:sp>
      <p:sp>
        <p:nvSpPr>
          <p:cNvPr id="9" name="Text 7"/>
          <p:cNvSpPr/>
          <p:nvPr/>
        </p:nvSpPr>
        <p:spPr>
          <a:xfrm>
            <a:off x="6153073" y="7586740"/>
            <a:ext cx="4591458" cy="327991"/>
          </a:xfrm>
          <a:prstGeom prst="rect">
            <a:avLst/>
          </a:prstGeom>
          <a:noFill/>
          <a:ln/>
        </p:spPr>
        <p:txBody>
          <a:bodyPr wrap="square" lIns="25400" tIns="25400" rIns="25400" bIns="25400" rtlCol="0" anchor="t">
            <a:normAutofit/>
          </a:bodyPr>
          <a:lstStyle/>
          <a:p>
            <a:pPr marL="0" indent="0" algn="l">
              <a:lnSpc>
                <a:spcPct val="130000"/>
              </a:lnSpc>
              <a:buNone/>
            </a:pPr>
            <a:r>
              <a:rPr lang="en-US" sz="1800" kern="0" spc="108" dirty="0">
                <a:solidFill>
                  <a:srgbClr val="F4F0E6">
                    <a:alpha val="50000"/>
                  </a:srgbClr>
                </a:solidFill>
                <a:latin typeface="Courier New" pitchFamily="34" charset="0"/>
                <a:ea typeface="Courier New" pitchFamily="34" charset="-122"/>
                <a:cs typeface="Courier New" pitchFamily="34" charset="-120"/>
              </a:rPr>
              <a:t>TIERS · CLOUD-NATIVE</a:t>
            </a:r>
            <a:endParaRPr lang="en-US" sz="1800" dirty="0"/>
          </a:p>
        </p:txBody>
      </p:sp>
      <p:sp>
        <p:nvSpPr>
          <p:cNvPr id="10" name="Text 8"/>
          <p:cNvSpPr/>
          <p:nvPr/>
        </p:nvSpPr>
        <p:spPr>
          <a:xfrm>
            <a:off x="11067895" y="6429763"/>
            <a:ext cx="4591591" cy="1040296"/>
          </a:xfrm>
          <a:prstGeom prst="rect">
            <a:avLst/>
          </a:prstGeom>
          <a:noFill/>
          <a:ln/>
        </p:spPr>
        <p:txBody>
          <a:bodyPr wrap="square" lIns="25400" tIns="25400" rIns="25400" bIns="25400" rtlCol="0" anchor="t">
            <a:normAutofit/>
          </a:bodyPr>
          <a:lstStyle/>
          <a:p>
            <a:pPr marL="0" indent="0" algn="l">
              <a:lnSpc>
                <a:spcPct val="100000"/>
              </a:lnSpc>
              <a:buNone/>
            </a:pPr>
            <a:r>
              <a:rPr lang="en-US" sz="7800" kern="0" spc="-312" dirty="0">
                <a:solidFill>
                  <a:srgbClr val="F4F0E6"/>
                </a:solidFill>
                <a:latin typeface="Arial" pitchFamily="34" charset="0"/>
                <a:ea typeface="Arial" pitchFamily="34" charset="-122"/>
                <a:cs typeface="Arial" pitchFamily="34" charset="-120"/>
              </a:rPr>
              <a:t>1</a:t>
            </a:r>
            <a:r>
              <a:rPr lang="en-US" sz="7800" i="1" kern="0" spc="-312" dirty="0">
                <a:solidFill>
                  <a:srgbClr val="F4F0E6"/>
                </a:solidFill>
                <a:latin typeface="Georgia" pitchFamily="34" charset="0"/>
                <a:ea typeface="Georgia" pitchFamily="34" charset="-122"/>
                <a:cs typeface="Georgia" pitchFamily="34" charset="-120"/>
              </a:rPr>
              <a:t>stack</a:t>
            </a:r>
            <a:endParaRPr lang="en-US" sz="7800" dirty="0"/>
          </a:p>
        </p:txBody>
      </p:sp>
      <p:sp>
        <p:nvSpPr>
          <p:cNvPr id="11" name="Text 9"/>
          <p:cNvSpPr/>
          <p:nvPr/>
        </p:nvSpPr>
        <p:spPr>
          <a:xfrm>
            <a:off x="11067895" y="7603306"/>
            <a:ext cx="4591591" cy="327991"/>
          </a:xfrm>
          <a:prstGeom prst="rect">
            <a:avLst/>
          </a:prstGeom>
          <a:noFill/>
          <a:ln/>
        </p:spPr>
        <p:txBody>
          <a:bodyPr wrap="square" lIns="25400" tIns="25400" rIns="25400" bIns="25400" rtlCol="0" anchor="t">
            <a:normAutofit/>
          </a:bodyPr>
          <a:lstStyle/>
          <a:p>
            <a:pPr marL="0" indent="0" algn="l">
              <a:lnSpc>
                <a:spcPct val="130000"/>
              </a:lnSpc>
              <a:buNone/>
            </a:pPr>
            <a:r>
              <a:rPr lang="en-US" sz="1800" kern="0" spc="108" dirty="0">
                <a:solidFill>
                  <a:srgbClr val="F4F0E6">
                    <a:alpha val="50000"/>
                  </a:srgbClr>
                </a:solidFill>
                <a:latin typeface="Courier New" pitchFamily="34" charset="0"/>
                <a:ea typeface="Courier New" pitchFamily="34" charset="-122"/>
                <a:cs typeface="Courier New" pitchFamily="34" charset="-120"/>
              </a:rPr>
              <a:t>MODERN · AI-NATIVE · FREE</a:t>
            </a:r>
            <a:endParaRPr lang="en-US" sz="1800" dirty="0"/>
          </a:p>
        </p:txBody>
      </p:sp>
      <p:sp>
        <p:nvSpPr>
          <p:cNvPr id="12" name="Text 10"/>
          <p:cNvSpPr/>
          <p:nvPr/>
        </p:nvSpPr>
        <p:spPr>
          <a:xfrm>
            <a:off x="1238250" y="8935253"/>
            <a:ext cx="4129979" cy="294861"/>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F4F0E6">
                    <a:alpha val="50000"/>
                  </a:srgbClr>
                </a:solidFill>
                <a:latin typeface="Courier New" pitchFamily="34" charset="0"/>
                <a:ea typeface="Courier New" pitchFamily="34" charset="-122"/>
                <a:cs typeface="Courier New" pitchFamily="34" charset="-120"/>
              </a:rPr>
              <a:t>Q &amp; A</a:t>
            </a:r>
            <a:endParaRPr lang="en-US" sz="1800" dirty="0"/>
          </a:p>
        </p:txBody>
      </p:sp>
      <p:sp>
        <p:nvSpPr>
          <p:cNvPr id="13" name="Text 11"/>
          <p:cNvSpPr/>
          <p:nvPr/>
        </p:nvSpPr>
        <p:spPr>
          <a:xfrm>
            <a:off x="1238250" y="9325312"/>
            <a:ext cx="4129979" cy="949187"/>
          </a:xfrm>
          <a:prstGeom prst="rect">
            <a:avLst/>
          </a:prstGeom>
          <a:noFill/>
          <a:ln/>
        </p:spPr>
        <p:txBody>
          <a:bodyPr wrap="square" lIns="25400" tIns="25400" rIns="25400" bIns="25400" rtlCol="0" anchor="t">
            <a:normAutofit/>
          </a:bodyPr>
          <a:lstStyle/>
          <a:p>
            <a:pPr marL="0" indent="0" algn="l">
              <a:lnSpc>
                <a:spcPct val="100000"/>
              </a:lnSpc>
              <a:buNone/>
            </a:pPr>
            <a:r>
              <a:rPr lang="en-US" sz="7200" i="1" kern="0" spc="-144" dirty="0">
                <a:solidFill>
                  <a:srgbClr val="F4F0E6"/>
                </a:solidFill>
                <a:latin typeface="Georgia" pitchFamily="34" charset="0"/>
                <a:ea typeface="Georgia" pitchFamily="34" charset="-122"/>
                <a:cs typeface="Georgia" pitchFamily="34" charset="-120"/>
              </a:rPr>
              <a:t>Xin cảm ơn.</a:t>
            </a:r>
            <a:endParaRPr lang="en-US" sz="7200" dirty="0"/>
          </a:p>
        </p:txBody>
      </p:sp>
      <p:sp>
        <p:nvSpPr>
          <p:cNvPr id="14" name="Text 12"/>
          <p:cNvSpPr/>
          <p:nvPr/>
        </p:nvSpPr>
        <p:spPr>
          <a:xfrm>
            <a:off x="1238250" y="10464947"/>
            <a:ext cx="4129979" cy="278296"/>
          </a:xfrm>
          <a:prstGeom prst="rect">
            <a:avLst/>
          </a:prstGeom>
          <a:noFill/>
          <a:ln/>
        </p:spPr>
        <p:txBody>
          <a:bodyPr wrap="square" lIns="25400" tIns="25400" rIns="25400" bIns="25400" rtlCol="0" anchor="t">
            <a:normAutofit/>
          </a:bodyPr>
          <a:lstStyle/>
          <a:p>
            <a:pPr marL="0" indent="0" algn="l">
              <a:buNone/>
            </a:pPr>
            <a:r>
              <a:rPr lang="en-US" sz="1650" kern="0" spc="165" dirty="0">
                <a:solidFill>
                  <a:srgbClr val="F4F0E6">
                    <a:alpha val="45000"/>
                  </a:srgbClr>
                </a:solidFill>
                <a:latin typeface="Courier New" pitchFamily="34" charset="0"/>
                <a:ea typeface="Courier New" pitchFamily="34" charset="-122"/>
                <a:cs typeface="Courier New" pitchFamily="34" charset="-120"/>
              </a:rPr>
              <a:t>HCMUS · KHOA CNTT</a:t>
            </a:r>
            <a:endParaRPr lang="en-US" sz="1650" dirty="0"/>
          </a:p>
        </p:txBody>
      </p:sp>
      <p:sp>
        <p:nvSpPr>
          <p:cNvPr id="15" name="Text 13"/>
          <p:cNvSpPr/>
          <p:nvPr/>
        </p:nvSpPr>
        <p:spPr>
          <a:xfrm>
            <a:off x="1238250" y="10762215"/>
            <a:ext cx="4129979" cy="278296"/>
          </a:xfrm>
          <a:prstGeom prst="rect">
            <a:avLst/>
          </a:prstGeom>
          <a:noFill/>
          <a:ln/>
        </p:spPr>
        <p:txBody>
          <a:bodyPr wrap="square" lIns="25400" tIns="25400" rIns="25400" bIns="25400" rtlCol="0" anchor="t">
            <a:normAutofit/>
          </a:bodyPr>
          <a:lstStyle/>
          <a:p>
            <a:pPr marL="0" indent="0" algn="l">
              <a:buNone/>
            </a:pPr>
            <a:r>
              <a:rPr lang="en-US" sz="1650" kern="0" spc="165" dirty="0">
                <a:solidFill>
                  <a:srgbClr val="F4F0E6">
                    <a:alpha val="45000"/>
                  </a:srgbClr>
                </a:solidFill>
                <a:latin typeface="Courier New" pitchFamily="34" charset="0"/>
                <a:ea typeface="Courier New" pitchFamily="34" charset="-122"/>
                <a:cs typeface="Courier New" pitchFamily="34" charset="-120"/>
              </a:rPr>
              <a:t>NHẬP MÔN CNPM · 06/2026</a:t>
            </a:r>
            <a:endParaRPr lang="en-US" sz="1650" dirty="0"/>
          </a:p>
        </p:txBody>
      </p:sp>
      <p:sp>
        <p:nvSpPr>
          <p:cNvPr id="16" name="Text 14"/>
          <p:cNvSpPr/>
          <p:nvPr/>
        </p:nvSpPr>
        <p:spPr>
          <a:xfrm>
            <a:off x="6009939" y="7893197"/>
            <a:ext cx="11371007" cy="294861"/>
          </a:xfrm>
          <a:prstGeom prst="rect">
            <a:avLst/>
          </a:prstGeom>
          <a:noFill/>
          <a:ln/>
        </p:spPr>
        <p:txBody>
          <a:bodyPr wrap="square" lIns="25400" tIns="25400" rIns="25400" bIns="25400" rtlCol="0" anchor="t">
            <a:normAutofit/>
          </a:bodyPr>
          <a:lstStyle/>
          <a:p>
            <a:pPr marL="0" indent="0" algn="l">
              <a:buNone/>
            </a:pPr>
            <a:r>
              <a:rPr lang="en-US" sz="1800" kern="0" spc="288" dirty="0">
                <a:solidFill>
                  <a:srgbClr val="F4F0E6">
                    <a:alpha val="45000"/>
                  </a:srgbClr>
                </a:solidFill>
                <a:latin typeface="Courier New" pitchFamily="34" charset="0"/>
                <a:ea typeface="Courier New" pitchFamily="34" charset="-122"/>
                <a:cs typeface="Courier New" pitchFamily="34" charset="-120"/>
              </a:rPr>
              <a:t>CÂU HỎI CÓ THỂ GẶP</a:t>
            </a:r>
            <a:endParaRPr lang="en-US" sz="1800" dirty="0"/>
          </a:p>
        </p:txBody>
      </p:sp>
      <p:sp>
        <p:nvSpPr>
          <p:cNvPr id="17" name="Shape 15"/>
          <p:cNvSpPr/>
          <p:nvPr/>
        </p:nvSpPr>
        <p:spPr>
          <a:xfrm>
            <a:off x="6009939" y="8302280"/>
            <a:ext cx="11039812" cy="463826"/>
          </a:xfrm>
          <a:prstGeom prst="roundRect">
            <a:avLst>
              <a:gd name="adj" fmla="val 16429"/>
            </a:avLst>
          </a:prstGeom>
          <a:ln w="8283">
            <a:solidFill>
              <a:srgbClr val="FFFFFF">
                <a:alpha val="10000"/>
              </a:srgbClr>
            </a:solidFill>
            <a:prstDash val="solid"/>
          </a:ln>
        </p:spPr>
        <p:txBody>
          <a:bodyPr/>
          <a:lstStyle/>
          <a:p>
            <a:endParaRPr lang="en-VN"/>
          </a:p>
        </p:txBody>
      </p:sp>
      <p:sp>
        <p:nvSpPr>
          <p:cNvPr id="18" name="Text 16"/>
          <p:cNvSpPr/>
          <p:nvPr/>
        </p:nvSpPr>
        <p:spPr>
          <a:xfrm>
            <a:off x="6189672" y="8405813"/>
            <a:ext cx="11011541" cy="294861"/>
          </a:xfrm>
          <a:prstGeom prst="rect">
            <a:avLst/>
          </a:prstGeom>
          <a:noFill/>
          <a:ln/>
        </p:spPr>
        <p:txBody>
          <a:bodyPr wrap="square" lIns="25400" tIns="25400" rIns="25400" bIns="25400" rtlCol="0" anchor="t">
            <a:normAutofit/>
          </a:bodyPr>
          <a:lstStyle/>
          <a:p>
            <a:pPr marL="0" indent="0" algn="l">
              <a:buNone/>
            </a:pPr>
            <a:r>
              <a:rPr lang="en-US" sz="1500" kern="0" spc="-12" dirty="0">
                <a:solidFill>
                  <a:srgbClr val="F4F0E6">
                    <a:alpha val="65000"/>
                  </a:srgbClr>
                </a:solidFill>
                <a:latin typeface="Courier New" pitchFamily="34" charset="0"/>
                <a:ea typeface="Courier New" pitchFamily="34" charset="-122"/>
                <a:cs typeface="Courier New" pitchFamily="34" charset="-120"/>
              </a:rPr>
              <a:t>❓ Tại sao chọn pgvector thay vì Elasticsearch?</a:t>
            </a:r>
            <a:endParaRPr lang="en-US" sz="1500" dirty="0"/>
          </a:p>
        </p:txBody>
      </p:sp>
      <p:sp>
        <p:nvSpPr>
          <p:cNvPr id="19" name="Shape 17"/>
          <p:cNvSpPr/>
          <p:nvPr/>
        </p:nvSpPr>
        <p:spPr>
          <a:xfrm>
            <a:off x="6009939" y="8861356"/>
            <a:ext cx="11039812" cy="463826"/>
          </a:xfrm>
          <a:prstGeom prst="roundRect">
            <a:avLst>
              <a:gd name="adj" fmla="val 16429"/>
            </a:avLst>
          </a:prstGeom>
          <a:ln w="8283">
            <a:solidFill>
              <a:srgbClr val="FFFFFF">
                <a:alpha val="10000"/>
              </a:srgbClr>
            </a:solidFill>
            <a:prstDash val="solid"/>
          </a:ln>
        </p:spPr>
        <p:txBody>
          <a:bodyPr/>
          <a:lstStyle/>
          <a:p>
            <a:endParaRPr lang="en-VN"/>
          </a:p>
        </p:txBody>
      </p:sp>
      <p:sp>
        <p:nvSpPr>
          <p:cNvPr id="20" name="Text 18"/>
          <p:cNvSpPr/>
          <p:nvPr/>
        </p:nvSpPr>
        <p:spPr>
          <a:xfrm>
            <a:off x="6189672" y="8964889"/>
            <a:ext cx="11011541" cy="294861"/>
          </a:xfrm>
          <a:prstGeom prst="rect">
            <a:avLst/>
          </a:prstGeom>
          <a:noFill/>
          <a:ln/>
        </p:spPr>
        <p:txBody>
          <a:bodyPr wrap="square" lIns="25400" tIns="25400" rIns="25400" bIns="25400" rtlCol="0" anchor="t">
            <a:normAutofit/>
          </a:bodyPr>
          <a:lstStyle/>
          <a:p>
            <a:pPr marL="0" indent="0" algn="l">
              <a:buNone/>
            </a:pPr>
            <a:r>
              <a:rPr lang="en-US" sz="1500" kern="0" spc="-12" dirty="0">
                <a:solidFill>
                  <a:srgbClr val="F4F0E6">
                    <a:alpha val="65000"/>
                  </a:srgbClr>
                </a:solidFill>
                <a:latin typeface="Courier New" pitchFamily="34" charset="0"/>
                <a:ea typeface="Courier New" pitchFamily="34" charset="-122"/>
                <a:cs typeface="Courier New" pitchFamily="34" charset="-120"/>
              </a:rPr>
              <a:t>❓ VectorUserType giải quyết vấn đề gì so với Converter?</a:t>
            </a:r>
            <a:endParaRPr lang="en-US" sz="1500" dirty="0"/>
          </a:p>
        </p:txBody>
      </p:sp>
      <p:sp>
        <p:nvSpPr>
          <p:cNvPr id="21" name="Shape 19"/>
          <p:cNvSpPr/>
          <p:nvPr/>
        </p:nvSpPr>
        <p:spPr>
          <a:xfrm>
            <a:off x="6009939" y="9420433"/>
            <a:ext cx="11039812" cy="463826"/>
          </a:xfrm>
          <a:prstGeom prst="roundRect">
            <a:avLst>
              <a:gd name="adj" fmla="val 16429"/>
            </a:avLst>
          </a:prstGeom>
          <a:ln w="8283">
            <a:solidFill>
              <a:srgbClr val="FFFFFF">
                <a:alpha val="10000"/>
              </a:srgbClr>
            </a:solidFill>
            <a:prstDash val="solid"/>
          </a:ln>
        </p:spPr>
        <p:txBody>
          <a:bodyPr/>
          <a:lstStyle/>
          <a:p>
            <a:endParaRPr lang="en-VN"/>
          </a:p>
        </p:txBody>
      </p:sp>
      <p:sp>
        <p:nvSpPr>
          <p:cNvPr id="22" name="Text 20"/>
          <p:cNvSpPr/>
          <p:nvPr/>
        </p:nvSpPr>
        <p:spPr>
          <a:xfrm>
            <a:off x="6189672" y="9523965"/>
            <a:ext cx="11011541" cy="294861"/>
          </a:xfrm>
          <a:prstGeom prst="rect">
            <a:avLst/>
          </a:prstGeom>
          <a:noFill/>
          <a:ln/>
        </p:spPr>
        <p:txBody>
          <a:bodyPr wrap="square" lIns="25400" tIns="25400" rIns="25400" bIns="25400" rtlCol="0" anchor="t">
            <a:normAutofit/>
          </a:bodyPr>
          <a:lstStyle/>
          <a:p>
            <a:pPr marL="0" indent="0" algn="l">
              <a:buNone/>
            </a:pPr>
            <a:r>
              <a:rPr lang="en-US" sz="1500" kern="0" spc="-12" dirty="0">
                <a:solidFill>
                  <a:srgbClr val="F4F0E6">
                    <a:alpha val="65000"/>
                  </a:srgbClr>
                </a:solidFill>
                <a:latin typeface="Courier New" pitchFamily="34" charset="0"/>
                <a:ea typeface="Courier New" pitchFamily="34" charset="-122"/>
                <a:cs typeface="Courier New" pitchFamily="34" charset="-120"/>
              </a:rPr>
              <a:t>❓ Tại sao REQUIRES_NEW cho từng paper?</a:t>
            </a:r>
            <a:endParaRPr lang="en-US" sz="1500" dirty="0"/>
          </a:p>
        </p:txBody>
      </p:sp>
      <p:sp>
        <p:nvSpPr>
          <p:cNvPr id="23" name="Shape 21"/>
          <p:cNvSpPr/>
          <p:nvPr/>
        </p:nvSpPr>
        <p:spPr>
          <a:xfrm>
            <a:off x="6009939" y="9979508"/>
            <a:ext cx="11039812" cy="463826"/>
          </a:xfrm>
          <a:prstGeom prst="roundRect">
            <a:avLst>
              <a:gd name="adj" fmla="val 16429"/>
            </a:avLst>
          </a:prstGeom>
          <a:ln w="8283">
            <a:solidFill>
              <a:srgbClr val="FFFFFF">
                <a:alpha val="10000"/>
              </a:srgbClr>
            </a:solidFill>
            <a:prstDash val="solid"/>
          </a:ln>
        </p:spPr>
        <p:txBody>
          <a:bodyPr/>
          <a:lstStyle/>
          <a:p>
            <a:endParaRPr lang="en-VN"/>
          </a:p>
        </p:txBody>
      </p:sp>
      <p:sp>
        <p:nvSpPr>
          <p:cNvPr id="24" name="Text 22"/>
          <p:cNvSpPr/>
          <p:nvPr/>
        </p:nvSpPr>
        <p:spPr>
          <a:xfrm>
            <a:off x="6189672" y="10083041"/>
            <a:ext cx="11011541" cy="294861"/>
          </a:xfrm>
          <a:prstGeom prst="rect">
            <a:avLst/>
          </a:prstGeom>
          <a:noFill/>
          <a:ln/>
        </p:spPr>
        <p:txBody>
          <a:bodyPr wrap="square" lIns="25400" tIns="25400" rIns="25400" bIns="25400" rtlCol="0" anchor="t">
            <a:normAutofit/>
          </a:bodyPr>
          <a:lstStyle/>
          <a:p>
            <a:pPr marL="0" indent="0" algn="l">
              <a:buNone/>
            </a:pPr>
            <a:r>
              <a:rPr lang="en-US" sz="1500" kern="0" spc="-12" dirty="0">
                <a:solidFill>
                  <a:srgbClr val="F4F0E6">
                    <a:alpha val="65000"/>
                  </a:srgbClr>
                </a:solidFill>
                <a:latin typeface="Courier New" pitchFamily="34" charset="0"/>
                <a:ea typeface="Courier New" pitchFamily="34" charset="-122"/>
                <a:cs typeface="Courier New" pitchFamily="34" charset="-120"/>
              </a:rPr>
              <a:t>❓ Đã test hệ thống như thế nào?</a:t>
            </a:r>
            <a:endParaRPr lang="en-US" sz="1500" dirty="0"/>
          </a:p>
        </p:txBody>
      </p:sp>
      <p:sp>
        <p:nvSpPr>
          <p:cNvPr id="25" name="Shape 23"/>
          <p:cNvSpPr/>
          <p:nvPr/>
        </p:nvSpPr>
        <p:spPr>
          <a:xfrm>
            <a:off x="6009939" y="10538585"/>
            <a:ext cx="11039812" cy="463826"/>
          </a:xfrm>
          <a:prstGeom prst="roundRect">
            <a:avLst>
              <a:gd name="adj" fmla="val 16429"/>
            </a:avLst>
          </a:prstGeom>
          <a:ln w="8283">
            <a:solidFill>
              <a:srgbClr val="FFFFFF">
                <a:alpha val="10000"/>
              </a:srgbClr>
            </a:solidFill>
            <a:prstDash val="solid"/>
          </a:ln>
        </p:spPr>
        <p:txBody>
          <a:bodyPr/>
          <a:lstStyle/>
          <a:p>
            <a:endParaRPr lang="en-VN"/>
          </a:p>
        </p:txBody>
      </p:sp>
      <p:sp>
        <p:nvSpPr>
          <p:cNvPr id="26" name="Text 24"/>
          <p:cNvSpPr/>
          <p:nvPr/>
        </p:nvSpPr>
        <p:spPr>
          <a:xfrm>
            <a:off x="6189672" y="10642117"/>
            <a:ext cx="11011541" cy="294861"/>
          </a:xfrm>
          <a:prstGeom prst="rect">
            <a:avLst/>
          </a:prstGeom>
          <a:noFill/>
          <a:ln/>
        </p:spPr>
        <p:txBody>
          <a:bodyPr wrap="square" lIns="25400" tIns="25400" rIns="25400" bIns="25400" rtlCol="0" anchor="t">
            <a:normAutofit/>
          </a:bodyPr>
          <a:lstStyle/>
          <a:p>
            <a:pPr marL="0" indent="0" algn="l">
              <a:buNone/>
            </a:pPr>
            <a:r>
              <a:rPr lang="en-US" sz="1500" kern="0" spc="-12" dirty="0">
                <a:solidFill>
                  <a:srgbClr val="F4F0E6">
                    <a:alpha val="65000"/>
                  </a:srgbClr>
                </a:solidFill>
                <a:latin typeface="Courier New" pitchFamily="34" charset="0"/>
                <a:ea typeface="Courier New" pitchFamily="34" charset="-122"/>
                <a:cs typeface="Courier New" pitchFamily="34" charset="-120"/>
              </a:rPr>
              <a:t>❓ Security: tại sao JWT stateless, không dùng session?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2436</Words>
  <Application>Microsoft Macintosh PowerPoint</Application>
  <PresentationFormat>Custom</PresentationFormat>
  <Paragraphs>341</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Courier New</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Duy Anh Dao</cp:lastModifiedBy>
  <cp:revision>2</cp:revision>
  <dcterms:created xsi:type="dcterms:W3CDTF">2026-06-03T09:41:53Z</dcterms:created>
  <dcterms:modified xsi:type="dcterms:W3CDTF">2026-06-04T02:47:17Z</dcterms:modified>
</cp:coreProperties>
</file>